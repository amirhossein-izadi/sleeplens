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0:00 - 0:45 (45s)</a:t>
            </a:r>
          </a:p>
          <a:p>
            <a:r>
              <a:t>Good morning. Today we present SleepLens, an end-to-end clinical AI platform designed to transform sleep diagnostics. Polysomnography is gold standard, yet analyzing 8 hours of multichannel PSG takes hours of tedious manual scoring and collapses complex neurobiology into 5 discrete stages. SleepLens solves this with a two-tiered AI system: an ensemble staging model with calibrated uncertainty, and a continuous sleep depth transformer with a 96-feature phenotyping engine, deployed in a production-ready clinical web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0:45 - 1:30 (45s)</a:t>
            </a:r>
          </a:p>
          <a:p>
            <a:r>
              <a:t>To ensure clinical validity, we used the full Sleep-EDF Expanded dataset across all 197 nights and nearly 238,000 epochs. Unlike many published papers that suffer from subject leakage, we enforced a strict subject-atomic 5-fold cross-validation scheme. We evaluated both cohorts: ambulatory cassette and clinical telemetry. Every recording is harmonized to 100 Hz, with standardized electrode alignments and automated lights-off windowing to ensure fair, reproducible benchmarking.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1:30 - 2:25 (55s)</a:t>
            </a:r>
          </a:p>
          <a:p>
            <a:r>
              <a:t>For sleep stage classification, we systematically benchmarked 25+ configurations. Classical heuristics like YASA struggle severely on N1 sleep at only 0.10 F1. Deep neural models like AnySleep perform exceptionally at 0.8267. Our winning system, E19, is a 4-member fold-honest ensemble combining AnySleep 3-channel, AnySleep 2-channel, U-Sleep CSDP, and our engineered LightGBM model. It reached 0.8425 Macro-F1 with a Cohen's Kappa of 0.831. Crucially, the weak LightGBM model improved the ensemble by introducing non-redundant spectral feature diversity.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2:25 - 3:15 (50s)</a:t>
            </a:r>
          </a:p>
          <a:p>
            <a:r>
              <a:t>Two practical questions: Can we run this on a minimal home device, and is the model interpretable? Our ablation proved that a two-sensor setup—one frontal EEG and one EOG—achieves 0.8227 F1, losing only 0.004 compared to three channels while actually improving REM detection. Deep skip-layer attention reveals the network dynamically shifts attention to posterior alpha in Wake, slow waves in N3, and surges to 52% EOG attention during REM. Finally, our confidence calibration is monotonic: epochs above 90% confidence are 99.5% accurate, enabling intelligent human-in-the-loop triage.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3:15 - 4:05 (50s)</a:t>
            </a:r>
          </a:p>
          <a:p>
            <a:r>
              <a:t>In Tier 2, we transcend discrete 5-stage hypnograms. We implement the Sleep Depth Index Transformer from Zhou et al., published in npj Digital Medicine 2025. This computes a continuous 0.0 to 1.0 sleep depth score for every epoch, capturing micro-arousals and depth dynamics that discrete staging obscures. In tandem, our feature extraction engine computes ~96 clinical parameters per night: sleep continuity, 5x5 Markov transition matrices, spectral bandpowers, and microstructural events like YASA sleep spindle density and REM muscle atonia ratios.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4:05 - 4:55 (50s)</a:t>
            </a:r>
          </a:p>
          <a:p>
            <a:r>
              <a:t>To synthesize these complex metrics into an actionable patient indicator, we designed the SleepLens Unified Sleep Score. Rather than an uninterpretable black-box score, it is a transparent 100-point scale: 25% sleep efficiency, 25% continuous depth, 20% continuity, and the remainder distributed across N3 deep sleep, REM, latency, and fragmentation. We also incorporate the standardized 7-component PSQI questionnaire. By contrasting subjective perception against objective PSG signals, SleepLens can flag paradoxical insomnia and feeds all metrics into an automated clinical reporting engine.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4:55 - 5:45 (50s)</a:t>
            </a:r>
          </a:p>
          <a:p>
            <a:r>
              <a:t>Here is our production system architecture. A clinician uploads an EDF file and optional PSQI through the Next.js web application. The Django REST backend sanitizes the upload and delegates heavy computation to Celery workers backed by Redis. Signals are canonically harmonized to 100 Hz, passed in parallel through both AI tiers—the 4-model staging ensemble and the SDI transformer—and combined with the 96-feature engine. Results are indexed in PostgreSQL and rendered back to the clinician with an LLM clinical report and an OpenCode consultation assistant.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5:45 - 6:30 (45s)</a:t>
            </a:r>
          </a:p>
          <a:p>
            <a:r>
              <a:t>This slide showcases the clinician interface. The dashboard presents the SleepLens Score and core KPIs at a glance. Below, the interactive hypnogram is coupled with real-time confidence tracking, highlighting exactly which epochs need human verification. Clinicians can view continuous sleep depth, open the raw signal viewer to inspect EEG microvolts for any 30-second epoch, review the AI-drafted diagnostic report, or ask questions in the OpenCode consultation chat. It reduces scoring overhead from 90 minutes down to a quick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6:30 - 7:00 (30s)</a:t>
            </a:r>
          </a:p>
          <a:p>
            <a:r>
              <a:t>In summary, SleepLens delivers state-of-the-art staging accuracy of 0.8425 F1 and 0.831 Kappa, with a complete turnaround time under 35 seconds on standard CPU hardware. By uniting discrete stage classification, continuous depth modeling, and automated clinical reporting, we cut physician scoring time by over 85% while providing unprecedented diagnostic depth. Our minimal two-sensor finding also enables accurate home wearable monitoring. SleepLens bridges machine learning with the daily realities of clinical sleep medicine.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2011680"/>
          </a:xfrm>
          <a:prstGeom prst="rect">
            <a:avLst/>
          </a:prstGeom>
          <a:noFill/>
        </p:spPr>
        <p:txBody>
          <a:bodyPr wrap="square" lIns="0" tIns="0" rIns="0" bIns="0">
            <a:spAutoFit/>
          </a:bodyPr>
          <a:lstStyle/>
          <a:p>
            <a:pPr>
              <a:defRPr sz="1200" b="1">
                <a:solidFill>
                  <a:srgbClr val="14B8A6"/>
                </a:solidFill>
              </a:defRPr>
            </a:pPr>
            <a:r>
              <a:t>EXECUTIVE SUMMARY • HACKATHON FINAL</a:t>
            </a:r>
          </a:p>
          <a:p>
            <a:pPr>
              <a:spcBef>
                <a:spcPts val="600"/>
              </a:spcBef>
              <a:defRPr sz="3000" b="1">
                <a:solidFill>
                  <a:srgbClr val="F8FAFC"/>
                </a:solidFill>
              </a:defRPr>
            </a:pPr>
            <a:r>
              <a:t>SleepLens: Dual-Tier AI for Sleep Stage Classification</a:t>
            </a:r>
            <a:br/>
            <a:r>
              <a:t>&amp; Sleep Quality Assessment</a:t>
            </a:r>
          </a:p>
          <a:p>
            <a:pPr>
              <a:spcBef>
                <a:spcPts val="600"/>
              </a:spcBef>
              <a:defRPr sz="1500">
                <a:solidFill>
                  <a:srgbClr val="06B6D4"/>
                </a:solidFill>
              </a:defRPr>
            </a:pPr>
            <a:r>
              <a:t>Bridging 30-Second Discrete Staging with Continuous Depth Dynamics &amp; Microstructural Phenotyping</a:t>
            </a:r>
          </a:p>
        </p:txBody>
      </p:sp>
      <p:sp>
        <p:nvSpPr>
          <p:cNvPr id="4" name="Rounded Rectangle 3"/>
          <p:cNvSpPr/>
          <p:nvPr/>
        </p:nvSpPr>
        <p:spPr>
          <a:xfrm>
            <a:off x="731520" y="2697480"/>
            <a:ext cx="3328416" cy="3474720"/>
          </a:xfrm>
          <a:prstGeom prst="roundRect">
            <a:avLst/>
          </a:prstGeom>
          <a:solidFill>
            <a:srgbClr val="1E293B"/>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880360"/>
            <a:ext cx="2962656" cy="3108960"/>
          </a:xfrm>
          <a:prstGeom prst="rect">
            <a:avLst/>
          </a:prstGeom>
          <a:noFill/>
        </p:spPr>
        <p:txBody>
          <a:bodyPr wrap="square" lIns="0" tIns="0" rIns="0" bIns="0">
            <a:spAutoFit/>
          </a:bodyPr>
          <a:lstStyle/>
          <a:p>
            <a:pPr>
              <a:defRPr sz="1600" b="1">
                <a:solidFill>
                  <a:srgbClr val="F59E0B"/>
                </a:solidFill>
              </a:defRPr>
            </a:pPr>
            <a:r>
              <a:t>⚠️ The Clinical Bottleneck</a:t>
            </a:r>
          </a:p>
          <a:p>
            <a:pPr>
              <a:spcBef>
                <a:spcPts val="1200"/>
              </a:spcBef>
              <a:defRPr sz="1300">
                <a:solidFill>
                  <a:srgbClr val="CBD5E1"/>
                </a:solidFill>
              </a:defRPr>
            </a:pPr>
            <a:r>
              <a:t>• Standard overnight PSG requires 1.5–2 hours of manual visual scoring per recording.</a:t>
            </a:r>
          </a:p>
          <a:p>
            <a:pPr>
              <a:spcBef>
                <a:spcPts val="1200"/>
              </a:spcBef>
              <a:defRPr sz="1300">
                <a:solidFill>
                  <a:srgbClr val="CBD5E1"/>
                </a:solidFill>
              </a:defRPr>
            </a:pPr>
            <a:r>
              <a:t>• Inter-scorer agreement is notoriously low on transitions (N1 &lt; 60%).</a:t>
            </a:r>
          </a:p>
          <a:p>
            <a:pPr>
              <a:spcBef>
                <a:spcPts val="1200"/>
              </a:spcBef>
              <a:defRPr sz="1300">
                <a:solidFill>
                  <a:srgbClr val="CBD5E1"/>
                </a:solidFill>
              </a:defRPr>
            </a:pPr>
            <a:r>
              <a:t>• Coarse 5-stage AASM scoring discards continuous sleep depth and cortical synchronization dynamics.</a:t>
            </a:r>
          </a:p>
        </p:txBody>
      </p:sp>
      <p:sp>
        <p:nvSpPr>
          <p:cNvPr id="6" name="Rounded Rectangle 5"/>
          <p:cNvSpPr/>
          <p:nvPr/>
        </p:nvSpPr>
        <p:spPr>
          <a:xfrm>
            <a:off x="4425696" y="2697480"/>
            <a:ext cx="3328416" cy="3474720"/>
          </a:xfrm>
          <a:prstGeom prst="roundRect">
            <a:avLst/>
          </a:prstGeom>
          <a:solidFill>
            <a:srgbClr val="1E293B"/>
          </a:solidFill>
          <a:ln w="254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08576" y="2880360"/>
            <a:ext cx="2962656" cy="3108960"/>
          </a:xfrm>
          <a:prstGeom prst="rect">
            <a:avLst/>
          </a:prstGeom>
          <a:noFill/>
        </p:spPr>
        <p:txBody>
          <a:bodyPr wrap="square" lIns="0" tIns="0" rIns="0" bIns="0">
            <a:spAutoFit/>
          </a:bodyPr>
          <a:lstStyle/>
          <a:p>
            <a:pPr>
              <a:defRPr sz="1600" b="1">
                <a:solidFill>
                  <a:srgbClr val="06B6D4"/>
                </a:solidFill>
              </a:defRPr>
            </a:pPr>
            <a:r>
              <a:t>🧠 Dual-Tier AI Engine</a:t>
            </a:r>
          </a:p>
          <a:p>
            <a:pPr>
              <a:spcBef>
                <a:spcPts val="1200"/>
              </a:spcBef>
              <a:defRPr sz="1300">
                <a:solidFill>
                  <a:srgbClr val="CBD5E1"/>
                </a:solidFill>
              </a:defRPr>
            </a:pPr>
            <a:r>
              <a:t>• Tier 1 (Staging): 4-Model Ensemble Macro-F1 0.8425 (Cohen's κ 0.831) across 237,936 epochs.</a:t>
            </a:r>
          </a:p>
          <a:p>
            <a:pPr>
              <a:spcBef>
                <a:spcPts val="1200"/>
              </a:spcBef>
              <a:defRPr sz="1300">
                <a:solidFill>
                  <a:srgbClr val="CBD5E1"/>
                </a:solidFill>
              </a:defRPr>
            </a:pPr>
            <a:r>
              <a:t>• Tier 2 (Depth): SDI Transformer (npj Digital Med 2025) continuous 0–1 depth trajectory + 96 clinical parameters.</a:t>
            </a:r>
          </a:p>
          <a:p>
            <a:pPr>
              <a:spcBef>
                <a:spcPts val="1200"/>
              </a:spcBef>
              <a:defRPr sz="1300">
                <a:solidFill>
                  <a:srgbClr val="CBD5E1"/>
                </a:solidFill>
              </a:defRPr>
            </a:pPr>
            <a:r>
              <a:t>• Minimal Sensors: 2-sensor montage (Fpz+EOG) retains 99.5% F1 performance!</a:t>
            </a:r>
          </a:p>
        </p:txBody>
      </p:sp>
      <p:sp>
        <p:nvSpPr>
          <p:cNvPr id="8" name="Rounded Rectangle 7"/>
          <p:cNvSpPr/>
          <p:nvPr/>
        </p:nvSpPr>
        <p:spPr>
          <a:xfrm>
            <a:off x="8119872" y="2697480"/>
            <a:ext cx="3328416" cy="3474720"/>
          </a:xfrm>
          <a:prstGeom prst="roundRect">
            <a:avLst/>
          </a:prstGeom>
          <a:solidFill>
            <a:srgbClr val="1E293B"/>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02752" y="2880360"/>
            <a:ext cx="2962656" cy="3108960"/>
          </a:xfrm>
          <a:prstGeom prst="rect">
            <a:avLst/>
          </a:prstGeom>
          <a:noFill/>
        </p:spPr>
        <p:txBody>
          <a:bodyPr wrap="square" lIns="0" tIns="0" rIns="0" bIns="0">
            <a:spAutoFit/>
          </a:bodyPr>
          <a:lstStyle/>
          <a:p>
            <a:pPr>
              <a:defRPr sz="1600" b="1">
                <a:solidFill>
                  <a:srgbClr val="10B981"/>
                </a:solidFill>
              </a:defRPr>
            </a:pPr>
            <a:r>
              <a:t>💻 Production Platform</a:t>
            </a:r>
          </a:p>
          <a:p>
            <a:pPr>
              <a:spcBef>
                <a:spcPts val="1200"/>
              </a:spcBef>
              <a:defRPr sz="1300">
                <a:solidFill>
                  <a:srgbClr val="CBD5E1"/>
                </a:solidFill>
              </a:defRPr>
            </a:pPr>
            <a:r>
              <a:t>• Full-stack clinical webapp: Next.js 14 + Django REST Framework.</a:t>
            </a:r>
          </a:p>
          <a:p>
            <a:pPr>
              <a:spcBef>
                <a:spcPts val="1200"/>
              </a:spcBef>
              <a:defRPr sz="1300">
                <a:solidFill>
                  <a:srgbClr val="CBD5E1"/>
                </a:solidFill>
              </a:defRPr>
            </a:pPr>
            <a:r>
              <a:t>• Interactive hypnograms, continuous depth curves, and raw microvolt signals explorer.</a:t>
            </a:r>
          </a:p>
          <a:p>
            <a:pPr>
              <a:spcBef>
                <a:spcPts val="1200"/>
              </a:spcBef>
              <a:defRPr sz="1300">
                <a:solidFill>
                  <a:srgbClr val="CBD5E1"/>
                </a:solidFill>
              </a:defRPr>
            </a:pPr>
            <a:r>
              <a:t>• Automated LLM clinical report + OpenCode interactive diagnostic assistant.</a:t>
            </a:r>
          </a:p>
        </p:txBody>
      </p:sp>
      <p:sp>
        <p:nvSpPr>
          <p:cNvPr id="10" name="TextBox 9"/>
          <p:cNvSpPr txBox="1"/>
          <p:nvPr/>
        </p:nvSpPr>
        <p:spPr>
          <a:xfrm>
            <a:off x="731520" y="6327648"/>
            <a:ext cx="10728655" cy="320040"/>
          </a:xfrm>
          <a:prstGeom prst="rect">
            <a:avLst/>
          </a:prstGeom>
          <a:noFill/>
        </p:spPr>
        <p:txBody>
          <a:bodyPr wrap="none" lIns="0" tIns="0" rIns="0" bIns="0">
            <a:spAutoFit/>
          </a:bodyPr>
          <a:lstStyle/>
          <a:p>
            <a:pPr>
              <a:defRPr sz="1050">
                <a:solidFill>
                  <a:srgbClr val="94A3B8"/>
                </a:solidFill>
              </a:defRPr>
            </a:pPr>
            <a:r>
              <a:t>SleepLens Platform • Confidential &amp; Clinical Research Prototype</a:t>
            </a:r>
          </a:p>
        </p:txBody>
      </p:sp>
      <p:sp>
        <p:nvSpPr>
          <p:cNvPr id="11" name="TextBox 10"/>
          <p:cNvSpPr txBox="1"/>
          <p:nvPr/>
        </p:nvSpPr>
        <p:spPr>
          <a:xfrm>
            <a:off x="6400800" y="6327648"/>
            <a:ext cx="5059375" cy="320040"/>
          </a:xfrm>
          <a:prstGeom prst="rect">
            <a:avLst/>
          </a:prstGeom>
          <a:noFill/>
        </p:spPr>
        <p:txBody>
          <a:bodyPr wrap="none" lIns="0" tIns="0" rIns="0" bIns="0">
            <a:spAutoFit/>
          </a:bodyPr>
          <a:lstStyle/>
          <a:p>
            <a:pPr algn="r">
              <a:defRPr sz="1050">
                <a:solidFill>
                  <a:srgbClr val="94A3B8"/>
                </a:solidFill>
              </a:defRPr>
            </a:pPr>
            <a:r>
              <a:t>Slide 1 of 9 • 0:00–0:45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8229600" cy="1005840"/>
          </a:xfrm>
          <a:prstGeom prst="rect">
            <a:avLst/>
          </a:prstGeom>
          <a:noFill/>
        </p:spPr>
        <p:txBody>
          <a:bodyPr wrap="square" lIns="0" tIns="0" rIns="0" bIns="0">
            <a:spAutoFit/>
          </a:bodyPr>
          <a:lstStyle/>
          <a:p>
            <a:pPr>
              <a:defRPr sz="1100" b="1">
                <a:solidFill>
                  <a:srgbClr val="14B8A6"/>
                </a:solidFill>
              </a:defRPr>
            </a:pPr>
            <a:r>
              <a:t>BENCHMARK &amp; EXPERIMENTAL INTEGRITY</a:t>
            </a:r>
          </a:p>
          <a:p>
            <a:pPr>
              <a:spcBef>
                <a:spcPts val="300"/>
              </a:spcBef>
              <a:defRPr sz="2500" b="1">
                <a:solidFill>
                  <a:srgbClr val="F8FAFC"/>
                </a:solidFill>
              </a:defRPr>
            </a:pPr>
            <a:r>
              <a:t>Dataset, Preprocessing &amp; Standardization</a:t>
            </a:r>
          </a:p>
          <a:p>
            <a:pPr>
              <a:spcBef>
                <a:spcPts val="200"/>
              </a:spcBef>
              <a:defRPr sz="1300">
                <a:solidFill>
                  <a:srgbClr val="06B6D4"/>
                </a:solidFill>
              </a:defRPr>
            </a:pPr>
            <a:r>
              <a:t>Sleep-EDF Expanded: Full 197 nights with leakage-free subject-atomic cross-validation</a:t>
            </a:r>
          </a:p>
        </p:txBody>
      </p:sp>
      <p:sp>
        <p:nvSpPr>
          <p:cNvPr id="4" name="Rounded Rectangle 3"/>
          <p:cNvSpPr/>
          <p:nvPr/>
        </p:nvSpPr>
        <p:spPr>
          <a:xfrm>
            <a:off x="9144000" y="365760"/>
            <a:ext cx="2316175" cy="438912"/>
          </a:xfrm>
          <a:prstGeom prst="roundRect">
            <a:avLst/>
          </a:prstGeom>
          <a:solidFill>
            <a:srgbClr val="082F49"/>
          </a:solidFill>
          <a:ln w="127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06B6D4"/>
                </a:solidFill>
              </a:defRPr>
            </a:pPr>
            <a:r>
              <a:t>0:45 – 1:30 | 45s</a:t>
            </a:r>
          </a:p>
        </p:txBody>
      </p:sp>
      <p:sp>
        <p:nvSpPr>
          <p:cNvPr id="5" name="Rounded Rectangle 4"/>
          <p:cNvSpPr/>
          <p:nvPr/>
        </p:nvSpPr>
        <p:spPr>
          <a:xfrm>
            <a:off x="731520" y="1463040"/>
            <a:ext cx="516636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45920"/>
            <a:ext cx="4709160" cy="4297680"/>
          </a:xfrm>
          <a:prstGeom prst="rect">
            <a:avLst/>
          </a:prstGeom>
          <a:noFill/>
        </p:spPr>
        <p:txBody>
          <a:bodyPr wrap="square" lIns="0" tIns="0" rIns="0" bIns="0">
            <a:spAutoFit/>
          </a:bodyPr>
          <a:lstStyle/>
          <a:p>
            <a:pPr>
              <a:defRPr sz="1700" b="1">
                <a:solidFill>
                  <a:srgbClr val="14B8A6"/>
                </a:solidFill>
              </a:defRPr>
            </a:pPr>
            <a:r>
              <a:t>📊 Full Benchmark: Sleep-EDF Expanded (PhysioNet)</a:t>
            </a:r>
          </a:p>
          <a:p>
            <a:pPr>
              <a:spcBef>
                <a:spcPts val="1400"/>
              </a:spcBef>
              <a:defRPr sz="1400" b="1">
                <a:solidFill>
                  <a:srgbClr val="F8FAFC"/>
                </a:solidFill>
              </a:defRPr>
            </a:pPr>
            <a:r>
              <a:t>Scale &amp; Volume:</a:t>
            </a:r>
          </a:p>
          <a:p>
            <a:pPr>
              <a:spcBef>
                <a:spcPts val="400"/>
              </a:spcBef>
              <a:defRPr sz="1300">
                <a:solidFill>
                  <a:srgbClr val="CBD5E1"/>
                </a:solidFill>
              </a:defRPr>
            </a:pPr>
            <a:r>
              <a:t>• 197 all-night recordings (~2,000 hours of continuous PSG)</a:t>
            </a:r>
            <a:br/>
            <a:r>
              <a:t>• 237,936 validated 30-second epochs (epochs_v3 benchmark)</a:t>
            </a:r>
          </a:p>
          <a:p>
            <a:pPr>
              <a:spcBef>
                <a:spcPts val="1400"/>
              </a:spcBef>
              <a:defRPr sz="1400" b="1">
                <a:solidFill>
                  <a:srgbClr val="F8FAFC"/>
                </a:solidFill>
              </a:defRPr>
            </a:pPr>
            <a:r>
              <a:t>Dual-Cohort Validation (Never Confounded):</a:t>
            </a:r>
          </a:p>
          <a:p>
            <a:pPr>
              <a:spcBef>
                <a:spcPts val="400"/>
              </a:spcBef>
              <a:defRPr sz="1300">
                <a:solidFill>
                  <a:srgbClr val="CBD5E1"/>
                </a:solidFill>
              </a:defRPr>
            </a:pPr>
            <a:r>
              <a:t>• Sleep Cassette (SC): 153 recordings (ambulatory healthy subjects)</a:t>
            </a:r>
            <a:br/>
            <a:r>
              <a:t>• Sleep Telemetry (ST): 44 recordings (in-patient clinical cohort)</a:t>
            </a:r>
          </a:p>
          <a:p>
            <a:pPr>
              <a:spcBef>
                <a:spcPts val="1400"/>
              </a:spcBef>
              <a:defRPr sz="1400" b="1">
                <a:solidFill>
                  <a:srgbClr val="F8FAFC"/>
                </a:solidFill>
              </a:defRPr>
            </a:pPr>
            <a:r>
              <a:t>Leakage-Free Protocol: Subject-Atomic 5-Fold CV</a:t>
            </a:r>
          </a:p>
          <a:p>
            <a:pPr>
              <a:spcBef>
                <a:spcPts val="400"/>
              </a:spcBef>
              <a:defRPr sz="1300">
                <a:solidFill>
                  <a:srgbClr val="CBD5E1"/>
                </a:solidFill>
              </a:defRPr>
            </a:pPr>
            <a:r>
              <a:t>• Zero subject overlap between training, tuning, and testing (folds5_v3)</a:t>
            </a:r>
            <a:br/>
            <a:r>
              <a:t>• Prevents overoptimistic memorization seen in subject-leaked studies.</a:t>
            </a:r>
          </a:p>
        </p:txBody>
      </p:sp>
      <p:sp>
        <p:nvSpPr>
          <p:cNvPr id="7" name="Rounded Rectangle 6"/>
          <p:cNvSpPr/>
          <p:nvPr/>
        </p:nvSpPr>
        <p:spPr>
          <a:xfrm>
            <a:off x="6263640" y="1463040"/>
            <a:ext cx="5193792"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645920"/>
            <a:ext cx="4736592" cy="4297680"/>
          </a:xfrm>
          <a:prstGeom prst="rect">
            <a:avLst/>
          </a:prstGeom>
          <a:noFill/>
        </p:spPr>
        <p:txBody>
          <a:bodyPr wrap="square" lIns="0" tIns="0" rIns="0" bIns="0">
            <a:spAutoFit/>
          </a:bodyPr>
          <a:lstStyle/>
          <a:p>
            <a:pPr>
              <a:defRPr sz="1700" b="1">
                <a:solidFill>
                  <a:srgbClr val="06B6D4"/>
                </a:solidFill>
              </a:defRPr>
            </a:pPr>
            <a:r>
              <a:t>⚙️ Signal Harmonization &amp; Preprocessing</a:t>
            </a:r>
          </a:p>
          <a:p>
            <a:pPr>
              <a:spcBef>
                <a:spcPts val="1600"/>
              </a:spcBef>
              <a:defRPr sz="1400" b="1">
                <a:solidFill>
                  <a:srgbClr val="F8FAFC"/>
                </a:solidFill>
              </a:defRPr>
            </a:pPr>
            <a:r>
              <a:t>1. Canonical 100 Hz Resampling</a:t>
            </a:r>
          </a:p>
          <a:p>
            <a:pPr>
              <a:spcBef>
                <a:spcPts val="400"/>
              </a:spcBef>
              <a:defRPr sz="1300">
                <a:solidFill>
                  <a:srgbClr val="CBD5E1"/>
                </a:solidFill>
              </a:defRPr>
            </a:pPr>
            <a:r>
              <a:t>Polyphase anti-aliasing filtering across all raw input channels to eliminate sample rate divergence across hospital equipment.</a:t>
            </a:r>
          </a:p>
          <a:p>
            <a:pPr>
              <a:spcBef>
                <a:spcPts val="1600"/>
              </a:spcBef>
              <a:defRPr sz="1400" b="1">
                <a:solidFill>
                  <a:srgbClr val="F8FAFC"/>
                </a:solidFill>
              </a:defRPr>
            </a:pPr>
            <a:r>
              <a:t>2. Electrode Standardization</a:t>
            </a:r>
          </a:p>
          <a:p>
            <a:pPr>
              <a:spcBef>
                <a:spcPts val="400"/>
              </a:spcBef>
              <a:defRPr sz="1300">
                <a:solidFill>
                  <a:srgbClr val="CBD5E1"/>
                </a:solidFill>
              </a:defRPr>
            </a:pPr>
            <a:r>
              <a:t>Harmonizes diverse montages to canonical channels: Frontal EEG (Fpz-Cz), Occipital EEG (Pz-Oz), Ocular (EOG horiz), Chin (EMG submental).</a:t>
            </a:r>
          </a:p>
          <a:p>
            <a:pPr>
              <a:spcBef>
                <a:spcPts val="1600"/>
              </a:spcBef>
              <a:defRPr sz="1400" b="1">
                <a:solidFill>
                  <a:srgbClr val="F8FAFC"/>
                </a:solidFill>
              </a:defRPr>
            </a:pPr>
            <a:r>
              <a:t>3. Lights-Off Windowing (BENCHMARK_30)</a:t>
            </a:r>
          </a:p>
          <a:p>
            <a:pPr>
              <a:spcBef>
                <a:spcPts val="400"/>
              </a:spcBef>
              <a:defRPr sz="1300">
                <a:solidFill>
                  <a:srgbClr val="CBD5E1"/>
                </a:solidFill>
              </a:defRPr>
            </a:pPr>
            <a:r>
              <a:t>Automatically cuts extensive pre/post recording waking padding while strictly preserving sleep onset and offset transition dynamics.</a:t>
            </a:r>
          </a:p>
        </p:txBody>
      </p:sp>
      <p:sp>
        <p:nvSpPr>
          <p:cNvPr id="9" name="TextBox 8"/>
          <p:cNvSpPr txBox="1"/>
          <p:nvPr/>
        </p:nvSpPr>
        <p:spPr>
          <a:xfrm>
            <a:off x="731520" y="6327648"/>
            <a:ext cx="10728655" cy="320040"/>
          </a:xfrm>
          <a:prstGeom prst="rect">
            <a:avLst/>
          </a:prstGeom>
          <a:noFill/>
        </p:spPr>
        <p:txBody>
          <a:bodyPr wrap="none" lIns="0" tIns="0" rIns="0" bIns="0">
            <a:spAutoFit/>
          </a:bodyPr>
          <a:lstStyle/>
          <a:p>
            <a:pPr>
              <a:defRPr sz="1050">
                <a:solidFill>
                  <a:srgbClr val="94A3B8"/>
                </a:solidFill>
              </a:defRPr>
            </a:pPr>
            <a:r>
              <a:t>Evaluation Protocol: Subject-disjoint 5-fold cross validation with unified benchmark windowing</a:t>
            </a:r>
          </a:p>
        </p:txBody>
      </p:sp>
      <p:sp>
        <p:nvSpPr>
          <p:cNvPr id="10" name="TextBox 9"/>
          <p:cNvSpPr txBox="1"/>
          <p:nvPr/>
        </p:nvSpPr>
        <p:spPr>
          <a:xfrm>
            <a:off x="6400800" y="6327648"/>
            <a:ext cx="5059375" cy="320040"/>
          </a:xfrm>
          <a:prstGeom prst="rect">
            <a:avLst/>
          </a:prstGeom>
          <a:noFill/>
        </p:spPr>
        <p:txBody>
          <a:bodyPr wrap="none" lIns="0" tIns="0" rIns="0" bIns="0">
            <a:spAutoFit/>
          </a:bodyPr>
          <a:lstStyle/>
          <a:p>
            <a:pPr algn="r">
              <a:defRPr sz="1050">
                <a:solidFill>
                  <a:srgbClr val="94A3B8"/>
                </a:solidFill>
              </a:defRPr>
            </a:pPr>
            <a:r>
              <a:t>BENCHMARK_30 Window: 237,936 valid epochs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8229600" cy="1005840"/>
          </a:xfrm>
          <a:prstGeom prst="rect">
            <a:avLst/>
          </a:prstGeom>
          <a:noFill/>
        </p:spPr>
        <p:txBody>
          <a:bodyPr wrap="square" lIns="0" tIns="0" rIns="0" bIns="0">
            <a:spAutoFit/>
          </a:bodyPr>
          <a:lstStyle/>
          <a:p>
            <a:pPr>
              <a:defRPr sz="1100" b="1">
                <a:solidFill>
                  <a:srgbClr val="14B8A6"/>
                </a:solidFill>
              </a:defRPr>
            </a:pPr>
            <a:r>
              <a:t>TIER 1 AI MODEL</a:t>
            </a:r>
          </a:p>
          <a:p>
            <a:pPr>
              <a:spcBef>
                <a:spcPts val="300"/>
              </a:spcBef>
              <a:defRPr sz="2500" b="1">
                <a:solidFill>
                  <a:srgbClr val="F8FAFC"/>
                </a:solidFill>
              </a:defRPr>
            </a:pPr>
            <a:r>
              <a:t>30-Second Sleep Stage Classification (SSC)</a:t>
            </a:r>
          </a:p>
          <a:p>
            <a:pPr>
              <a:spcBef>
                <a:spcPts val="200"/>
              </a:spcBef>
              <a:defRPr sz="1300">
                <a:solidFill>
                  <a:srgbClr val="06B6D4"/>
                </a:solidFill>
              </a:defRPr>
            </a:pPr>
            <a:r>
              <a:t>Systematic benchmark of 25+ configurations across all 197 nights</a:t>
            </a:r>
          </a:p>
        </p:txBody>
      </p:sp>
      <p:sp>
        <p:nvSpPr>
          <p:cNvPr id="4" name="Rounded Rectangle 3"/>
          <p:cNvSpPr/>
          <p:nvPr/>
        </p:nvSpPr>
        <p:spPr>
          <a:xfrm>
            <a:off x="9144000" y="365760"/>
            <a:ext cx="2316175" cy="438912"/>
          </a:xfrm>
          <a:prstGeom prst="roundRect">
            <a:avLst/>
          </a:prstGeom>
          <a:solidFill>
            <a:srgbClr val="082F49"/>
          </a:solidFill>
          <a:ln w="127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06B6D4"/>
                </a:solidFill>
              </a:defRPr>
            </a:pPr>
            <a:r>
              <a:t>1:30 – 2:25 | 55s</a:t>
            </a:r>
          </a:p>
        </p:txBody>
      </p:sp>
      <p:graphicFrame>
        <p:nvGraphicFramePr>
          <p:cNvPr id="5" name="Table 4"/>
          <p:cNvGraphicFramePr>
            <a:graphicFrameLocks noGrp="1"/>
          </p:cNvGraphicFramePr>
          <p:nvPr/>
        </p:nvGraphicFramePr>
        <p:xfrm>
          <a:off x="731520" y="1463040"/>
          <a:ext cx="10728655" cy="2834640"/>
        </p:xfrm>
        <a:graphic>
          <a:graphicData uri="http://schemas.openxmlformats.org/drawingml/2006/table">
            <a:tbl>
              <a:tblPr firstRow="1" bandRow="1">
                <a:tableStyleId>{5C22544A-7EE6-4342-B048-85BDC9FD1C3A}</a:tableStyleId>
              </a:tblPr>
              <a:tblGrid>
                <a:gridCol w="1005840"/>
                <a:gridCol w="3322015"/>
                <a:gridCol w="868680"/>
                <a:gridCol w="777240"/>
                <a:gridCol w="777240"/>
                <a:gridCol w="822960"/>
                <a:gridCol w="777240"/>
                <a:gridCol w="777240"/>
                <a:gridCol w="777240"/>
                <a:gridCol w="822960"/>
              </a:tblGrid>
              <a:tr h="404948">
                <a:tc>
                  <a:txBody>
                    <a:bodyPr/>
                    <a:lstStyle/>
                    <a:p>
                      <a:pPr>
                        <a:defRPr sz="1150" b="1">
                          <a:solidFill>
                            <a:srgbClr val="06B6D4"/>
                          </a:solidFill>
                        </a:defRPr>
                      </a:pPr>
                      <a:r>
                        <a:t>Run</a:t>
                      </a:r>
                    </a:p>
                  </a:txBody>
                  <a:tcPr>
                    <a:solidFill>
                      <a:srgbClr val="1E293B"/>
                    </a:solidFill>
                  </a:tcPr>
                </a:tc>
                <a:tc>
                  <a:txBody>
                    <a:bodyPr/>
                    <a:lstStyle/>
                    <a:p>
                      <a:pPr>
                        <a:defRPr sz="1150" b="1">
                          <a:solidFill>
                            <a:srgbClr val="06B6D4"/>
                          </a:solidFill>
                        </a:defRPr>
                      </a:pPr>
                      <a:r>
                        <a:t>Architecture / Montage</a:t>
                      </a:r>
                    </a:p>
                  </a:txBody>
                  <a:tcPr>
                    <a:solidFill>
                      <a:srgbClr val="1E293B"/>
                    </a:solidFill>
                  </a:tcPr>
                </a:tc>
                <a:tc>
                  <a:txBody>
                    <a:bodyPr/>
                    <a:lstStyle/>
                    <a:p>
                      <a:pPr algn="ctr">
                        <a:defRPr sz="1150" b="1">
                          <a:solidFill>
                            <a:srgbClr val="06B6D4"/>
                          </a:solidFill>
                        </a:defRPr>
                      </a:pPr>
                      <a:r>
                        <a:t>Macro-F1</a:t>
                      </a:r>
                    </a:p>
                  </a:txBody>
                  <a:tcPr>
                    <a:solidFill>
                      <a:srgbClr val="1E293B"/>
                    </a:solidFill>
                  </a:tcPr>
                </a:tc>
                <a:tc>
                  <a:txBody>
                    <a:bodyPr/>
                    <a:lstStyle/>
                    <a:p>
                      <a:pPr algn="ctr">
                        <a:defRPr sz="1150" b="1">
                          <a:solidFill>
                            <a:srgbClr val="06B6D4"/>
                          </a:solidFill>
                        </a:defRPr>
                      </a:pPr>
                      <a:r>
                        <a:t>SC F1</a:t>
                      </a:r>
                    </a:p>
                  </a:txBody>
                  <a:tcPr>
                    <a:solidFill>
                      <a:srgbClr val="1E293B"/>
                    </a:solidFill>
                  </a:tcPr>
                </a:tc>
                <a:tc>
                  <a:txBody>
                    <a:bodyPr/>
                    <a:lstStyle/>
                    <a:p>
                      <a:pPr algn="ctr">
                        <a:defRPr sz="1150" b="1">
                          <a:solidFill>
                            <a:srgbClr val="06B6D4"/>
                          </a:solidFill>
                        </a:defRPr>
                      </a:pPr>
                      <a:r>
                        <a:t>ST F1</a:t>
                      </a:r>
                    </a:p>
                  </a:txBody>
                  <a:tcPr>
                    <a:solidFill>
                      <a:srgbClr val="1E293B"/>
                    </a:solidFill>
                  </a:tcPr>
                </a:tc>
                <a:tc>
                  <a:txBody>
                    <a:bodyPr/>
                    <a:lstStyle/>
                    <a:p>
                      <a:pPr algn="ctr">
                        <a:defRPr sz="1150" b="1">
                          <a:solidFill>
                            <a:srgbClr val="06B6D4"/>
                          </a:solidFill>
                        </a:defRPr>
                      </a:pPr>
                      <a:r>
                        <a:t>N1 F1</a:t>
                      </a:r>
                    </a:p>
                  </a:txBody>
                  <a:tcPr>
                    <a:solidFill>
                      <a:srgbClr val="1E293B"/>
                    </a:solidFill>
                  </a:tcPr>
                </a:tc>
                <a:tc>
                  <a:txBody>
                    <a:bodyPr/>
                    <a:lstStyle/>
                    <a:p>
                      <a:pPr algn="ctr">
                        <a:defRPr sz="1150" b="1">
                          <a:solidFill>
                            <a:srgbClr val="06B6D4"/>
                          </a:solidFill>
                        </a:defRPr>
                      </a:pPr>
                      <a:r>
                        <a:t>N2 F1</a:t>
                      </a:r>
                    </a:p>
                  </a:txBody>
                  <a:tcPr>
                    <a:solidFill>
                      <a:srgbClr val="1E293B"/>
                    </a:solidFill>
                  </a:tcPr>
                </a:tc>
                <a:tc>
                  <a:txBody>
                    <a:bodyPr/>
                    <a:lstStyle/>
                    <a:p>
                      <a:pPr algn="ctr">
                        <a:defRPr sz="1150" b="1">
                          <a:solidFill>
                            <a:srgbClr val="06B6D4"/>
                          </a:solidFill>
                        </a:defRPr>
                      </a:pPr>
                      <a:r>
                        <a:t>N3 F1</a:t>
                      </a:r>
                    </a:p>
                  </a:txBody>
                  <a:tcPr>
                    <a:solidFill>
                      <a:srgbClr val="1E293B"/>
                    </a:solidFill>
                  </a:tcPr>
                </a:tc>
                <a:tc>
                  <a:txBody>
                    <a:bodyPr/>
                    <a:lstStyle/>
                    <a:p>
                      <a:pPr algn="ctr">
                        <a:defRPr sz="1150" b="1">
                          <a:solidFill>
                            <a:srgbClr val="06B6D4"/>
                          </a:solidFill>
                        </a:defRPr>
                      </a:pPr>
                      <a:r>
                        <a:t>REM F1</a:t>
                      </a:r>
                    </a:p>
                  </a:txBody>
                  <a:tcPr>
                    <a:solidFill>
                      <a:srgbClr val="1E293B"/>
                    </a:solidFill>
                  </a:tcPr>
                </a:tc>
                <a:tc>
                  <a:txBody>
                    <a:bodyPr/>
                    <a:lstStyle/>
                    <a:p>
                      <a:pPr algn="ctr">
                        <a:defRPr sz="1150" b="1">
                          <a:solidFill>
                            <a:srgbClr val="06B6D4"/>
                          </a:solidFill>
                        </a:defRPr>
                      </a:pPr>
                      <a:r>
                        <a:t>Cohen κ</a:t>
                      </a:r>
                    </a:p>
                  </a:txBody>
                  <a:tcPr>
                    <a:solidFill>
                      <a:srgbClr val="1E293B"/>
                    </a:solidFill>
                  </a:tcPr>
                </a:tc>
              </a:tr>
              <a:tr h="404948">
                <a:tc>
                  <a:txBody>
                    <a:bodyPr/>
                    <a:lstStyle/>
                    <a:p>
                      <a:pPr>
                        <a:defRPr sz="1100" b="1">
                          <a:solidFill>
                            <a:srgbClr val="14B8A6"/>
                          </a:solidFill>
                        </a:defRPr>
                      </a:pPr>
                      <a:r>
                        <a:t>E19 (Best)</a:t>
                      </a:r>
                    </a:p>
                  </a:txBody>
                  <a:tcPr>
                    <a:solidFill>
                      <a:srgbClr val="134E4A"/>
                    </a:solidFill>
                  </a:tcPr>
                </a:tc>
                <a:tc>
                  <a:txBody>
                    <a:bodyPr/>
                    <a:lstStyle/>
                    <a:p>
                      <a:pPr>
                        <a:defRPr sz="1100" b="1">
                          <a:solidFill>
                            <a:srgbClr val="F8FAFC"/>
                          </a:solidFill>
                        </a:defRPr>
                      </a:pPr>
                      <a:r>
                        <a:t>4-Model Diverse Ensemble (ANY3ch + ANY2ch + USleep + LGBM)</a:t>
                      </a:r>
                    </a:p>
                  </a:txBody>
                  <a:tcPr>
                    <a:solidFill>
                      <a:srgbClr val="134E4A"/>
                    </a:solidFill>
                  </a:tcPr>
                </a:tc>
                <a:tc>
                  <a:txBody>
                    <a:bodyPr/>
                    <a:lstStyle/>
                    <a:p>
                      <a:pPr algn="ctr">
                        <a:defRPr sz="1100" b="1">
                          <a:solidFill>
                            <a:srgbClr val="14B8A6"/>
                          </a:solidFill>
                        </a:defRPr>
                      </a:pPr>
                      <a:r>
                        <a:t>0.8425</a:t>
                      </a:r>
                    </a:p>
                  </a:txBody>
                  <a:tcPr>
                    <a:solidFill>
                      <a:srgbClr val="134E4A"/>
                    </a:solidFill>
                  </a:tcPr>
                </a:tc>
                <a:tc>
                  <a:txBody>
                    <a:bodyPr/>
                    <a:lstStyle/>
                    <a:p>
                      <a:pPr algn="ctr">
                        <a:defRPr sz="1100" b="1">
                          <a:solidFill>
                            <a:srgbClr val="F8FAFC"/>
                          </a:solidFill>
                        </a:defRPr>
                      </a:pPr>
                      <a:r>
                        <a:t>0.836</a:t>
                      </a:r>
                    </a:p>
                  </a:txBody>
                  <a:tcPr>
                    <a:solidFill>
                      <a:srgbClr val="134E4A"/>
                    </a:solidFill>
                  </a:tcPr>
                </a:tc>
                <a:tc>
                  <a:txBody>
                    <a:bodyPr/>
                    <a:lstStyle/>
                    <a:p>
                      <a:pPr algn="ctr">
                        <a:defRPr sz="1100" b="1">
                          <a:solidFill>
                            <a:srgbClr val="F8FAFC"/>
                          </a:solidFill>
                        </a:defRPr>
                      </a:pPr>
                      <a:r>
                        <a:t>0.865</a:t>
                      </a:r>
                    </a:p>
                  </a:txBody>
                  <a:tcPr>
                    <a:solidFill>
                      <a:srgbClr val="134E4A"/>
                    </a:solidFill>
                  </a:tcPr>
                </a:tc>
                <a:tc>
                  <a:txBody>
                    <a:bodyPr/>
                    <a:lstStyle/>
                    <a:p>
                      <a:pPr algn="ctr">
                        <a:defRPr sz="1100" b="1">
                          <a:solidFill>
                            <a:srgbClr val="14B8A6"/>
                          </a:solidFill>
                        </a:defRPr>
                      </a:pPr>
                      <a:r>
                        <a:t>0.635</a:t>
                      </a:r>
                    </a:p>
                  </a:txBody>
                  <a:tcPr>
                    <a:solidFill>
                      <a:srgbClr val="134E4A"/>
                    </a:solidFill>
                  </a:tcPr>
                </a:tc>
                <a:tc>
                  <a:txBody>
                    <a:bodyPr/>
                    <a:lstStyle/>
                    <a:p>
                      <a:pPr algn="ctr">
                        <a:defRPr sz="1100" b="1">
                          <a:solidFill>
                            <a:srgbClr val="F8FAFC"/>
                          </a:solidFill>
                        </a:defRPr>
                      </a:pPr>
                      <a:r>
                        <a:t>0.892</a:t>
                      </a:r>
                    </a:p>
                  </a:txBody>
                  <a:tcPr>
                    <a:solidFill>
                      <a:srgbClr val="134E4A"/>
                    </a:solidFill>
                  </a:tcPr>
                </a:tc>
                <a:tc>
                  <a:txBody>
                    <a:bodyPr/>
                    <a:lstStyle/>
                    <a:p>
                      <a:pPr algn="ctr">
                        <a:defRPr sz="1100" b="1">
                          <a:solidFill>
                            <a:srgbClr val="F8FAFC"/>
                          </a:solidFill>
                        </a:defRPr>
                      </a:pPr>
                      <a:r>
                        <a:t>0.833</a:t>
                      </a:r>
                    </a:p>
                  </a:txBody>
                  <a:tcPr>
                    <a:solidFill>
                      <a:srgbClr val="134E4A"/>
                    </a:solidFill>
                  </a:tcPr>
                </a:tc>
                <a:tc>
                  <a:txBody>
                    <a:bodyPr/>
                    <a:lstStyle/>
                    <a:p>
                      <a:pPr algn="ctr">
                        <a:defRPr sz="1100" b="1">
                          <a:solidFill>
                            <a:srgbClr val="14B8A6"/>
                          </a:solidFill>
                        </a:defRPr>
                      </a:pPr>
                      <a:r>
                        <a:t>0.915</a:t>
                      </a:r>
                    </a:p>
                  </a:txBody>
                  <a:tcPr>
                    <a:solidFill>
                      <a:srgbClr val="134E4A"/>
                    </a:solidFill>
                  </a:tcPr>
                </a:tc>
                <a:tc>
                  <a:txBody>
                    <a:bodyPr/>
                    <a:lstStyle/>
                    <a:p>
                      <a:pPr algn="ctr">
                        <a:defRPr sz="1100" b="1">
                          <a:solidFill>
                            <a:srgbClr val="14B8A6"/>
                          </a:solidFill>
                        </a:defRPr>
                      </a:pPr>
                      <a:r>
                        <a:t>0.831</a:t>
                      </a:r>
                    </a:p>
                  </a:txBody>
                  <a:tcPr>
                    <a:solidFill>
                      <a:srgbClr val="134E4A"/>
                    </a:solidFill>
                  </a:tcPr>
                </a:tc>
              </a:tr>
              <a:tr h="404948">
                <a:tc>
                  <a:txBody>
                    <a:bodyPr/>
                    <a:lstStyle/>
                    <a:p>
                      <a:pPr>
                        <a:defRPr sz="1100">
                          <a:solidFill>
                            <a:srgbClr val="F8FAFC"/>
                          </a:solidFill>
                        </a:defRPr>
                      </a:pPr>
                      <a:r>
                        <a:t>E11</a:t>
                      </a:r>
                    </a:p>
                  </a:txBody>
                  <a:tcPr>
                    <a:solidFill>
                      <a:srgbClr val="0F172A"/>
                    </a:solidFill>
                  </a:tcPr>
                </a:tc>
                <a:tc>
                  <a:txBody>
                    <a:bodyPr/>
                    <a:lstStyle/>
                    <a:p>
                      <a:pPr>
                        <a:defRPr sz="1100">
                          <a:solidFill>
                            <a:srgbClr val="F8FAFC"/>
                          </a:solidFill>
                        </a:defRPr>
                      </a:pPr>
                      <a:r>
                        <a:t>AnySleep 3ch (Fpz+Pz+EOG) — Best Single Model</a:t>
                      </a:r>
                    </a:p>
                  </a:txBody>
                  <a:tcPr>
                    <a:solidFill>
                      <a:srgbClr val="0F172A"/>
                    </a:solidFill>
                  </a:tcPr>
                </a:tc>
                <a:tc>
                  <a:txBody>
                    <a:bodyPr/>
                    <a:lstStyle/>
                    <a:p>
                      <a:pPr algn="ctr">
                        <a:defRPr sz="1100">
                          <a:solidFill>
                            <a:srgbClr val="CBD5E1"/>
                          </a:solidFill>
                        </a:defRPr>
                      </a:pPr>
                      <a:r>
                        <a:t>0.8267</a:t>
                      </a:r>
                    </a:p>
                  </a:txBody>
                  <a:tcPr>
                    <a:solidFill>
                      <a:srgbClr val="0F172A"/>
                    </a:solidFill>
                  </a:tcPr>
                </a:tc>
                <a:tc>
                  <a:txBody>
                    <a:bodyPr/>
                    <a:lstStyle/>
                    <a:p>
                      <a:pPr algn="ctr">
                        <a:defRPr sz="1100">
                          <a:solidFill>
                            <a:srgbClr val="CBD5E1"/>
                          </a:solidFill>
                        </a:defRPr>
                      </a:pPr>
                      <a:r>
                        <a:t>0.809</a:t>
                      </a:r>
                    </a:p>
                  </a:txBody>
                  <a:tcPr>
                    <a:solidFill>
                      <a:srgbClr val="0F172A"/>
                    </a:solidFill>
                  </a:tcPr>
                </a:tc>
                <a:tc>
                  <a:txBody>
                    <a:bodyPr/>
                    <a:lstStyle/>
                    <a:p>
                      <a:pPr algn="ctr">
                        <a:defRPr sz="1100">
                          <a:solidFill>
                            <a:srgbClr val="CBD5E1"/>
                          </a:solidFill>
                        </a:defRPr>
                      </a:pPr>
                      <a:r>
                        <a:t>0.878</a:t>
                      </a:r>
                    </a:p>
                  </a:txBody>
                  <a:tcPr>
                    <a:solidFill>
                      <a:srgbClr val="0F172A"/>
                    </a:solidFill>
                  </a:tcPr>
                </a:tc>
                <a:tc>
                  <a:txBody>
                    <a:bodyPr/>
                    <a:lstStyle/>
                    <a:p>
                      <a:pPr algn="ctr">
                        <a:defRPr sz="1100">
                          <a:solidFill>
                            <a:srgbClr val="CBD5E1"/>
                          </a:solidFill>
                        </a:defRPr>
                      </a:pPr>
                      <a:r>
                        <a:t>0.622</a:t>
                      </a:r>
                    </a:p>
                  </a:txBody>
                  <a:tcPr>
                    <a:solidFill>
                      <a:srgbClr val="0F172A"/>
                    </a:solidFill>
                  </a:tcPr>
                </a:tc>
                <a:tc>
                  <a:txBody>
                    <a:bodyPr/>
                    <a:lstStyle/>
                    <a:p>
                      <a:pPr algn="ctr">
                        <a:defRPr sz="1100">
                          <a:solidFill>
                            <a:srgbClr val="CBD5E1"/>
                          </a:solidFill>
                        </a:defRPr>
                      </a:pPr>
                      <a:r>
                        <a:t>0.880</a:t>
                      </a:r>
                    </a:p>
                  </a:txBody>
                  <a:tcPr>
                    <a:solidFill>
                      <a:srgbClr val="0F172A"/>
                    </a:solidFill>
                  </a:tcPr>
                </a:tc>
                <a:tc>
                  <a:txBody>
                    <a:bodyPr/>
                    <a:lstStyle/>
                    <a:p>
                      <a:pPr algn="ctr">
                        <a:defRPr sz="1100">
                          <a:solidFill>
                            <a:srgbClr val="CBD5E1"/>
                          </a:solidFill>
                        </a:defRPr>
                      </a:pPr>
                      <a:r>
                        <a:t>0.788</a:t>
                      </a:r>
                    </a:p>
                  </a:txBody>
                  <a:tcPr>
                    <a:solidFill>
                      <a:srgbClr val="0F172A"/>
                    </a:solidFill>
                  </a:tcPr>
                </a:tc>
                <a:tc>
                  <a:txBody>
                    <a:bodyPr/>
                    <a:lstStyle/>
                    <a:p>
                      <a:pPr algn="ctr">
                        <a:defRPr sz="1100">
                          <a:solidFill>
                            <a:srgbClr val="CBD5E1"/>
                          </a:solidFill>
                        </a:defRPr>
                      </a:pPr>
                      <a:r>
                        <a:t>0.904</a:t>
                      </a:r>
                    </a:p>
                  </a:txBody>
                  <a:tcPr>
                    <a:solidFill>
                      <a:srgbClr val="0F172A"/>
                    </a:solidFill>
                  </a:tcPr>
                </a:tc>
                <a:tc>
                  <a:txBody>
                    <a:bodyPr/>
                    <a:lstStyle/>
                    <a:p>
                      <a:pPr algn="ctr">
                        <a:defRPr sz="1100">
                          <a:solidFill>
                            <a:srgbClr val="CBD5E1"/>
                          </a:solidFill>
                        </a:defRPr>
                      </a:pPr>
                      <a:r>
                        <a:t>0.812</a:t>
                      </a:r>
                    </a:p>
                  </a:txBody>
                  <a:tcPr>
                    <a:solidFill>
                      <a:srgbClr val="0F172A"/>
                    </a:solidFill>
                  </a:tcPr>
                </a:tc>
              </a:tr>
              <a:tr h="404948">
                <a:tc>
                  <a:txBody>
                    <a:bodyPr/>
                    <a:lstStyle/>
                    <a:p>
                      <a:pPr>
                        <a:defRPr sz="1100">
                          <a:solidFill>
                            <a:srgbClr val="F8FAFC"/>
                          </a:solidFill>
                        </a:defRPr>
                      </a:pPr>
                      <a:r>
                        <a:t>E11d</a:t>
                      </a:r>
                    </a:p>
                  </a:txBody>
                  <a:tcPr>
                    <a:solidFill>
                      <a:srgbClr val="0F172A"/>
                    </a:solidFill>
                  </a:tcPr>
                </a:tc>
                <a:tc>
                  <a:txBody>
                    <a:bodyPr/>
                    <a:lstStyle/>
                    <a:p>
                      <a:pPr>
                        <a:defRPr sz="1100">
                          <a:solidFill>
                            <a:srgbClr val="F8FAFC"/>
                          </a:solidFill>
                        </a:defRPr>
                      </a:pPr>
                      <a:r>
                        <a:t>AnySleep 2-Sensor (Fpz+EOG) — Best 2-Sensor</a:t>
                      </a:r>
                    </a:p>
                  </a:txBody>
                  <a:tcPr>
                    <a:solidFill>
                      <a:srgbClr val="0F172A"/>
                    </a:solidFill>
                  </a:tcPr>
                </a:tc>
                <a:tc>
                  <a:txBody>
                    <a:bodyPr/>
                    <a:lstStyle/>
                    <a:p>
                      <a:pPr algn="ctr">
                        <a:defRPr sz="1100">
                          <a:solidFill>
                            <a:srgbClr val="CBD5E1"/>
                          </a:solidFill>
                        </a:defRPr>
                      </a:pPr>
                      <a:r>
                        <a:t>0.8227</a:t>
                      </a:r>
                    </a:p>
                  </a:txBody>
                  <a:tcPr>
                    <a:solidFill>
                      <a:srgbClr val="0F172A"/>
                    </a:solidFill>
                  </a:tcPr>
                </a:tc>
                <a:tc>
                  <a:txBody>
                    <a:bodyPr/>
                    <a:lstStyle/>
                    <a:p>
                      <a:pPr algn="ctr">
                        <a:defRPr sz="1100">
                          <a:solidFill>
                            <a:srgbClr val="CBD5E1"/>
                          </a:solidFill>
                        </a:defRPr>
                      </a:pPr>
                      <a:r>
                        <a:t>0.811</a:t>
                      </a:r>
                    </a:p>
                  </a:txBody>
                  <a:tcPr>
                    <a:solidFill>
                      <a:srgbClr val="0F172A"/>
                    </a:solidFill>
                  </a:tcPr>
                </a:tc>
                <a:tc>
                  <a:txBody>
                    <a:bodyPr/>
                    <a:lstStyle/>
                    <a:p>
                      <a:pPr algn="ctr">
                        <a:defRPr sz="1100">
                          <a:solidFill>
                            <a:srgbClr val="CBD5E1"/>
                          </a:solidFill>
                        </a:defRPr>
                      </a:pPr>
                      <a:r>
                        <a:t>0.865</a:t>
                      </a:r>
                    </a:p>
                  </a:txBody>
                  <a:tcPr>
                    <a:solidFill>
                      <a:srgbClr val="0F172A"/>
                    </a:solidFill>
                  </a:tcPr>
                </a:tc>
                <a:tc>
                  <a:txBody>
                    <a:bodyPr/>
                    <a:lstStyle/>
                    <a:p>
                      <a:pPr algn="ctr">
                        <a:defRPr sz="1100">
                          <a:solidFill>
                            <a:srgbClr val="CBD5E1"/>
                          </a:solidFill>
                        </a:defRPr>
                      </a:pPr>
                      <a:r>
                        <a:t>0.592</a:t>
                      </a:r>
                    </a:p>
                  </a:txBody>
                  <a:tcPr>
                    <a:solidFill>
                      <a:srgbClr val="0F172A"/>
                    </a:solidFill>
                  </a:tcPr>
                </a:tc>
                <a:tc>
                  <a:txBody>
                    <a:bodyPr/>
                    <a:lstStyle/>
                    <a:p>
                      <a:pPr algn="ctr">
                        <a:defRPr sz="1100">
                          <a:solidFill>
                            <a:srgbClr val="CBD5E1"/>
                          </a:solidFill>
                        </a:defRPr>
                      </a:pPr>
                      <a:r>
                        <a:t>0.880</a:t>
                      </a:r>
                    </a:p>
                  </a:txBody>
                  <a:tcPr>
                    <a:solidFill>
                      <a:srgbClr val="0F172A"/>
                    </a:solidFill>
                  </a:tcPr>
                </a:tc>
                <a:tc>
                  <a:txBody>
                    <a:bodyPr/>
                    <a:lstStyle/>
                    <a:p>
                      <a:pPr algn="ctr">
                        <a:defRPr sz="1100">
                          <a:solidFill>
                            <a:srgbClr val="CBD5E1"/>
                          </a:solidFill>
                        </a:defRPr>
                      </a:pPr>
                      <a:r>
                        <a:t>0.812</a:t>
                      </a:r>
                    </a:p>
                  </a:txBody>
                  <a:tcPr>
                    <a:solidFill>
                      <a:srgbClr val="0F172A"/>
                    </a:solidFill>
                  </a:tcPr>
                </a:tc>
                <a:tc>
                  <a:txBody>
                    <a:bodyPr/>
                    <a:lstStyle/>
                    <a:p>
                      <a:pPr algn="ctr">
                        <a:defRPr sz="1100">
                          <a:solidFill>
                            <a:srgbClr val="CBD5E1"/>
                          </a:solidFill>
                        </a:defRPr>
                      </a:pPr>
                      <a:r>
                        <a:t>0.905</a:t>
                      </a:r>
                    </a:p>
                  </a:txBody>
                  <a:tcPr>
                    <a:solidFill>
                      <a:srgbClr val="0F172A"/>
                    </a:solidFill>
                  </a:tcPr>
                </a:tc>
                <a:tc>
                  <a:txBody>
                    <a:bodyPr/>
                    <a:lstStyle/>
                    <a:p>
                      <a:pPr algn="ctr">
                        <a:defRPr sz="1100">
                          <a:solidFill>
                            <a:srgbClr val="CBD5E1"/>
                          </a:solidFill>
                        </a:defRPr>
                      </a:pPr>
                      <a:r>
                        <a:t>0.808</a:t>
                      </a:r>
                    </a:p>
                  </a:txBody>
                  <a:tcPr>
                    <a:solidFill>
                      <a:srgbClr val="0F172A"/>
                    </a:solidFill>
                  </a:tcPr>
                </a:tc>
              </a:tr>
              <a:tr h="404948">
                <a:tc>
                  <a:txBody>
                    <a:bodyPr/>
                    <a:lstStyle/>
                    <a:p>
                      <a:pPr>
                        <a:defRPr sz="1100">
                          <a:solidFill>
                            <a:srgbClr val="F8FAFC"/>
                          </a:solidFill>
                        </a:defRPr>
                      </a:pPr>
                      <a:r>
                        <a:t>E20</a:t>
                      </a:r>
                    </a:p>
                  </a:txBody>
                  <a:tcPr>
                    <a:solidFill>
                      <a:srgbClr val="0F172A"/>
                    </a:solidFill>
                  </a:tcPr>
                </a:tc>
                <a:tc>
                  <a:txBody>
                    <a:bodyPr/>
                    <a:lstStyle/>
                    <a:p>
                      <a:pPr>
                        <a:defRPr sz="1100">
                          <a:solidFill>
                            <a:srgbClr val="F8FAFC"/>
                          </a:solidFill>
                        </a:defRPr>
                      </a:pPr>
                      <a:r>
                        <a:t>RobustSleepNet Fpz (Clean Baseline — No Sleep-EDF)</a:t>
                      </a:r>
                    </a:p>
                  </a:txBody>
                  <a:tcPr>
                    <a:solidFill>
                      <a:srgbClr val="0F172A"/>
                    </a:solidFill>
                  </a:tcPr>
                </a:tc>
                <a:tc>
                  <a:txBody>
                    <a:bodyPr/>
                    <a:lstStyle/>
                    <a:p>
                      <a:pPr algn="ctr">
                        <a:defRPr sz="1100">
                          <a:solidFill>
                            <a:srgbClr val="CBD5E1"/>
                          </a:solidFill>
                        </a:defRPr>
                      </a:pPr>
                      <a:r>
                        <a:t>0.7501</a:t>
                      </a:r>
                    </a:p>
                  </a:txBody>
                  <a:tcPr>
                    <a:solidFill>
                      <a:srgbClr val="0F172A"/>
                    </a:solidFill>
                  </a:tcPr>
                </a:tc>
                <a:tc>
                  <a:txBody>
                    <a:bodyPr/>
                    <a:lstStyle/>
                    <a:p>
                      <a:pPr algn="ctr">
                        <a:defRPr sz="1100">
                          <a:solidFill>
                            <a:srgbClr val="CBD5E1"/>
                          </a:solidFill>
                        </a:defRPr>
                      </a:pPr>
                      <a:r>
                        <a:t>0.736</a:t>
                      </a:r>
                    </a:p>
                  </a:txBody>
                  <a:tcPr>
                    <a:solidFill>
                      <a:srgbClr val="0F172A"/>
                    </a:solidFill>
                  </a:tcPr>
                </a:tc>
                <a:tc>
                  <a:txBody>
                    <a:bodyPr/>
                    <a:lstStyle/>
                    <a:p>
                      <a:pPr algn="ctr">
                        <a:defRPr sz="1100">
                          <a:solidFill>
                            <a:srgbClr val="CBD5E1"/>
                          </a:solidFill>
                        </a:defRPr>
                      </a:pPr>
                      <a:r>
                        <a:t>0.788</a:t>
                      </a:r>
                    </a:p>
                  </a:txBody>
                  <a:tcPr>
                    <a:solidFill>
                      <a:srgbClr val="0F172A"/>
                    </a:solidFill>
                  </a:tcPr>
                </a:tc>
                <a:tc>
                  <a:txBody>
                    <a:bodyPr/>
                    <a:lstStyle/>
                    <a:p>
                      <a:pPr algn="ctr">
                        <a:defRPr sz="1100">
                          <a:solidFill>
                            <a:srgbClr val="CBD5E1"/>
                          </a:solidFill>
                        </a:defRPr>
                      </a:pPr>
                      <a:r>
                        <a:t>0.442</a:t>
                      </a:r>
                    </a:p>
                  </a:txBody>
                  <a:tcPr>
                    <a:solidFill>
                      <a:srgbClr val="0F172A"/>
                    </a:solidFill>
                  </a:tcPr>
                </a:tc>
                <a:tc>
                  <a:txBody>
                    <a:bodyPr/>
                    <a:lstStyle/>
                    <a:p>
                      <a:pPr algn="ctr">
                        <a:defRPr sz="1100">
                          <a:solidFill>
                            <a:srgbClr val="CBD5E1"/>
                          </a:solidFill>
                        </a:defRPr>
                      </a:pPr>
                      <a:r>
                        <a:t>0.828</a:t>
                      </a:r>
                    </a:p>
                  </a:txBody>
                  <a:tcPr>
                    <a:solidFill>
                      <a:srgbClr val="0F172A"/>
                    </a:solidFill>
                  </a:tcPr>
                </a:tc>
                <a:tc>
                  <a:txBody>
                    <a:bodyPr/>
                    <a:lstStyle/>
                    <a:p>
                      <a:pPr algn="ctr">
                        <a:defRPr sz="1100">
                          <a:solidFill>
                            <a:srgbClr val="CBD5E1"/>
                          </a:solidFill>
                        </a:defRPr>
                      </a:pPr>
                      <a:r>
                        <a:t>0.717</a:t>
                      </a:r>
                    </a:p>
                  </a:txBody>
                  <a:tcPr>
                    <a:solidFill>
                      <a:srgbClr val="0F172A"/>
                    </a:solidFill>
                  </a:tcPr>
                </a:tc>
                <a:tc>
                  <a:txBody>
                    <a:bodyPr/>
                    <a:lstStyle/>
                    <a:p>
                      <a:pPr algn="ctr">
                        <a:defRPr sz="1100">
                          <a:solidFill>
                            <a:srgbClr val="CBD5E1"/>
                          </a:solidFill>
                        </a:defRPr>
                      </a:pPr>
                      <a:r>
                        <a:t>0.855</a:t>
                      </a:r>
                    </a:p>
                  </a:txBody>
                  <a:tcPr>
                    <a:solidFill>
                      <a:srgbClr val="0F172A"/>
                    </a:solidFill>
                  </a:tcPr>
                </a:tc>
                <a:tc>
                  <a:txBody>
                    <a:bodyPr/>
                    <a:lstStyle/>
                    <a:p>
                      <a:pPr algn="ctr">
                        <a:defRPr sz="1100">
                          <a:solidFill>
                            <a:srgbClr val="CBD5E1"/>
                          </a:solidFill>
                        </a:defRPr>
                      </a:pPr>
                      <a:r>
                        <a:t>0.724</a:t>
                      </a:r>
                    </a:p>
                  </a:txBody>
                  <a:tcPr>
                    <a:solidFill>
                      <a:srgbClr val="0F172A"/>
                    </a:solidFill>
                  </a:tcPr>
                </a:tc>
              </a:tr>
              <a:tr h="404948">
                <a:tc>
                  <a:txBody>
                    <a:bodyPr/>
                    <a:lstStyle/>
                    <a:p>
                      <a:pPr>
                        <a:defRPr sz="1100">
                          <a:solidFill>
                            <a:srgbClr val="F8FAFC"/>
                          </a:solidFill>
                        </a:defRPr>
                      </a:pPr>
                      <a:r>
                        <a:t>E00</a:t>
                      </a:r>
                    </a:p>
                  </a:txBody>
                  <a:tcPr>
                    <a:solidFill>
                      <a:srgbClr val="0F172A"/>
                    </a:solidFill>
                  </a:tcPr>
                </a:tc>
                <a:tc>
                  <a:txBody>
                    <a:bodyPr/>
                    <a:lstStyle/>
                    <a:p>
                      <a:pPr>
                        <a:defRPr sz="1100">
                          <a:solidFill>
                            <a:srgbClr val="F8FAFC"/>
                          </a:solidFill>
                        </a:defRPr>
                      </a:pPr>
                      <a:r>
                        <a:t>LightGBM (11 Spectral/Bandpower Features)</a:t>
                      </a:r>
                    </a:p>
                  </a:txBody>
                  <a:tcPr>
                    <a:solidFill>
                      <a:srgbClr val="0F172A"/>
                    </a:solidFill>
                  </a:tcPr>
                </a:tc>
                <a:tc>
                  <a:txBody>
                    <a:bodyPr/>
                    <a:lstStyle/>
                    <a:p>
                      <a:pPr algn="ctr">
                        <a:defRPr sz="1100">
                          <a:solidFill>
                            <a:srgbClr val="CBD5E1"/>
                          </a:solidFill>
                        </a:defRPr>
                      </a:pPr>
                      <a:r>
                        <a:t>0.6672</a:t>
                      </a:r>
                    </a:p>
                  </a:txBody>
                  <a:tcPr>
                    <a:solidFill>
                      <a:srgbClr val="0F172A"/>
                    </a:solidFill>
                  </a:tcPr>
                </a:tc>
                <a:tc>
                  <a:txBody>
                    <a:bodyPr/>
                    <a:lstStyle/>
                    <a:p>
                      <a:pPr algn="ctr">
                        <a:defRPr sz="1100">
                          <a:solidFill>
                            <a:srgbClr val="CBD5E1"/>
                          </a:solidFill>
                        </a:defRPr>
                      </a:pPr>
                      <a:r>
                        <a:t>—</a:t>
                      </a:r>
                    </a:p>
                  </a:txBody>
                  <a:tcPr>
                    <a:solidFill>
                      <a:srgbClr val="0F172A"/>
                    </a:solidFill>
                  </a:tcPr>
                </a:tc>
                <a:tc>
                  <a:txBody>
                    <a:bodyPr/>
                    <a:lstStyle/>
                    <a:p>
                      <a:pPr algn="ctr">
                        <a:defRPr sz="1100">
                          <a:solidFill>
                            <a:srgbClr val="CBD5E1"/>
                          </a:solidFill>
                        </a:defRPr>
                      </a:pPr>
                      <a:r>
                        <a:t>—</a:t>
                      </a:r>
                    </a:p>
                  </a:txBody>
                  <a:tcPr>
                    <a:solidFill>
                      <a:srgbClr val="0F172A"/>
                    </a:solidFill>
                  </a:tcPr>
                </a:tc>
                <a:tc>
                  <a:txBody>
                    <a:bodyPr/>
                    <a:lstStyle/>
                    <a:p>
                      <a:pPr algn="ctr">
                        <a:defRPr sz="1100">
                          <a:solidFill>
                            <a:srgbClr val="CBD5E1"/>
                          </a:solidFill>
                        </a:defRPr>
                      </a:pPr>
                      <a:r>
                        <a:t>0.339</a:t>
                      </a:r>
                    </a:p>
                  </a:txBody>
                  <a:tcPr>
                    <a:solidFill>
                      <a:srgbClr val="0F172A"/>
                    </a:solidFill>
                  </a:tcPr>
                </a:tc>
                <a:tc>
                  <a:txBody>
                    <a:bodyPr/>
                    <a:lstStyle/>
                    <a:p>
                      <a:pPr algn="ctr">
                        <a:defRPr sz="1100">
                          <a:solidFill>
                            <a:srgbClr val="CBD5E1"/>
                          </a:solidFill>
                        </a:defRPr>
                      </a:pPr>
                      <a:r>
                        <a:t>0.752</a:t>
                      </a:r>
                    </a:p>
                  </a:txBody>
                  <a:tcPr>
                    <a:solidFill>
                      <a:srgbClr val="0F172A"/>
                    </a:solidFill>
                  </a:tcPr>
                </a:tc>
                <a:tc>
                  <a:txBody>
                    <a:bodyPr/>
                    <a:lstStyle/>
                    <a:p>
                      <a:pPr algn="ctr">
                        <a:defRPr sz="1100">
                          <a:solidFill>
                            <a:srgbClr val="CBD5E1"/>
                          </a:solidFill>
                        </a:defRPr>
                      </a:pPr>
                      <a:r>
                        <a:t>0.687</a:t>
                      </a:r>
                    </a:p>
                  </a:txBody>
                  <a:tcPr>
                    <a:solidFill>
                      <a:srgbClr val="0F172A"/>
                    </a:solidFill>
                  </a:tcPr>
                </a:tc>
                <a:tc>
                  <a:txBody>
                    <a:bodyPr/>
                    <a:lstStyle/>
                    <a:p>
                      <a:pPr algn="ctr">
                        <a:defRPr sz="1100">
                          <a:solidFill>
                            <a:srgbClr val="CBD5E1"/>
                          </a:solidFill>
                        </a:defRPr>
                      </a:pPr>
                      <a:r>
                        <a:t>0.585</a:t>
                      </a:r>
                    </a:p>
                  </a:txBody>
                  <a:tcPr>
                    <a:solidFill>
                      <a:srgbClr val="0F172A"/>
                    </a:solidFill>
                  </a:tcPr>
                </a:tc>
                <a:tc>
                  <a:txBody>
                    <a:bodyPr/>
                    <a:lstStyle/>
                    <a:p>
                      <a:pPr algn="ctr">
                        <a:defRPr sz="1100">
                          <a:solidFill>
                            <a:srgbClr val="CBD5E1"/>
                          </a:solidFill>
                        </a:defRPr>
                      </a:pPr>
                      <a:r>
                        <a:t>0.612</a:t>
                      </a:r>
                    </a:p>
                  </a:txBody>
                  <a:tcPr>
                    <a:solidFill>
                      <a:srgbClr val="0F172A"/>
                    </a:solidFill>
                  </a:tcPr>
                </a:tc>
              </a:tr>
              <a:tr h="404952">
                <a:tc>
                  <a:txBody>
                    <a:bodyPr/>
                    <a:lstStyle/>
                    <a:p>
                      <a:pPr>
                        <a:defRPr sz="1100">
                          <a:solidFill>
                            <a:srgbClr val="F8FAFC"/>
                          </a:solidFill>
                        </a:defRPr>
                      </a:pPr>
                      <a:r>
                        <a:t>E01</a:t>
                      </a:r>
                    </a:p>
                  </a:txBody>
                  <a:tcPr>
                    <a:solidFill>
                      <a:srgbClr val="0F172A"/>
                    </a:solidFill>
                  </a:tcPr>
                </a:tc>
                <a:tc>
                  <a:txBody>
                    <a:bodyPr/>
                    <a:lstStyle/>
                    <a:p>
                      <a:pPr>
                        <a:defRPr sz="1100">
                          <a:solidFill>
                            <a:srgbClr val="F8FAFC"/>
                          </a:solidFill>
                        </a:defRPr>
                      </a:pPr>
                      <a:r>
                        <a:t>YASA Clinical Baseline (Fpz-Cz Random Forest)</a:t>
                      </a:r>
                    </a:p>
                  </a:txBody>
                  <a:tcPr>
                    <a:solidFill>
                      <a:srgbClr val="0F172A"/>
                    </a:solidFill>
                  </a:tcPr>
                </a:tc>
                <a:tc>
                  <a:txBody>
                    <a:bodyPr/>
                    <a:lstStyle/>
                    <a:p>
                      <a:pPr algn="ctr">
                        <a:defRPr sz="1100">
                          <a:solidFill>
                            <a:srgbClr val="F43F5E"/>
                          </a:solidFill>
                        </a:defRPr>
                      </a:pPr>
                      <a:r>
                        <a:t>0.5225</a:t>
                      </a:r>
                    </a:p>
                  </a:txBody>
                  <a:tcPr>
                    <a:solidFill>
                      <a:srgbClr val="0F172A"/>
                    </a:solidFill>
                  </a:tcPr>
                </a:tc>
                <a:tc>
                  <a:txBody>
                    <a:bodyPr/>
                    <a:lstStyle/>
                    <a:p>
                      <a:pPr algn="ctr">
                        <a:defRPr sz="1100">
                          <a:solidFill>
                            <a:srgbClr val="CBD5E1"/>
                          </a:solidFill>
                        </a:defRPr>
                      </a:pPr>
                      <a:r>
                        <a:t>0.486</a:t>
                      </a:r>
                    </a:p>
                  </a:txBody>
                  <a:tcPr>
                    <a:solidFill>
                      <a:srgbClr val="0F172A"/>
                    </a:solidFill>
                  </a:tcPr>
                </a:tc>
                <a:tc>
                  <a:txBody>
                    <a:bodyPr/>
                    <a:lstStyle/>
                    <a:p>
                      <a:pPr algn="ctr">
                        <a:defRPr sz="1100">
                          <a:solidFill>
                            <a:srgbClr val="CBD5E1"/>
                          </a:solidFill>
                        </a:defRPr>
                      </a:pPr>
                      <a:r>
                        <a:t>0.611</a:t>
                      </a:r>
                    </a:p>
                  </a:txBody>
                  <a:tcPr>
                    <a:solidFill>
                      <a:srgbClr val="0F172A"/>
                    </a:solidFill>
                  </a:tcPr>
                </a:tc>
                <a:tc>
                  <a:txBody>
                    <a:bodyPr/>
                    <a:lstStyle/>
                    <a:p>
                      <a:pPr algn="ctr">
                        <a:defRPr sz="1100">
                          <a:solidFill>
                            <a:srgbClr val="F43F5E"/>
                          </a:solidFill>
                        </a:defRPr>
                      </a:pPr>
                      <a:r>
                        <a:t>0.100</a:t>
                      </a:r>
                    </a:p>
                  </a:txBody>
                  <a:tcPr>
                    <a:solidFill>
                      <a:srgbClr val="0F172A"/>
                    </a:solidFill>
                  </a:tcPr>
                </a:tc>
                <a:tc>
                  <a:txBody>
                    <a:bodyPr/>
                    <a:lstStyle/>
                    <a:p>
                      <a:pPr algn="ctr">
                        <a:defRPr sz="1100">
                          <a:solidFill>
                            <a:srgbClr val="CBD5E1"/>
                          </a:solidFill>
                        </a:defRPr>
                      </a:pPr>
                      <a:r>
                        <a:t>0.737</a:t>
                      </a:r>
                    </a:p>
                  </a:txBody>
                  <a:tcPr>
                    <a:solidFill>
                      <a:srgbClr val="0F172A"/>
                    </a:solidFill>
                  </a:tcPr>
                </a:tc>
                <a:tc>
                  <a:txBody>
                    <a:bodyPr/>
                    <a:lstStyle/>
                    <a:p>
                      <a:pPr algn="ctr">
                        <a:defRPr sz="1100">
                          <a:solidFill>
                            <a:srgbClr val="CBD5E1"/>
                          </a:solidFill>
                        </a:defRPr>
                      </a:pPr>
                      <a:r>
                        <a:t>0.538</a:t>
                      </a:r>
                    </a:p>
                  </a:txBody>
                  <a:tcPr>
                    <a:solidFill>
                      <a:srgbClr val="0F172A"/>
                    </a:solidFill>
                  </a:tcPr>
                </a:tc>
                <a:tc>
                  <a:txBody>
                    <a:bodyPr/>
                    <a:lstStyle/>
                    <a:p>
                      <a:pPr algn="ctr">
                        <a:defRPr sz="1100">
                          <a:solidFill>
                            <a:srgbClr val="CBD5E1"/>
                          </a:solidFill>
                        </a:defRPr>
                      </a:pPr>
                      <a:r>
                        <a:t>0.557</a:t>
                      </a:r>
                    </a:p>
                  </a:txBody>
                  <a:tcPr>
                    <a:solidFill>
                      <a:srgbClr val="0F172A"/>
                    </a:solidFill>
                  </a:tcPr>
                </a:tc>
                <a:tc>
                  <a:txBody>
                    <a:bodyPr/>
                    <a:lstStyle/>
                    <a:p>
                      <a:pPr algn="ctr">
                        <a:defRPr sz="1100">
                          <a:solidFill>
                            <a:srgbClr val="CBD5E1"/>
                          </a:solidFill>
                        </a:defRPr>
                      </a:pPr>
                      <a:r>
                        <a:t>0.473</a:t>
                      </a:r>
                    </a:p>
                  </a:txBody>
                  <a:tcPr>
                    <a:solidFill>
                      <a:srgbClr val="0F172A"/>
                    </a:solidFill>
                  </a:tcPr>
                </a:tc>
              </a:tr>
            </a:tbl>
          </a:graphicData>
        </a:graphic>
      </p:graphicFrame>
      <p:sp>
        <p:nvSpPr>
          <p:cNvPr id="6" name="Rounded Rectangle 5"/>
          <p:cNvSpPr/>
          <p:nvPr/>
        </p:nvSpPr>
        <p:spPr>
          <a:xfrm>
            <a:off x="731520" y="4462272"/>
            <a:ext cx="3328416" cy="16916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599432"/>
            <a:ext cx="2962656" cy="1417320"/>
          </a:xfrm>
          <a:prstGeom prst="rect">
            <a:avLst/>
          </a:prstGeom>
          <a:noFill/>
        </p:spPr>
        <p:txBody>
          <a:bodyPr wrap="square" lIns="0" tIns="0" rIns="0" bIns="0">
            <a:spAutoFit/>
          </a:bodyPr>
          <a:lstStyle/>
          <a:p>
            <a:pPr>
              <a:defRPr sz="1350" b="1">
                <a:solidFill>
                  <a:srgbClr val="14B8A6"/>
                </a:solidFill>
              </a:defRPr>
            </a:pPr>
            <a:r>
              <a:t>1. Diversity Beats Scale</a:t>
            </a:r>
          </a:p>
          <a:p>
            <a:pPr>
              <a:spcBef>
                <a:spcPts val="400"/>
              </a:spcBef>
              <a:defRPr sz="1150">
                <a:solidFill>
                  <a:srgbClr val="CBD5E1"/>
                </a:solidFill>
              </a:defRPr>
            </a:pPr>
            <a:r>
              <a:t>Adding our weak LightGBM model (0.667 F1) boosted deep models by +0.016 F1 because it captures orthogonal spectral features rather than raw waveforms.</a:t>
            </a:r>
          </a:p>
        </p:txBody>
      </p:sp>
      <p:sp>
        <p:nvSpPr>
          <p:cNvPr id="8" name="Rounded Rectangle 7"/>
          <p:cNvSpPr/>
          <p:nvPr/>
        </p:nvSpPr>
        <p:spPr>
          <a:xfrm>
            <a:off x="4425696" y="4462272"/>
            <a:ext cx="3328416" cy="16916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08576" y="4599432"/>
            <a:ext cx="2962656" cy="1417320"/>
          </a:xfrm>
          <a:prstGeom prst="rect">
            <a:avLst/>
          </a:prstGeom>
          <a:noFill/>
        </p:spPr>
        <p:txBody>
          <a:bodyPr wrap="square" lIns="0" tIns="0" rIns="0" bIns="0">
            <a:spAutoFit/>
          </a:bodyPr>
          <a:lstStyle/>
          <a:p>
            <a:pPr>
              <a:defRPr sz="1350" b="1">
                <a:solidFill>
                  <a:srgbClr val="06B6D4"/>
                </a:solidFill>
              </a:defRPr>
            </a:pPr>
            <a:r>
              <a:t>2. Record Class Breakdown</a:t>
            </a:r>
          </a:p>
          <a:p>
            <a:pPr>
              <a:spcBef>
                <a:spcPts val="400"/>
              </a:spcBef>
              <a:defRPr sz="1150">
                <a:solidFill>
                  <a:srgbClr val="CBD5E1"/>
                </a:solidFill>
              </a:defRPr>
            </a:pPr>
            <a:r>
              <a:t>Winning ensemble sets benchmark records across all 4 key sleep stages: N1 (0.635), N2 (0.892), N3 (0.833), and REM (0.915).</a:t>
            </a:r>
          </a:p>
        </p:txBody>
      </p:sp>
      <p:sp>
        <p:nvSpPr>
          <p:cNvPr id="10" name="Rounded Rectangle 9"/>
          <p:cNvSpPr/>
          <p:nvPr/>
        </p:nvSpPr>
        <p:spPr>
          <a:xfrm>
            <a:off x="8119872" y="4462272"/>
            <a:ext cx="3328416" cy="16916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02752" y="4599432"/>
            <a:ext cx="2962656" cy="1417320"/>
          </a:xfrm>
          <a:prstGeom prst="rect">
            <a:avLst/>
          </a:prstGeom>
          <a:noFill/>
        </p:spPr>
        <p:txBody>
          <a:bodyPr wrap="square" lIns="0" tIns="0" rIns="0" bIns="0">
            <a:spAutoFit/>
          </a:bodyPr>
          <a:lstStyle/>
          <a:p>
            <a:pPr>
              <a:defRPr sz="1350" b="1">
                <a:solidFill>
                  <a:srgbClr val="F59E0B"/>
                </a:solidFill>
              </a:defRPr>
            </a:pPr>
            <a:r>
              <a:t>3. Viterbi Rejected</a:t>
            </a:r>
          </a:p>
          <a:p>
            <a:pPr>
              <a:spcBef>
                <a:spcPts val="400"/>
              </a:spcBef>
              <a:defRPr sz="1150">
                <a:solidFill>
                  <a:srgbClr val="CBD5E1"/>
                </a:solidFill>
              </a:defRPr>
            </a:pPr>
            <a:r>
              <a:t>Viterbi transition prior degraded performance (0.8267 → 0.8259) because AnySleep already has an intrinsic 14-minute temporal receptive field.</a:t>
            </a:r>
          </a:p>
        </p:txBody>
      </p:sp>
      <p:sp>
        <p:nvSpPr>
          <p:cNvPr id="12" name="TextBox 11"/>
          <p:cNvSpPr txBox="1"/>
          <p:nvPr/>
        </p:nvSpPr>
        <p:spPr>
          <a:xfrm>
            <a:off x="731520" y="6327648"/>
            <a:ext cx="10728655" cy="320040"/>
          </a:xfrm>
          <a:prstGeom prst="rect">
            <a:avLst/>
          </a:prstGeom>
          <a:noFill/>
        </p:spPr>
        <p:txBody>
          <a:bodyPr wrap="none" lIns="0" tIns="0" rIns="0" bIns="0">
            <a:spAutoFit/>
          </a:bodyPr>
          <a:lstStyle/>
          <a:p>
            <a:pPr>
              <a:defRPr sz="1050">
                <a:solidFill>
                  <a:srgbClr val="94A3B8"/>
                </a:solidFill>
              </a:defRPr>
            </a:pPr>
            <a:r>
              <a:t>Winning 4-member ensemble: Fold-honest OOF evaluation agreement across all 5 folds</a:t>
            </a:r>
          </a:p>
        </p:txBody>
      </p:sp>
      <p:sp>
        <p:nvSpPr>
          <p:cNvPr id="13" name="TextBox 12"/>
          <p:cNvSpPr txBox="1"/>
          <p:nvPr/>
        </p:nvSpPr>
        <p:spPr>
          <a:xfrm>
            <a:off x="6400800" y="6327648"/>
            <a:ext cx="5059375" cy="320040"/>
          </a:xfrm>
          <a:prstGeom prst="rect">
            <a:avLst/>
          </a:prstGeom>
          <a:noFill/>
        </p:spPr>
        <p:txBody>
          <a:bodyPr wrap="none" lIns="0" tIns="0" rIns="0" bIns="0">
            <a:spAutoFit/>
          </a:bodyPr>
          <a:lstStyle/>
          <a:p>
            <a:pPr algn="r">
              <a:defRPr sz="1050">
                <a:solidFill>
                  <a:srgbClr val="94A3B8"/>
                </a:solidFill>
              </a:defRPr>
            </a:pPr>
            <a:r>
              <a:t>Cohen's κ = 0.831 (Matches expert human consensus)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8229600" cy="1005840"/>
          </a:xfrm>
          <a:prstGeom prst="rect">
            <a:avLst/>
          </a:prstGeom>
          <a:noFill/>
        </p:spPr>
        <p:txBody>
          <a:bodyPr wrap="square" lIns="0" tIns="0" rIns="0" bIns="0">
            <a:spAutoFit/>
          </a:bodyPr>
          <a:lstStyle/>
          <a:p>
            <a:pPr>
              <a:defRPr sz="1100" b="1">
                <a:solidFill>
                  <a:srgbClr val="14B8A6"/>
                </a:solidFill>
              </a:defRPr>
            </a:pPr>
            <a:r>
              <a:t>SSC ENGINEERING INSIGHTS</a:t>
            </a:r>
          </a:p>
          <a:p>
            <a:pPr>
              <a:spcBef>
                <a:spcPts val="300"/>
              </a:spcBef>
              <a:defRPr sz="2500" b="1">
                <a:solidFill>
                  <a:srgbClr val="F8FAFC"/>
                </a:solidFill>
              </a:defRPr>
            </a:pPr>
            <a:r>
              <a:t>Sensor Ablation &amp; Explainable AI (XAI)</a:t>
            </a:r>
          </a:p>
          <a:p>
            <a:pPr>
              <a:spcBef>
                <a:spcPts val="200"/>
              </a:spcBef>
              <a:defRPr sz="1300">
                <a:solidFill>
                  <a:srgbClr val="06B6D4"/>
                </a:solidFill>
              </a:defRPr>
            </a:pPr>
            <a:r>
              <a:t>Finding the minimal wearable configuration and auditing deep network attention</a:t>
            </a:r>
          </a:p>
        </p:txBody>
      </p:sp>
      <p:sp>
        <p:nvSpPr>
          <p:cNvPr id="4" name="Rounded Rectangle 3"/>
          <p:cNvSpPr/>
          <p:nvPr/>
        </p:nvSpPr>
        <p:spPr>
          <a:xfrm>
            <a:off x="9144000" y="365760"/>
            <a:ext cx="2316175" cy="438912"/>
          </a:xfrm>
          <a:prstGeom prst="roundRect">
            <a:avLst/>
          </a:prstGeom>
          <a:solidFill>
            <a:srgbClr val="082F49"/>
          </a:solidFill>
          <a:ln w="127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06B6D4"/>
                </a:solidFill>
              </a:defRPr>
            </a:pPr>
            <a:r>
              <a:t>2:25 – 3:15 | 50s</a:t>
            </a:r>
          </a:p>
        </p:txBody>
      </p:sp>
      <p:sp>
        <p:nvSpPr>
          <p:cNvPr id="5" name="Rounded Rectangle 4"/>
          <p:cNvSpPr/>
          <p:nvPr/>
        </p:nvSpPr>
        <p:spPr>
          <a:xfrm>
            <a:off x="731520" y="1463040"/>
            <a:ext cx="516636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45920"/>
            <a:ext cx="4709160" cy="4297680"/>
          </a:xfrm>
          <a:prstGeom prst="rect">
            <a:avLst/>
          </a:prstGeom>
          <a:noFill/>
        </p:spPr>
        <p:txBody>
          <a:bodyPr wrap="square" lIns="0" tIns="0" rIns="0" bIns="0">
            <a:spAutoFit/>
          </a:bodyPr>
          <a:lstStyle/>
          <a:p>
            <a:pPr>
              <a:defRPr sz="1700" b="1">
                <a:solidFill>
                  <a:srgbClr val="14B8A6"/>
                </a:solidFill>
              </a:defRPr>
            </a:pPr>
            <a:r>
              <a:t>🔌 Channel Ablation: Minimal Hardware Montage</a:t>
            </a:r>
          </a:p>
          <a:p>
            <a:pPr>
              <a:spcBef>
                <a:spcPts val="800"/>
              </a:spcBef>
              <a:defRPr sz="1300">
                <a:solidFill>
                  <a:srgbClr val="F8FAFC"/>
                </a:solidFill>
              </a:defRPr>
            </a:pPr>
            <a:r>
              <a:t>Full 3-Channel (Fpz-Cz + Pz-Oz + EOG)  ──▶  0.8267 F1 (Ref)</a:t>
            </a:r>
          </a:p>
          <a:p>
            <a:pPr>
              <a:spcBef>
                <a:spcPts val="800"/>
              </a:spcBef>
              <a:defRPr sz="1300" b="1">
                <a:solidFill>
                  <a:srgbClr val="06B6D4"/>
                </a:solidFill>
              </a:defRPr>
            </a:pPr>
            <a:r>
              <a:t>★ 2-Sensor Setup (Fpz-Cz + EOG)  ──▶  0.8227 F1 (-0.004 Δ)</a:t>
            </a:r>
          </a:p>
          <a:p>
            <a:pPr>
              <a:spcBef>
                <a:spcPts val="800"/>
              </a:spcBef>
              <a:defRPr sz="1300">
                <a:solidFill>
                  <a:srgbClr val="CBD5E1"/>
                </a:solidFill>
              </a:defRPr>
            </a:pPr>
            <a:r>
              <a:t>Dual EEG (Fpz-Cz + Pz-Oz, no EOG)  ──▶  0.8134 F1 (-0.013 Δ)</a:t>
            </a:r>
          </a:p>
          <a:p>
            <a:pPr>
              <a:spcBef>
                <a:spcPts val="800"/>
              </a:spcBef>
              <a:defRPr sz="1300">
                <a:solidFill>
                  <a:srgbClr val="CBD5E1"/>
                </a:solidFill>
              </a:defRPr>
            </a:pPr>
            <a:r>
              <a:t>Single Frontal EEG (Fpz-Cz Only)  ──▶  0.8015 F1 (-0.025 Δ)</a:t>
            </a:r>
          </a:p>
          <a:p>
            <a:pPr>
              <a:spcBef>
                <a:spcPts val="800"/>
              </a:spcBef>
              <a:defRPr sz="1300">
                <a:solidFill>
                  <a:srgbClr val="CBD5E1"/>
                </a:solidFill>
              </a:defRPr>
            </a:pPr>
            <a:r>
              <a:t>Single Occipital EEG (Pz-Oz Only)  ──▶  0.7736 F1 (-0.053 Δ)</a:t>
            </a:r>
          </a:p>
          <a:p>
            <a:pPr>
              <a:spcBef>
                <a:spcPts val="1400"/>
              </a:spcBef>
              <a:defRPr sz="1200">
                <a:solidFill>
                  <a:srgbClr val="CBD5E1"/>
                </a:solidFill>
              </a:defRPr>
            </a:pPr>
            <a:r>
              <a:t>Clinical Finding: Posterior EEG (Pz-Oz) is droppable. Adding EOG to frontal EEG captures ocular dipole saccades directly, boosting true REM recall to 0.913 (vs 0.897 on full 3-channel).</a:t>
            </a:r>
          </a:p>
        </p:txBody>
      </p:sp>
      <p:sp>
        <p:nvSpPr>
          <p:cNvPr id="7" name="Rounded Rectangle 6"/>
          <p:cNvSpPr/>
          <p:nvPr/>
        </p:nvSpPr>
        <p:spPr>
          <a:xfrm>
            <a:off x="6263640" y="1463040"/>
            <a:ext cx="5193792"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645920"/>
            <a:ext cx="4736592" cy="4297680"/>
          </a:xfrm>
          <a:prstGeom prst="rect">
            <a:avLst/>
          </a:prstGeom>
          <a:noFill/>
        </p:spPr>
        <p:txBody>
          <a:bodyPr wrap="square" lIns="0" tIns="0" rIns="0" bIns="0">
            <a:spAutoFit/>
          </a:bodyPr>
          <a:lstStyle/>
          <a:p>
            <a:pPr>
              <a:defRPr sz="1700" b="1">
                <a:solidFill>
                  <a:srgbClr val="06B6D4"/>
                </a:solidFill>
              </a:defRPr>
            </a:pPr>
            <a:r>
              <a:t>🔍 Attention Routing &amp; Uncertainty Calibration</a:t>
            </a:r>
          </a:p>
          <a:p>
            <a:pPr>
              <a:spcBef>
                <a:spcPts val="1200"/>
              </a:spcBef>
              <a:defRPr sz="1400" b="1">
                <a:solidFill>
                  <a:srgbClr val="F8FAFC"/>
                </a:solidFill>
              </a:defRPr>
            </a:pPr>
            <a:r>
              <a:t>Layer 12 Skip-Connection Channel Attention Routing:</a:t>
            </a:r>
          </a:p>
          <a:p>
            <a:pPr>
              <a:spcBef>
                <a:spcPts val="600"/>
              </a:spcBef>
              <a:defRPr sz="1300">
                <a:solidFill>
                  <a:srgbClr val="CBD5E1"/>
                </a:solidFill>
              </a:defRPr>
            </a:pPr>
            <a:r>
              <a:t>• WAKE: 67.2% Pz Attention (Occipital alpha rhythm tracking)</a:t>
            </a:r>
          </a:p>
          <a:p>
            <a:pPr>
              <a:spcBef>
                <a:spcPts val="600"/>
              </a:spcBef>
              <a:defRPr sz="1300">
                <a:solidFill>
                  <a:srgbClr val="CBD5E1"/>
                </a:solidFill>
              </a:defRPr>
            </a:pPr>
            <a:r>
              <a:t>• N3 DEEP: 93.0% EEG Attention (Slow-wave cortical sync, eyes quiet &lt;7.1%)</a:t>
            </a:r>
          </a:p>
          <a:p>
            <a:pPr>
              <a:spcBef>
                <a:spcPts val="600"/>
              </a:spcBef>
              <a:defRPr sz="1300">
                <a:solidFill>
                  <a:srgbClr val="CBD5E1"/>
                </a:solidFill>
              </a:defRPr>
            </a:pPr>
            <a:r>
              <a:t>• REM SLEEP: 52.0% EOG Attention (Saccadic burst tracking during atonia)</a:t>
            </a:r>
          </a:p>
          <a:p>
            <a:pPr>
              <a:spcBef>
                <a:spcPts val="1400"/>
              </a:spcBef>
              <a:defRPr sz="1400" b="1">
                <a:solidFill>
                  <a:srgbClr val="F8FAFC"/>
                </a:solidFill>
              </a:defRPr>
            </a:pPr>
            <a:r>
              <a:t>Monotonic Confidence Calibration (ECE = 0.029):</a:t>
            </a:r>
          </a:p>
          <a:p>
            <a:pPr>
              <a:spcBef>
                <a:spcPts val="600"/>
              </a:spcBef>
              <a:defRPr sz="1300">
                <a:solidFill>
                  <a:srgbClr val="CBD5E1"/>
                </a:solidFill>
              </a:defRPr>
            </a:pPr>
            <a:r>
              <a:t>• Conf ≥ 0.90 (30.3% of night): 99.5% empirical accuracy.</a:t>
            </a:r>
            <a:br/>
            <a:r>
              <a:t>• Conf &lt; 0.60 (~15% of night): Flagged with needs_review = true.</a:t>
            </a:r>
            <a:br/>
            <a:r>
              <a:t>• Doctor-in-the-Loop: Clinicians inspect only uncertain epochs.</a:t>
            </a:r>
          </a:p>
        </p:txBody>
      </p:sp>
      <p:sp>
        <p:nvSpPr>
          <p:cNvPr id="9" name="TextBox 8"/>
          <p:cNvSpPr txBox="1"/>
          <p:nvPr/>
        </p:nvSpPr>
        <p:spPr>
          <a:xfrm>
            <a:off x="731520" y="6327648"/>
            <a:ext cx="10728655" cy="320040"/>
          </a:xfrm>
          <a:prstGeom prst="rect">
            <a:avLst/>
          </a:prstGeom>
          <a:noFill/>
        </p:spPr>
        <p:txBody>
          <a:bodyPr wrap="none" lIns="0" tIns="0" rIns="0" bIns="0">
            <a:spAutoFit/>
          </a:bodyPr>
          <a:lstStyle/>
          <a:p>
            <a:pPr>
              <a:defRPr sz="1050">
                <a:solidFill>
                  <a:srgbClr val="94A3B8"/>
                </a:solidFill>
              </a:defRPr>
            </a:pPr>
            <a:r>
              <a:t>Hardware Target: 2-Sensor Wearable Headband (Fpz-Cz + EOG)</a:t>
            </a:r>
          </a:p>
        </p:txBody>
      </p:sp>
      <p:sp>
        <p:nvSpPr>
          <p:cNvPr id="10" name="TextBox 9"/>
          <p:cNvSpPr txBox="1"/>
          <p:nvPr/>
        </p:nvSpPr>
        <p:spPr>
          <a:xfrm>
            <a:off x="6400800" y="6327648"/>
            <a:ext cx="5059375" cy="320040"/>
          </a:xfrm>
          <a:prstGeom prst="rect">
            <a:avLst/>
          </a:prstGeom>
          <a:noFill/>
        </p:spPr>
        <p:txBody>
          <a:bodyPr wrap="none" lIns="0" tIns="0" rIns="0" bIns="0">
            <a:spAutoFit/>
          </a:bodyPr>
          <a:lstStyle/>
          <a:p>
            <a:pPr algn="r">
              <a:defRPr sz="1050">
                <a:solidFill>
                  <a:srgbClr val="94A3B8"/>
                </a:solidFill>
              </a:defRPr>
            </a:pPr>
            <a:r>
              <a:t>Expected Calibration Error (ECE) = 0.029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8229600" cy="1005840"/>
          </a:xfrm>
          <a:prstGeom prst="rect">
            <a:avLst/>
          </a:prstGeom>
          <a:noFill/>
        </p:spPr>
        <p:txBody>
          <a:bodyPr wrap="square" lIns="0" tIns="0" rIns="0" bIns="0">
            <a:spAutoFit/>
          </a:bodyPr>
          <a:lstStyle/>
          <a:p>
            <a:pPr>
              <a:defRPr sz="1100" b="1">
                <a:solidFill>
                  <a:srgbClr val="14B8A6"/>
                </a:solidFill>
              </a:defRPr>
            </a:pPr>
            <a:r>
              <a:t>TIER 2 AI MODEL</a:t>
            </a:r>
          </a:p>
          <a:p>
            <a:pPr>
              <a:spcBef>
                <a:spcPts val="300"/>
              </a:spcBef>
              <a:defRPr sz="2500" b="1">
                <a:solidFill>
                  <a:srgbClr val="F8FAFC"/>
                </a:solidFill>
              </a:defRPr>
            </a:pPr>
            <a:r>
              <a:t>Continuous Sleep Depth (SDI) &amp; 96-Feature Engine</a:t>
            </a:r>
          </a:p>
          <a:p>
            <a:pPr>
              <a:spcBef>
                <a:spcPts val="200"/>
              </a:spcBef>
              <a:defRPr sz="1300">
                <a:solidFill>
                  <a:srgbClr val="06B6D4"/>
                </a:solidFill>
              </a:defRPr>
            </a:pPr>
            <a:r>
              <a:t>Transcending 5 discrete steps into continuous neurobiological synchronization</a:t>
            </a:r>
          </a:p>
        </p:txBody>
      </p:sp>
      <p:sp>
        <p:nvSpPr>
          <p:cNvPr id="4" name="Rounded Rectangle 3"/>
          <p:cNvSpPr/>
          <p:nvPr/>
        </p:nvSpPr>
        <p:spPr>
          <a:xfrm>
            <a:off x="9144000" y="365760"/>
            <a:ext cx="2316175" cy="438912"/>
          </a:xfrm>
          <a:prstGeom prst="roundRect">
            <a:avLst/>
          </a:prstGeom>
          <a:solidFill>
            <a:srgbClr val="082F49"/>
          </a:solidFill>
          <a:ln w="127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06B6D4"/>
                </a:solidFill>
              </a:defRPr>
            </a:pPr>
            <a:r>
              <a:t>3:15 – 4:05 | 50s</a:t>
            </a:r>
          </a:p>
        </p:txBody>
      </p:sp>
      <p:sp>
        <p:nvSpPr>
          <p:cNvPr id="5" name="Rounded Rectangle 4"/>
          <p:cNvSpPr/>
          <p:nvPr/>
        </p:nvSpPr>
        <p:spPr>
          <a:xfrm>
            <a:off x="731520" y="1463040"/>
            <a:ext cx="10728655" cy="2148840"/>
          </a:xfrm>
          <a:prstGeom prst="roundRect">
            <a:avLst/>
          </a:prstGeom>
          <a:solidFill>
            <a:srgbClr val="1E293B"/>
          </a:solidFill>
          <a:ln w="254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00200"/>
            <a:ext cx="10271455" cy="1874519"/>
          </a:xfrm>
          <a:prstGeom prst="rect">
            <a:avLst/>
          </a:prstGeom>
          <a:noFill/>
        </p:spPr>
        <p:txBody>
          <a:bodyPr wrap="square" lIns="0" tIns="0" rIns="0" bIns="0">
            <a:spAutoFit/>
          </a:bodyPr>
          <a:lstStyle/>
          <a:p>
            <a:pPr>
              <a:defRPr sz="1700" b="1">
                <a:solidFill>
                  <a:srgbClr val="06B6D4"/>
                </a:solidFill>
              </a:defRPr>
            </a:pPr>
            <a:r>
              <a:t>SDI Transformer Network (Zhou et al., npj Digital Medicine 2025)</a:t>
            </a:r>
          </a:p>
          <a:p>
            <a:pPr>
              <a:spcBef>
                <a:spcPts val="600"/>
              </a:spcBef>
              <a:defRPr sz="1300">
                <a:solidFill>
                  <a:srgbClr val="F8FAFC"/>
                </a:solidFill>
              </a:defRPr>
            </a:pPr>
            <a:r>
              <a:t>Computes a continuous Sleep Depth Index (0.0 = Light/Wake to 1.0 = Deep SWA Sink) per 30-s epoch. Unlike discrete AASM staging, SDI quantifies gradual micro-arousals, sleep debt dissipation, and cyclic alternating patterns (CAP).</a:t>
            </a:r>
          </a:p>
          <a:p>
            <a:pPr>
              <a:spcBef>
                <a:spcPts val="800"/>
              </a:spcBef>
              <a:defRPr sz="1200" b="1">
                <a:solidFill>
                  <a:srgbClr val="14B8A6"/>
                </a:solidFill>
              </a:defRPr>
            </a:pPr>
            <a:r>
              <a:t>Standardized Research Vector:  [RB: SDI &lt; 0.20 Shallow Burden]  •  [AP: Mean Sleep Depth]  •  [CV: Instability SD/Mean]  •  [MDR: Mean REM Depth]  •  [PR: Model REM Share]</a:t>
            </a:r>
          </a:p>
        </p:txBody>
      </p:sp>
      <p:sp>
        <p:nvSpPr>
          <p:cNvPr id="7" name="Rounded Rectangle 6"/>
          <p:cNvSpPr/>
          <p:nvPr/>
        </p:nvSpPr>
        <p:spPr>
          <a:xfrm>
            <a:off x="731520" y="3749039"/>
            <a:ext cx="10728655" cy="24231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3886200"/>
            <a:ext cx="10271455" cy="2148840"/>
          </a:xfrm>
          <a:prstGeom prst="rect">
            <a:avLst/>
          </a:prstGeom>
          <a:noFill/>
        </p:spPr>
        <p:txBody>
          <a:bodyPr wrap="square" lIns="0" tIns="0" rIns="0" bIns="0">
            <a:spAutoFit/>
          </a:bodyPr>
          <a:lstStyle/>
          <a:p>
            <a:pPr>
              <a:defRPr sz="1700" b="1">
                <a:solidFill>
                  <a:srgbClr val="14B8A6"/>
                </a:solidFill>
              </a:defRPr>
            </a:pPr>
            <a:r>
              <a:t>📈 96-Parameter Physiological Extraction Engine</a:t>
            </a:r>
          </a:p>
        </p:txBody>
      </p:sp>
      <p:sp>
        <p:nvSpPr>
          <p:cNvPr id="9" name="TextBox 8"/>
          <p:cNvSpPr txBox="1"/>
          <p:nvPr/>
        </p:nvSpPr>
        <p:spPr>
          <a:xfrm>
            <a:off x="960120" y="4251960"/>
            <a:ext cx="2468880" cy="1783080"/>
          </a:xfrm>
          <a:prstGeom prst="rect">
            <a:avLst/>
          </a:prstGeom>
          <a:noFill/>
        </p:spPr>
        <p:txBody>
          <a:bodyPr wrap="square" lIns="0" tIns="0" rIns="0" bIns="0">
            <a:spAutoFit/>
          </a:bodyPr>
          <a:lstStyle/>
          <a:p>
            <a:pPr>
              <a:defRPr sz="1300" b="1">
                <a:solidFill>
                  <a:srgbClr val="F8FAFC"/>
                </a:solidFill>
              </a:defRPr>
            </a:pPr>
            <a:r>
              <a:t>Continuity &amp; Fragmentation</a:t>
            </a:r>
          </a:p>
          <a:p>
            <a:pPr>
              <a:spcBef>
                <a:spcPts val="400"/>
              </a:spcBef>
              <a:defRPr sz="1150">
                <a:solidFill>
                  <a:srgbClr val="CBD5E1"/>
                </a:solidFill>
              </a:defRPr>
            </a:pPr>
            <a:r>
              <a:t>• Total Sleep Time, TIB, SE%</a:t>
            </a:r>
            <a:br/>
            <a:r>
              <a:t>• SOL, WASO, REM Latency</a:t>
            </a:r>
            <a:br/>
            <a:r>
              <a:t>• Awakening Index</a:t>
            </a:r>
            <a:br/>
            <a:r>
              <a:t>• Sleep Fragmentation Index</a:t>
            </a:r>
          </a:p>
        </p:txBody>
      </p:sp>
      <p:sp>
        <p:nvSpPr>
          <p:cNvPr id="10" name="TextBox 9"/>
          <p:cNvSpPr txBox="1"/>
          <p:nvPr/>
        </p:nvSpPr>
        <p:spPr>
          <a:xfrm>
            <a:off x="3566160" y="4251960"/>
            <a:ext cx="2468880" cy="1783080"/>
          </a:xfrm>
          <a:prstGeom prst="rect">
            <a:avLst/>
          </a:prstGeom>
          <a:noFill/>
        </p:spPr>
        <p:txBody>
          <a:bodyPr wrap="square" lIns="0" tIns="0" rIns="0" bIns="0">
            <a:spAutoFit/>
          </a:bodyPr>
          <a:lstStyle/>
          <a:p>
            <a:pPr>
              <a:defRPr sz="1300" b="1">
                <a:solidFill>
                  <a:srgbClr val="F8FAFC"/>
                </a:solidFill>
              </a:defRPr>
            </a:pPr>
            <a:r>
              <a:t>Architecture &amp; Dynamics</a:t>
            </a:r>
          </a:p>
          <a:p>
            <a:pPr>
              <a:spcBef>
                <a:spcPts val="400"/>
              </a:spcBef>
              <a:defRPr sz="1150">
                <a:solidFill>
                  <a:srgbClr val="CBD5E1"/>
                </a:solidFill>
              </a:defRPr>
            </a:pPr>
            <a:r>
              <a:t>• % N1, N2, N3, REM of TST</a:t>
            </a:r>
            <a:br/>
            <a:r>
              <a:t>• 1st vs 2nd half stage shifts</a:t>
            </a:r>
            <a:br/>
            <a:r>
              <a:t>• Bout duration statistics</a:t>
            </a:r>
            <a:br/>
            <a:r>
              <a:t>• 5x5 Markov Transition Matrix</a:t>
            </a:r>
          </a:p>
        </p:txBody>
      </p:sp>
      <p:sp>
        <p:nvSpPr>
          <p:cNvPr id="11" name="TextBox 10"/>
          <p:cNvSpPr txBox="1"/>
          <p:nvPr/>
        </p:nvSpPr>
        <p:spPr>
          <a:xfrm>
            <a:off x="6172200" y="4251960"/>
            <a:ext cx="2468880" cy="1783080"/>
          </a:xfrm>
          <a:prstGeom prst="rect">
            <a:avLst/>
          </a:prstGeom>
          <a:noFill/>
        </p:spPr>
        <p:txBody>
          <a:bodyPr wrap="square" lIns="0" tIns="0" rIns="0" bIns="0">
            <a:spAutoFit/>
          </a:bodyPr>
          <a:lstStyle/>
          <a:p>
            <a:pPr>
              <a:defRPr sz="1300" b="1">
                <a:solidFill>
                  <a:srgbClr val="F8FAFC"/>
                </a:solidFill>
              </a:defRPr>
            </a:pPr>
            <a:r>
              <a:t>Spectral Power Dynamics</a:t>
            </a:r>
          </a:p>
          <a:p>
            <a:pPr>
              <a:spcBef>
                <a:spcPts val="400"/>
              </a:spcBef>
              <a:defRPr sz="1150">
                <a:solidFill>
                  <a:srgbClr val="CBD5E1"/>
                </a:solidFill>
              </a:defRPr>
            </a:pPr>
            <a:r>
              <a:t>• Welch Powers (δ, θ, α, σ, β)</a:t>
            </a:r>
            <a:br/>
            <a:r>
              <a:t>• Slow Wave Activity (SWA)</a:t>
            </a:r>
            <a:br/>
            <a:r>
              <a:t>• Spectral Entropy</a:t>
            </a:r>
            <a:br/>
            <a:r>
              <a:t>• Permutation Entropy</a:t>
            </a:r>
          </a:p>
        </p:txBody>
      </p:sp>
      <p:sp>
        <p:nvSpPr>
          <p:cNvPr id="12" name="TextBox 11"/>
          <p:cNvSpPr txBox="1"/>
          <p:nvPr/>
        </p:nvSpPr>
        <p:spPr>
          <a:xfrm>
            <a:off x="8778240" y="4251960"/>
            <a:ext cx="2468880" cy="1783080"/>
          </a:xfrm>
          <a:prstGeom prst="rect">
            <a:avLst/>
          </a:prstGeom>
          <a:noFill/>
        </p:spPr>
        <p:txBody>
          <a:bodyPr wrap="square" lIns="0" tIns="0" rIns="0" bIns="0">
            <a:spAutoFit/>
          </a:bodyPr>
          <a:lstStyle/>
          <a:p>
            <a:pPr>
              <a:defRPr sz="1300" b="1">
                <a:solidFill>
                  <a:srgbClr val="F8FAFC"/>
                </a:solidFill>
              </a:defRPr>
            </a:pPr>
            <a:r>
              <a:t>Microstructure &amp; Muscle</a:t>
            </a:r>
          </a:p>
          <a:p>
            <a:pPr>
              <a:spcBef>
                <a:spcPts val="400"/>
              </a:spcBef>
              <a:defRPr sz="1150">
                <a:solidFill>
                  <a:srgbClr val="CBD5E1"/>
                </a:solidFill>
              </a:defRPr>
            </a:pPr>
            <a:r>
              <a:t>• YASA Spindle Density (N2)</a:t>
            </a:r>
            <a:br/>
            <a:r>
              <a:t>• Slow Wave Amplitude &amp; Dur</a:t>
            </a:r>
            <a:br/>
            <a:r>
              <a:t>• Submental EMG RMS</a:t>
            </a:r>
            <a:br/>
            <a:r>
              <a:t>• REM Muscle Atonia Ratio</a:t>
            </a:r>
          </a:p>
        </p:txBody>
      </p:sp>
      <p:sp>
        <p:nvSpPr>
          <p:cNvPr id="13" name="TextBox 12"/>
          <p:cNvSpPr txBox="1"/>
          <p:nvPr/>
        </p:nvSpPr>
        <p:spPr>
          <a:xfrm>
            <a:off x="731520" y="6327648"/>
            <a:ext cx="10728655" cy="320040"/>
          </a:xfrm>
          <a:prstGeom prst="rect">
            <a:avLst/>
          </a:prstGeom>
          <a:noFill/>
        </p:spPr>
        <p:txBody>
          <a:bodyPr wrap="none" lIns="0" tIns="0" rIns="0" bIns="0">
            <a:spAutoFit/>
          </a:bodyPr>
          <a:lstStyle/>
          <a:p>
            <a:pPr>
              <a:defRPr sz="1050">
                <a:solidFill>
                  <a:srgbClr val="94A3B8"/>
                </a:solidFill>
              </a:defRPr>
            </a:pPr>
            <a:r>
              <a:t>Dual Perspective: Discrete 30s macro hypnogram + Continuous microstructural depth</a:t>
            </a:r>
          </a:p>
        </p:txBody>
      </p:sp>
      <p:sp>
        <p:nvSpPr>
          <p:cNvPr id="14" name="TextBox 13"/>
          <p:cNvSpPr txBox="1"/>
          <p:nvPr/>
        </p:nvSpPr>
        <p:spPr>
          <a:xfrm>
            <a:off x="6400800" y="6327648"/>
            <a:ext cx="5059375" cy="320040"/>
          </a:xfrm>
          <a:prstGeom prst="rect">
            <a:avLst/>
          </a:prstGeom>
          <a:noFill/>
        </p:spPr>
        <p:txBody>
          <a:bodyPr wrap="none" lIns="0" tIns="0" rIns="0" bIns="0">
            <a:spAutoFit/>
          </a:bodyPr>
          <a:lstStyle/>
          <a:p>
            <a:pPr algn="r">
              <a:defRPr sz="1050">
                <a:solidFill>
                  <a:srgbClr val="94A3B8"/>
                </a:solidFill>
              </a:defRPr>
            </a:pPr>
            <a:r>
              <a:t>Output: 96 clinical parameters per night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8229600" cy="1005840"/>
          </a:xfrm>
          <a:prstGeom prst="rect">
            <a:avLst/>
          </a:prstGeom>
          <a:noFill/>
        </p:spPr>
        <p:txBody>
          <a:bodyPr wrap="square" lIns="0" tIns="0" rIns="0" bIns="0">
            <a:spAutoFit/>
          </a:bodyPr>
          <a:lstStyle/>
          <a:p>
            <a:pPr>
              <a:defRPr sz="1100" b="1">
                <a:solidFill>
                  <a:srgbClr val="14B8A6"/>
                </a:solidFill>
              </a:defRPr>
            </a:pPr>
            <a:r>
              <a:t>CLINICAL INTELLIGENCE</a:t>
            </a:r>
          </a:p>
          <a:p>
            <a:pPr>
              <a:spcBef>
                <a:spcPts val="300"/>
              </a:spcBef>
              <a:defRPr sz="2500" b="1">
                <a:solidFill>
                  <a:srgbClr val="F8FAFC"/>
                </a:solidFill>
              </a:defRPr>
            </a:pPr>
            <a:r>
              <a:t>Sleep Quality Index &amp; Multi-Modal Scoring</a:t>
            </a:r>
          </a:p>
          <a:p>
            <a:pPr>
              <a:spcBef>
                <a:spcPts val="200"/>
              </a:spcBef>
              <a:defRPr sz="1300">
                <a:solidFill>
                  <a:srgbClr val="06B6D4"/>
                </a:solidFill>
              </a:defRPr>
            </a:pPr>
            <a:r>
              <a:t>Synthesizing 96 physiological parameters, continuous depth, and patient perception</a:t>
            </a:r>
          </a:p>
        </p:txBody>
      </p:sp>
      <p:sp>
        <p:nvSpPr>
          <p:cNvPr id="4" name="Rounded Rectangle 3"/>
          <p:cNvSpPr/>
          <p:nvPr/>
        </p:nvSpPr>
        <p:spPr>
          <a:xfrm>
            <a:off x="9144000" y="365760"/>
            <a:ext cx="2316175" cy="438912"/>
          </a:xfrm>
          <a:prstGeom prst="roundRect">
            <a:avLst/>
          </a:prstGeom>
          <a:solidFill>
            <a:srgbClr val="082F49"/>
          </a:solidFill>
          <a:ln w="127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06B6D4"/>
                </a:solidFill>
              </a:defRPr>
            </a:pPr>
            <a:r>
              <a:t>4:05 – 4:55 | 50s</a:t>
            </a:r>
          </a:p>
        </p:txBody>
      </p:sp>
      <p:sp>
        <p:nvSpPr>
          <p:cNvPr id="5" name="Rounded Rectangle 4"/>
          <p:cNvSpPr/>
          <p:nvPr/>
        </p:nvSpPr>
        <p:spPr>
          <a:xfrm>
            <a:off x="731520" y="1463040"/>
            <a:ext cx="548640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45920"/>
            <a:ext cx="5029200" cy="4297680"/>
          </a:xfrm>
          <a:prstGeom prst="rect">
            <a:avLst/>
          </a:prstGeom>
          <a:noFill/>
        </p:spPr>
        <p:txBody>
          <a:bodyPr wrap="square" lIns="0" tIns="0" rIns="0" bIns="0">
            <a:spAutoFit/>
          </a:bodyPr>
          <a:lstStyle/>
          <a:p>
            <a:pPr>
              <a:defRPr sz="1700" b="1">
                <a:solidFill>
                  <a:srgbClr val="14B8A6"/>
                </a:solidFill>
              </a:defRPr>
            </a:pPr>
            <a:r>
              <a:t>🎯 SleepLens Unified Sleep Score (0–100)</a:t>
            </a:r>
          </a:p>
          <a:p>
            <a:pPr>
              <a:spcBef>
                <a:spcPts val="400"/>
              </a:spcBef>
              <a:defRPr sz="1300">
                <a:solidFill>
                  <a:srgbClr val="F8FAFC"/>
                </a:solidFill>
              </a:defRPr>
            </a:pPr>
            <a:r>
              <a:t>A transparent, non-black-box 100-point composite formula:</a:t>
            </a:r>
          </a:p>
          <a:p>
            <a:pPr>
              <a:spcBef>
                <a:spcPts val="500"/>
              </a:spcBef>
              <a:defRPr sz="1200">
                <a:solidFill>
                  <a:srgbClr val="CBD5E1"/>
                </a:solidFill>
              </a:defRPr>
            </a:pPr>
            <a:r>
              <a:t>• Sleep Efficiency (SE%): Max 25 pts  (TST / Time in Bed)</a:t>
            </a:r>
          </a:p>
          <a:p>
            <a:pPr>
              <a:spcBef>
                <a:spcPts val="500"/>
              </a:spcBef>
              <a:defRPr sz="1200">
                <a:solidFill>
                  <a:srgbClr val="CBD5E1"/>
                </a:solidFill>
              </a:defRPr>
            </a:pPr>
            <a:r>
              <a:t>• Continuous Sleep Depth: Max 25 pts  (Mean SDI slow-wave saturation)</a:t>
            </a:r>
          </a:p>
          <a:p>
            <a:pPr>
              <a:spcBef>
                <a:spcPts val="500"/>
              </a:spcBef>
              <a:defRPr sz="1200">
                <a:solidFill>
                  <a:srgbClr val="CBD5E1"/>
                </a:solidFill>
              </a:defRPr>
            </a:pPr>
            <a:r>
              <a:t>• Sleep Continuity: Max 20 pts  (Shift index &amp; awakenings penalty)</a:t>
            </a:r>
          </a:p>
          <a:p>
            <a:pPr>
              <a:spcBef>
                <a:spcPts val="500"/>
              </a:spcBef>
              <a:defRPr sz="1200">
                <a:solidFill>
                  <a:srgbClr val="CBD5E1"/>
                </a:solidFill>
              </a:defRPr>
            </a:pPr>
            <a:r>
              <a:t>• Deep Sleep Share (N3%): Max 10 pts  (Physical restoration)</a:t>
            </a:r>
          </a:p>
          <a:p>
            <a:pPr>
              <a:spcBef>
                <a:spcPts val="500"/>
              </a:spcBef>
              <a:defRPr sz="1200">
                <a:solidFill>
                  <a:srgbClr val="CBD5E1"/>
                </a:solidFill>
              </a:defRPr>
            </a:pPr>
            <a:r>
              <a:t>• REM Sleep Share (REM%): Max 10 pts  (Cognitive restoration)</a:t>
            </a:r>
          </a:p>
          <a:p>
            <a:pPr>
              <a:spcBef>
                <a:spcPts val="500"/>
              </a:spcBef>
              <a:defRPr sz="1200">
                <a:solidFill>
                  <a:srgbClr val="CBD5E1"/>
                </a:solidFill>
              </a:defRPr>
            </a:pPr>
            <a:r>
              <a:t>• Sleep Onset Latency (SOL): Max 5 pts  (&lt;30 min target)</a:t>
            </a:r>
          </a:p>
          <a:p>
            <a:pPr>
              <a:spcBef>
                <a:spcPts val="500"/>
              </a:spcBef>
              <a:defRPr sz="1200">
                <a:solidFill>
                  <a:srgbClr val="CBD5E1"/>
                </a:solidFill>
              </a:defRPr>
            </a:pPr>
            <a:r>
              <a:t>• Fragmentation Resistance: Max 5 pts  (Shallow SDI &lt;0.20 burden)</a:t>
            </a:r>
          </a:p>
          <a:p>
            <a:pPr>
              <a:spcBef>
                <a:spcPts val="1000"/>
              </a:spcBef>
              <a:defRPr sz="1200" b="1">
                <a:solidFill>
                  <a:srgbClr val="06B6D4"/>
                </a:solidFill>
              </a:defRPr>
            </a:pPr>
            <a:r>
              <a:t>Clinical Grading:  ≥85: Excellent  |  70–84: Good  |  55–69: Fair  |  &lt;55: Poor</a:t>
            </a:r>
          </a:p>
        </p:txBody>
      </p:sp>
      <p:sp>
        <p:nvSpPr>
          <p:cNvPr id="7" name="Rounded Rectangle 6"/>
          <p:cNvSpPr/>
          <p:nvPr/>
        </p:nvSpPr>
        <p:spPr>
          <a:xfrm>
            <a:off x="6400800" y="1463040"/>
            <a:ext cx="5059375"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29400" y="1645920"/>
            <a:ext cx="4602175" cy="4297680"/>
          </a:xfrm>
          <a:prstGeom prst="rect">
            <a:avLst/>
          </a:prstGeom>
          <a:noFill/>
        </p:spPr>
        <p:txBody>
          <a:bodyPr wrap="square" lIns="0" tIns="0" rIns="0" bIns="0">
            <a:spAutoFit/>
          </a:bodyPr>
          <a:lstStyle/>
          <a:p>
            <a:pPr>
              <a:defRPr sz="1700" b="1">
                <a:solidFill>
                  <a:srgbClr val="06B6D4"/>
                </a:solidFill>
              </a:defRPr>
            </a:pPr>
            <a:r>
              <a:t>🩺 Subjective-Objective Synthesis (PSQI)</a:t>
            </a:r>
          </a:p>
          <a:p>
            <a:pPr>
              <a:spcBef>
                <a:spcPts val="1200"/>
              </a:spcBef>
              <a:defRPr sz="1400" b="1">
                <a:solidFill>
                  <a:srgbClr val="F8FAFC"/>
                </a:solidFill>
              </a:defRPr>
            </a:pPr>
            <a:r>
              <a:t>Standardized PSQI Integration (0–21 Global):</a:t>
            </a:r>
          </a:p>
          <a:p>
            <a:pPr>
              <a:spcBef>
                <a:spcPts val="400"/>
              </a:spcBef>
              <a:defRPr sz="1250">
                <a:solidFill>
                  <a:srgbClr val="CBD5E1"/>
                </a:solidFill>
              </a:defRPr>
            </a:pPr>
            <a:r>
              <a:t>Includes all 7 clinical component domains (latency, duration, efficiency, disturbances, meds, daytime dysfunction). Directly compares patient perception against objective EEG signals.</a:t>
            </a:r>
          </a:p>
          <a:p>
            <a:pPr>
              <a:spcBef>
                <a:spcPts val="1400"/>
              </a:spcBef>
              <a:defRPr sz="1400" b="1">
                <a:solidFill>
                  <a:srgbClr val="F59E0B"/>
                </a:solidFill>
              </a:defRPr>
            </a:pPr>
            <a:r>
              <a:t>Sleep State Misperception Detection:</a:t>
            </a:r>
          </a:p>
          <a:p>
            <a:pPr>
              <a:spcBef>
                <a:spcPts val="400"/>
              </a:spcBef>
              <a:defRPr sz="1250">
                <a:solidFill>
                  <a:srgbClr val="CBD5E1"/>
                </a:solidFill>
              </a:defRPr>
            </a:pPr>
            <a:r>
              <a:t>Identifies paradoxical insomnia: high subjective distress (PSQI &gt; 12) despite objectively normal sleep architecture (SE &gt; 85%, deep N3 intact).</a:t>
            </a:r>
          </a:p>
          <a:p>
            <a:pPr>
              <a:spcBef>
                <a:spcPts val="1400"/>
              </a:spcBef>
              <a:defRPr sz="1400" b="1">
                <a:solidFill>
                  <a:srgbClr val="10B981"/>
                </a:solidFill>
              </a:defRPr>
            </a:pPr>
            <a:r>
              <a:t>Automated Clinical Narrative Synthesis:</a:t>
            </a:r>
          </a:p>
          <a:p>
            <a:pPr>
              <a:spcBef>
                <a:spcPts val="400"/>
              </a:spcBef>
              <a:defRPr sz="1250">
                <a:solidFill>
                  <a:srgbClr val="CBD5E1"/>
                </a:solidFill>
              </a:defRPr>
            </a:pPr>
            <a:r>
              <a:t>LLM generator (gpt-6-luna) formats 96 metrics, continuous depth, and PSQI into structured clinical findings ready for physician sign-off.</a:t>
            </a:r>
          </a:p>
        </p:txBody>
      </p:sp>
      <p:sp>
        <p:nvSpPr>
          <p:cNvPr id="9" name="TextBox 8"/>
          <p:cNvSpPr txBox="1"/>
          <p:nvPr/>
        </p:nvSpPr>
        <p:spPr>
          <a:xfrm>
            <a:off x="731520" y="6327648"/>
            <a:ext cx="10728655" cy="320040"/>
          </a:xfrm>
          <a:prstGeom prst="rect">
            <a:avLst/>
          </a:prstGeom>
          <a:noFill/>
        </p:spPr>
        <p:txBody>
          <a:bodyPr wrap="none" lIns="0" tIns="0" rIns="0" bIns="0">
            <a:spAutoFit/>
          </a:bodyPr>
          <a:lstStyle/>
          <a:p>
            <a:pPr>
              <a:defRPr sz="1050">
                <a:solidFill>
                  <a:srgbClr val="94A3B8"/>
                </a:solidFill>
              </a:defRPr>
            </a:pPr>
            <a:r>
              <a:t>Clinical Utility: Converts 96 engineering parameters into intuitive patient scoring</a:t>
            </a:r>
          </a:p>
        </p:txBody>
      </p:sp>
      <p:sp>
        <p:nvSpPr>
          <p:cNvPr id="10" name="TextBox 9"/>
          <p:cNvSpPr txBox="1"/>
          <p:nvPr/>
        </p:nvSpPr>
        <p:spPr>
          <a:xfrm>
            <a:off x="6400800" y="6327648"/>
            <a:ext cx="5059375" cy="320040"/>
          </a:xfrm>
          <a:prstGeom prst="rect">
            <a:avLst/>
          </a:prstGeom>
          <a:noFill/>
        </p:spPr>
        <p:txBody>
          <a:bodyPr wrap="none" lIns="0" tIns="0" rIns="0" bIns="0">
            <a:spAutoFit/>
          </a:bodyPr>
          <a:lstStyle/>
          <a:p>
            <a:pPr algn="r">
              <a:defRPr sz="1050">
                <a:solidFill>
                  <a:srgbClr val="94A3B8"/>
                </a:solidFill>
              </a:defRPr>
            </a:pPr>
            <a:r>
              <a:t>Transparent, non-black-box composition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8229600" cy="1005840"/>
          </a:xfrm>
          <a:prstGeom prst="rect">
            <a:avLst/>
          </a:prstGeom>
          <a:noFill/>
        </p:spPr>
        <p:txBody>
          <a:bodyPr wrap="square" lIns="0" tIns="0" rIns="0" bIns="0">
            <a:spAutoFit/>
          </a:bodyPr>
          <a:lstStyle/>
          <a:p>
            <a:pPr>
              <a:defRPr sz="1100" b="1">
                <a:solidFill>
                  <a:srgbClr val="14B8A6"/>
                </a:solidFill>
              </a:defRPr>
            </a:pPr>
            <a:r>
              <a:t>SYSTEM DESIGN</a:t>
            </a:r>
          </a:p>
          <a:p>
            <a:pPr>
              <a:spcBef>
                <a:spcPts val="300"/>
              </a:spcBef>
              <a:defRPr sz="2500" b="1">
                <a:solidFill>
                  <a:srgbClr val="F8FAFC"/>
                </a:solidFill>
              </a:defRPr>
            </a:pPr>
            <a:r>
              <a:t>End-to-End System Architecture &amp; Data Flow</a:t>
            </a:r>
          </a:p>
          <a:p>
            <a:pPr>
              <a:spcBef>
                <a:spcPts val="200"/>
              </a:spcBef>
              <a:defRPr sz="1300">
                <a:solidFill>
                  <a:srgbClr val="06B6D4"/>
                </a:solidFill>
              </a:defRPr>
            </a:pPr>
            <a:r>
              <a:t>Scalable decoupled asynchronous processing pipeline from raw EDF to diagnostic report</a:t>
            </a:r>
          </a:p>
        </p:txBody>
      </p:sp>
      <p:sp>
        <p:nvSpPr>
          <p:cNvPr id="4" name="Rounded Rectangle 3"/>
          <p:cNvSpPr/>
          <p:nvPr/>
        </p:nvSpPr>
        <p:spPr>
          <a:xfrm>
            <a:off x="9144000" y="365760"/>
            <a:ext cx="2316175" cy="438912"/>
          </a:xfrm>
          <a:prstGeom prst="roundRect">
            <a:avLst/>
          </a:prstGeom>
          <a:solidFill>
            <a:srgbClr val="082F49"/>
          </a:solidFill>
          <a:ln w="127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06B6D4"/>
                </a:solidFill>
              </a:defRPr>
            </a:pPr>
            <a:r>
              <a:t>4:55 – 5:45 | 50s</a:t>
            </a:r>
          </a:p>
        </p:txBody>
      </p:sp>
      <p:sp>
        <p:nvSpPr>
          <p:cNvPr id="5" name="Rounded Rectangle 4"/>
          <p:cNvSpPr/>
          <p:nvPr/>
        </p:nvSpPr>
        <p:spPr>
          <a:xfrm>
            <a:off x="731520" y="1463040"/>
            <a:ext cx="2499055" cy="2834640"/>
          </a:xfrm>
          <a:prstGeom prst="roundRect">
            <a:avLst/>
          </a:prstGeom>
          <a:solidFill>
            <a:srgbClr val="1E293B"/>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45920"/>
            <a:ext cx="2224735" cy="2468880"/>
          </a:xfrm>
          <a:prstGeom prst="rect">
            <a:avLst/>
          </a:prstGeom>
          <a:noFill/>
        </p:spPr>
        <p:txBody>
          <a:bodyPr wrap="square" lIns="0" tIns="0" rIns="0" bIns="0">
            <a:spAutoFit/>
          </a:bodyPr>
          <a:lstStyle/>
          <a:p>
            <a:pPr>
              <a:defRPr sz="1350" b="1">
                <a:solidFill>
                  <a:srgbClr val="14B8A6"/>
                </a:solidFill>
              </a:defRPr>
            </a:pPr>
            <a:r>
              <a:t>01 • UPLOAD &amp; AUTH</a:t>
            </a:r>
          </a:p>
          <a:p>
            <a:pPr>
              <a:spcBef>
                <a:spcPts val="800"/>
              </a:spcBef>
              <a:defRPr sz="1200">
                <a:solidFill>
                  <a:srgbClr val="F8FAFC"/>
                </a:solidFill>
              </a:defRPr>
            </a:pPr>
            <a:r>
              <a:t>• Drag &amp; drop EDF (≤500 MB)</a:t>
            </a:r>
            <a:br/>
            <a:r>
              <a:t>• Optional 7-part PSQI form</a:t>
            </a:r>
            <a:br/>
            <a:r>
              <a:t>• Patient metadata linkage</a:t>
            </a:r>
            <a:br/>
            <a:r>
              <a:t>• JWT httpOnly security</a:t>
            </a:r>
          </a:p>
        </p:txBody>
      </p:sp>
      <p:sp>
        <p:nvSpPr>
          <p:cNvPr id="7" name="Rounded Rectangle 6"/>
          <p:cNvSpPr/>
          <p:nvPr/>
        </p:nvSpPr>
        <p:spPr>
          <a:xfrm>
            <a:off x="3474720" y="1463040"/>
            <a:ext cx="2499055" cy="2834640"/>
          </a:xfrm>
          <a:prstGeom prst="roundRect">
            <a:avLst/>
          </a:prstGeom>
          <a:solidFill>
            <a:srgbClr val="1E293B"/>
          </a:solidFill>
          <a:ln w="254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11880" y="1645920"/>
            <a:ext cx="2224735" cy="2468880"/>
          </a:xfrm>
          <a:prstGeom prst="rect">
            <a:avLst/>
          </a:prstGeom>
          <a:noFill/>
        </p:spPr>
        <p:txBody>
          <a:bodyPr wrap="square" lIns="0" tIns="0" rIns="0" bIns="0">
            <a:spAutoFit/>
          </a:bodyPr>
          <a:lstStyle/>
          <a:p>
            <a:pPr>
              <a:defRPr sz="1350" b="1">
                <a:solidFill>
                  <a:srgbClr val="06B6D4"/>
                </a:solidFill>
              </a:defRPr>
            </a:pPr>
            <a:r>
              <a:t>02 • SIGNAL PIPELINE</a:t>
            </a:r>
          </a:p>
          <a:p>
            <a:pPr>
              <a:spcBef>
                <a:spcPts val="800"/>
              </a:spcBef>
              <a:defRPr sz="1200">
                <a:solidFill>
                  <a:srgbClr val="F8FAFC"/>
                </a:solidFill>
              </a:defRPr>
            </a:pPr>
            <a:r>
              <a:t>• Canonical 100 Hz resample</a:t>
            </a:r>
            <a:br/>
            <a:r>
              <a:t>• Lights-off windowing</a:t>
            </a:r>
            <a:br/>
            <a:r>
              <a:t>• Channel QC &amp; alignment</a:t>
            </a:r>
            <a:br/>
            <a:r>
              <a:t>• Celery async worker queue</a:t>
            </a:r>
          </a:p>
        </p:txBody>
      </p:sp>
      <p:sp>
        <p:nvSpPr>
          <p:cNvPr id="9" name="Rounded Rectangle 8"/>
          <p:cNvSpPr/>
          <p:nvPr/>
        </p:nvSpPr>
        <p:spPr>
          <a:xfrm>
            <a:off x="6217920" y="1463040"/>
            <a:ext cx="2499055" cy="2834640"/>
          </a:xfrm>
          <a:prstGeom prst="roundRect">
            <a:avLst/>
          </a:prstGeom>
          <a:solidFill>
            <a:srgbClr val="1E293B"/>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645920"/>
            <a:ext cx="2224735" cy="2468880"/>
          </a:xfrm>
          <a:prstGeom prst="rect">
            <a:avLst/>
          </a:prstGeom>
          <a:noFill/>
        </p:spPr>
        <p:txBody>
          <a:bodyPr wrap="square" lIns="0" tIns="0" rIns="0" bIns="0">
            <a:spAutoFit/>
          </a:bodyPr>
          <a:lstStyle/>
          <a:p>
            <a:pPr>
              <a:defRPr sz="1350" b="1">
                <a:solidFill>
                  <a:srgbClr val="38BDF8"/>
                </a:solidFill>
              </a:defRPr>
            </a:pPr>
            <a:r>
              <a:t>03 • DUAL AI ENGINES</a:t>
            </a:r>
          </a:p>
          <a:p>
            <a:pPr>
              <a:spcBef>
                <a:spcPts val="800"/>
              </a:spcBef>
              <a:defRPr sz="1200">
                <a:solidFill>
                  <a:srgbClr val="F8FAFC"/>
                </a:solidFill>
              </a:defRPr>
            </a:pPr>
            <a:r>
              <a:t>• Tier 1: 4-Model Ensemble</a:t>
            </a:r>
            <a:br/>
            <a:r>
              <a:t>  (Staging + Confidence)</a:t>
            </a:r>
            <a:br/>
            <a:r>
              <a:t>• Tier 2: SDI Transformer</a:t>
            </a:r>
            <a:br/>
            <a:r>
              <a:t>  (Continuous depth 0–1)</a:t>
            </a:r>
          </a:p>
        </p:txBody>
      </p:sp>
      <p:sp>
        <p:nvSpPr>
          <p:cNvPr id="11" name="Rounded Rectangle 10"/>
          <p:cNvSpPr/>
          <p:nvPr/>
        </p:nvSpPr>
        <p:spPr>
          <a:xfrm>
            <a:off x="8961120" y="1463040"/>
            <a:ext cx="2499055" cy="2834640"/>
          </a:xfrm>
          <a:prstGeom prst="roundRect">
            <a:avLst/>
          </a:prstGeom>
          <a:solidFill>
            <a:srgbClr val="1E293B"/>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98280" y="1645920"/>
            <a:ext cx="2224735" cy="2468880"/>
          </a:xfrm>
          <a:prstGeom prst="rect">
            <a:avLst/>
          </a:prstGeom>
          <a:noFill/>
        </p:spPr>
        <p:txBody>
          <a:bodyPr wrap="square" lIns="0" tIns="0" rIns="0" bIns="0">
            <a:spAutoFit/>
          </a:bodyPr>
          <a:lstStyle/>
          <a:p>
            <a:pPr>
              <a:defRPr sz="1350" b="1">
                <a:solidFill>
                  <a:srgbClr val="10B981"/>
                </a:solidFill>
              </a:defRPr>
            </a:pPr>
            <a:r>
              <a:t>04 • CLINICAL PLATFORM</a:t>
            </a:r>
          </a:p>
          <a:p>
            <a:pPr>
              <a:spcBef>
                <a:spcPts val="800"/>
              </a:spcBef>
              <a:defRPr sz="1200">
                <a:solidFill>
                  <a:srgbClr val="F8FAFC"/>
                </a:solidFill>
              </a:defRPr>
            </a:pPr>
            <a:r>
              <a:t>• SleepLens Score (0–100)</a:t>
            </a:r>
            <a:br/>
            <a:r>
              <a:t>• 96-parameter engine</a:t>
            </a:r>
            <a:br/>
            <a:r>
              <a:t>• Automated LLM report</a:t>
            </a:r>
            <a:br/>
            <a:r>
              <a:t>• OpenCode consultation chat</a:t>
            </a:r>
          </a:p>
        </p:txBody>
      </p:sp>
      <p:sp>
        <p:nvSpPr>
          <p:cNvPr id="13" name="Rounded Rectangle 12"/>
          <p:cNvSpPr/>
          <p:nvPr/>
        </p:nvSpPr>
        <p:spPr>
          <a:xfrm>
            <a:off x="731520" y="4480560"/>
            <a:ext cx="10728655" cy="16916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4617720"/>
            <a:ext cx="10271455" cy="1417320"/>
          </a:xfrm>
          <a:prstGeom prst="rect">
            <a:avLst/>
          </a:prstGeom>
          <a:noFill/>
        </p:spPr>
        <p:txBody>
          <a:bodyPr wrap="square" lIns="0" tIns="0" rIns="0" bIns="0">
            <a:spAutoFit/>
          </a:bodyPr>
          <a:lstStyle/>
          <a:p>
            <a:pPr>
              <a:defRPr sz="1500" b="1">
                <a:solidFill>
                  <a:srgbClr val="F8FAFC"/>
                </a:solidFill>
              </a:defRPr>
            </a:pPr>
            <a:r>
              <a:t>Production Technology Stack &amp; Data Contracts (Fully Containerized)</a:t>
            </a:r>
          </a:p>
          <a:p>
            <a:pPr>
              <a:spcBef>
                <a:spcPts val="600"/>
              </a:spcBef>
              <a:defRPr sz="1200">
                <a:solidFill>
                  <a:srgbClr val="CBD5E1"/>
                </a:solidFill>
              </a:defRPr>
            </a:pPr>
            <a:r>
              <a:t>• Frontend UI: Next.js 14 App Router, TypeScript, Tailwind CSS, Zustand, React Query.</a:t>
            </a:r>
            <a:br/>
            <a:r>
              <a:t>• Backend Core: Django REST Framework, PostgreSQL, Celery asynchronous workers, Redis broker.</a:t>
            </a:r>
            <a:br/>
            <a:r>
              <a:t>• Machine Learning: PyTorch, MNE-Python, LightGBM, YASA, SciPy signal processing.</a:t>
            </a:r>
            <a:br/>
            <a:r>
              <a:t>• Intelligence Layer: OpenAI API (gpt-6-luna) for diagnostic narrative; OpenCode local agent for consultation.</a:t>
            </a:r>
          </a:p>
        </p:txBody>
      </p:sp>
      <p:sp>
        <p:nvSpPr>
          <p:cNvPr id="15" name="TextBox 14"/>
          <p:cNvSpPr txBox="1"/>
          <p:nvPr/>
        </p:nvSpPr>
        <p:spPr>
          <a:xfrm>
            <a:off x="731520" y="6327648"/>
            <a:ext cx="10728655" cy="320040"/>
          </a:xfrm>
          <a:prstGeom prst="rect">
            <a:avLst/>
          </a:prstGeom>
          <a:noFill/>
        </p:spPr>
        <p:txBody>
          <a:bodyPr wrap="none" lIns="0" tIns="0" rIns="0" bIns="0">
            <a:spAutoFit/>
          </a:bodyPr>
          <a:lstStyle/>
          <a:p>
            <a:pPr>
              <a:defRPr sz="1050">
                <a:solidFill>
                  <a:srgbClr val="94A3B8"/>
                </a:solidFill>
              </a:defRPr>
            </a:pPr>
            <a:r>
              <a:t>Decoupled architecture: ML workers never block web tier API requests</a:t>
            </a:r>
          </a:p>
        </p:txBody>
      </p:sp>
      <p:sp>
        <p:nvSpPr>
          <p:cNvPr id="16" name="TextBox 15"/>
          <p:cNvSpPr txBox="1"/>
          <p:nvPr/>
        </p:nvSpPr>
        <p:spPr>
          <a:xfrm>
            <a:off x="6400800" y="6327648"/>
            <a:ext cx="5059375" cy="320040"/>
          </a:xfrm>
          <a:prstGeom prst="rect">
            <a:avLst/>
          </a:prstGeom>
          <a:noFill/>
        </p:spPr>
        <p:txBody>
          <a:bodyPr wrap="none" lIns="0" tIns="0" rIns="0" bIns="0">
            <a:spAutoFit/>
          </a:bodyPr>
          <a:lstStyle/>
          <a:p>
            <a:pPr algn="r">
              <a:defRPr sz="1050">
                <a:solidFill>
                  <a:srgbClr val="94A3B8"/>
                </a:solidFill>
              </a:defRPr>
            </a:pPr>
            <a:r>
              <a:t>Average end-to-end processing: &lt; 35 seconds on 8-core CPU</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8229600" cy="1005840"/>
          </a:xfrm>
          <a:prstGeom prst="rect">
            <a:avLst/>
          </a:prstGeom>
          <a:noFill/>
        </p:spPr>
        <p:txBody>
          <a:bodyPr wrap="square" lIns="0" tIns="0" rIns="0" bIns="0">
            <a:spAutoFit/>
          </a:bodyPr>
          <a:lstStyle/>
          <a:p>
            <a:pPr>
              <a:defRPr sz="1100" b="1">
                <a:solidFill>
                  <a:srgbClr val="14B8A6"/>
                </a:solidFill>
              </a:defRPr>
            </a:pPr>
            <a:r>
              <a:t>THE PRODUCT</a:t>
            </a:r>
          </a:p>
          <a:p>
            <a:pPr>
              <a:spcBef>
                <a:spcPts val="300"/>
              </a:spcBef>
              <a:defRPr sz="2500" b="1">
                <a:solidFill>
                  <a:srgbClr val="F8FAFC"/>
                </a:solidFill>
              </a:defRPr>
            </a:pPr>
            <a:r>
              <a:t>Clinical Web Application (SleepLens UI/UX)</a:t>
            </a:r>
          </a:p>
          <a:p>
            <a:pPr>
              <a:spcBef>
                <a:spcPts val="200"/>
              </a:spcBef>
              <a:defRPr sz="1300">
                <a:solidFill>
                  <a:srgbClr val="06B6D4"/>
                </a:solidFill>
              </a:defRPr>
            </a:pPr>
            <a:r>
              <a:t>Comprehensive diagnostic cockpit built specifically for sleep physicians and technologists</a:t>
            </a:r>
          </a:p>
        </p:txBody>
      </p:sp>
      <p:sp>
        <p:nvSpPr>
          <p:cNvPr id="4" name="Rounded Rectangle 3"/>
          <p:cNvSpPr/>
          <p:nvPr/>
        </p:nvSpPr>
        <p:spPr>
          <a:xfrm>
            <a:off x="9144000" y="365760"/>
            <a:ext cx="2316175" cy="438912"/>
          </a:xfrm>
          <a:prstGeom prst="roundRect">
            <a:avLst/>
          </a:prstGeom>
          <a:solidFill>
            <a:srgbClr val="082F49"/>
          </a:solidFill>
          <a:ln w="127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06B6D4"/>
                </a:solidFill>
              </a:defRPr>
            </a:pPr>
            <a:r>
              <a:t>5:45 – 6:30 | 45s</a:t>
            </a:r>
          </a:p>
        </p:txBody>
      </p:sp>
      <p:sp>
        <p:nvSpPr>
          <p:cNvPr id="5" name="Rounded Rectangle 4"/>
          <p:cNvSpPr/>
          <p:nvPr/>
        </p:nvSpPr>
        <p:spPr>
          <a:xfrm>
            <a:off x="731520" y="1463040"/>
            <a:ext cx="5193792" cy="2240280"/>
          </a:xfrm>
          <a:prstGeom prst="roundRect">
            <a:avLst/>
          </a:prstGeom>
          <a:solidFill>
            <a:srgbClr val="1E293B"/>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27632"/>
            <a:ext cx="4828032" cy="1920240"/>
          </a:xfrm>
          <a:prstGeom prst="rect">
            <a:avLst/>
          </a:prstGeom>
          <a:noFill/>
        </p:spPr>
        <p:txBody>
          <a:bodyPr wrap="square" lIns="0" tIns="0" rIns="0" bIns="0">
            <a:spAutoFit/>
          </a:bodyPr>
          <a:lstStyle/>
          <a:p>
            <a:pPr>
              <a:defRPr sz="1500" b="1">
                <a:solidFill>
                  <a:srgbClr val="14B8A6"/>
                </a:solidFill>
              </a:defRPr>
            </a:pPr>
            <a:r>
              <a:t>🎯 SleepLens ScoreCard &amp; Core KPIs</a:t>
            </a:r>
          </a:p>
          <a:p>
            <a:pPr>
              <a:spcBef>
                <a:spcPts val="800"/>
              </a:spcBef>
              <a:defRPr sz="1250">
                <a:solidFill>
                  <a:srgbClr val="F8FAFC"/>
                </a:solidFill>
              </a:defRPr>
            </a:pPr>
            <a:r>
              <a:t>• Unified Score Gauge (0–100) with 7-part breakdown.</a:t>
            </a:r>
            <a:br/>
            <a:r>
              <a:t>• Core KPIs: Total Sleep Time (412.5 min), Sleep Efficiency (88.4%), SOL (14.0 min), WASO (38.5 min), REM Latency (78.0 min), Staging Confidence (91.2%).</a:t>
            </a:r>
          </a:p>
        </p:txBody>
      </p:sp>
      <p:sp>
        <p:nvSpPr>
          <p:cNvPr id="7" name="Rounded Rectangle 6"/>
          <p:cNvSpPr/>
          <p:nvPr/>
        </p:nvSpPr>
        <p:spPr>
          <a:xfrm>
            <a:off x="6263640" y="1463040"/>
            <a:ext cx="5193792" cy="2240280"/>
          </a:xfrm>
          <a:prstGeom prst="roundRect">
            <a:avLst/>
          </a:prstGeom>
          <a:solidFill>
            <a:srgbClr val="1E293B"/>
          </a:solidFill>
          <a:ln w="254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627632"/>
            <a:ext cx="4828032" cy="1920240"/>
          </a:xfrm>
          <a:prstGeom prst="rect">
            <a:avLst/>
          </a:prstGeom>
          <a:noFill/>
        </p:spPr>
        <p:txBody>
          <a:bodyPr wrap="square" lIns="0" tIns="0" rIns="0" bIns="0">
            <a:spAutoFit/>
          </a:bodyPr>
          <a:lstStyle/>
          <a:p>
            <a:pPr>
              <a:defRPr sz="1500" b="1">
                <a:solidFill>
                  <a:srgbClr val="06B6D4"/>
                </a:solidFill>
              </a:defRPr>
            </a:pPr>
            <a:r>
              <a:t>📊 Interactive Hypnogram &amp; Confidence Bands</a:t>
            </a:r>
          </a:p>
          <a:p>
            <a:pPr>
              <a:spcBef>
                <a:spcPts val="800"/>
              </a:spcBef>
              <a:defRPr sz="1250">
                <a:solidFill>
                  <a:srgbClr val="F8FAFC"/>
                </a:solidFill>
              </a:defRPr>
            </a:pPr>
            <a:r>
              <a:t>• Synchronized 30-s stage timeline (Wake, REM, N1, N2, N3).</a:t>
            </a:r>
            <a:br/>
            <a:r>
              <a:t>• Confidence overlay: High (≥80%), Medium (≥60%), Low (&lt;60%).</a:t>
            </a:r>
            <a:br/>
            <a:r>
              <a:t>• One-click review flags for borderline epochs requiring human check.</a:t>
            </a:r>
          </a:p>
        </p:txBody>
      </p:sp>
      <p:sp>
        <p:nvSpPr>
          <p:cNvPr id="9" name="Rounded Rectangle 8"/>
          <p:cNvSpPr/>
          <p:nvPr/>
        </p:nvSpPr>
        <p:spPr>
          <a:xfrm>
            <a:off x="731520" y="3886200"/>
            <a:ext cx="5193792" cy="2240280"/>
          </a:xfrm>
          <a:prstGeom prst="roundRect">
            <a:avLst/>
          </a:prstGeom>
          <a:solidFill>
            <a:srgbClr val="1E293B"/>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050792"/>
            <a:ext cx="4828032" cy="1920240"/>
          </a:xfrm>
          <a:prstGeom prst="rect">
            <a:avLst/>
          </a:prstGeom>
          <a:noFill/>
        </p:spPr>
        <p:txBody>
          <a:bodyPr wrap="square" lIns="0" tIns="0" rIns="0" bIns="0">
            <a:spAutoFit/>
          </a:bodyPr>
          <a:lstStyle/>
          <a:p>
            <a:pPr>
              <a:defRPr sz="1500" b="1">
                <a:solidFill>
                  <a:srgbClr val="38BDF8"/>
                </a:solidFill>
              </a:defRPr>
            </a:pPr>
            <a:r>
              <a:t>📈 SDI Sleep Depth Curve &amp; Raw Signal Explorer</a:t>
            </a:r>
          </a:p>
          <a:p>
            <a:pPr>
              <a:spcBef>
                <a:spcPts val="800"/>
              </a:spcBef>
              <a:defRPr sz="1250">
                <a:solidFill>
                  <a:srgbClr val="F8FAFC"/>
                </a:solidFill>
              </a:defRPr>
            </a:pPr>
            <a:r>
              <a:t>• Continuous 0.0–1.0 Depth Waveform: Highlights cortical synchronization dips.</a:t>
            </a:r>
            <a:br/>
            <a:r>
              <a:t>• Signals Explorer: Zero-latency raw microvolt inspection for any 30-second epoch (Fpz-Cz, Pz-Oz, EOG, EMG).</a:t>
            </a:r>
          </a:p>
        </p:txBody>
      </p:sp>
      <p:sp>
        <p:nvSpPr>
          <p:cNvPr id="11" name="Rounded Rectangle 10"/>
          <p:cNvSpPr/>
          <p:nvPr/>
        </p:nvSpPr>
        <p:spPr>
          <a:xfrm>
            <a:off x="6263640" y="3886200"/>
            <a:ext cx="5193792" cy="2240280"/>
          </a:xfrm>
          <a:prstGeom prst="roundRect">
            <a:avLst/>
          </a:prstGeom>
          <a:solidFill>
            <a:srgbClr val="1E293B"/>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4050792"/>
            <a:ext cx="4828032" cy="1920240"/>
          </a:xfrm>
          <a:prstGeom prst="rect">
            <a:avLst/>
          </a:prstGeom>
          <a:noFill/>
        </p:spPr>
        <p:txBody>
          <a:bodyPr wrap="square" lIns="0" tIns="0" rIns="0" bIns="0">
            <a:spAutoFit/>
          </a:bodyPr>
          <a:lstStyle/>
          <a:p>
            <a:pPr>
              <a:defRPr sz="1500" b="1">
                <a:solidFill>
                  <a:srgbClr val="10B981"/>
                </a:solidFill>
              </a:defRPr>
            </a:pPr>
            <a:r>
              <a:t>💬 Automated AI Report &amp; Consultation Assistant</a:t>
            </a:r>
          </a:p>
          <a:p>
            <a:pPr>
              <a:spcBef>
                <a:spcPts val="800"/>
              </a:spcBef>
              <a:defRPr sz="1250">
                <a:solidFill>
                  <a:srgbClr val="F8FAFC"/>
                </a:solidFill>
              </a:defRPr>
            </a:pPr>
            <a:r>
              <a:t>• Clinical Narrative: LLM-generated report formatted in Markdown with clinician sign-off.</a:t>
            </a:r>
            <a:br/>
            <a:r>
              <a:t>• OpenCode Assistant: In-session interactive chat answering study-specific questions grounded in patient data.</a:t>
            </a:r>
          </a:p>
        </p:txBody>
      </p:sp>
      <p:sp>
        <p:nvSpPr>
          <p:cNvPr id="13" name="TextBox 12"/>
          <p:cNvSpPr txBox="1"/>
          <p:nvPr/>
        </p:nvSpPr>
        <p:spPr>
          <a:xfrm>
            <a:off x="731520" y="6327648"/>
            <a:ext cx="10728655" cy="320040"/>
          </a:xfrm>
          <a:prstGeom prst="rect">
            <a:avLst/>
          </a:prstGeom>
          <a:noFill/>
        </p:spPr>
        <p:txBody>
          <a:bodyPr wrap="none" lIns="0" tIns="0" rIns="0" bIns="0">
            <a:spAutoFit/>
          </a:bodyPr>
          <a:lstStyle/>
          <a:p>
            <a:pPr>
              <a:defRPr sz="1050">
                <a:solidFill>
                  <a:srgbClr val="94A3B8"/>
                </a:solidFill>
              </a:defRPr>
            </a:pPr>
            <a:r>
              <a:t>Responsive Next.js Frontend • Modern Slate &amp; Teal Medical Theme</a:t>
            </a:r>
          </a:p>
        </p:txBody>
      </p:sp>
      <p:sp>
        <p:nvSpPr>
          <p:cNvPr id="14" name="TextBox 13"/>
          <p:cNvSpPr txBox="1"/>
          <p:nvPr/>
        </p:nvSpPr>
        <p:spPr>
          <a:xfrm>
            <a:off x="6400800" y="6327648"/>
            <a:ext cx="5059375" cy="320040"/>
          </a:xfrm>
          <a:prstGeom prst="rect">
            <a:avLst/>
          </a:prstGeom>
          <a:noFill/>
        </p:spPr>
        <p:txBody>
          <a:bodyPr wrap="none" lIns="0" tIns="0" rIns="0" bIns="0">
            <a:spAutoFit/>
          </a:bodyPr>
          <a:lstStyle/>
          <a:p>
            <a:pPr algn="r">
              <a:defRPr sz="1050">
                <a:solidFill>
                  <a:srgbClr val="94A3B8"/>
                </a:solidFill>
              </a:defRPr>
            </a:pPr>
            <a:r>
              <a:t>Reduces clinician visual scoring time by &gt;85%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8229600" cy="1005840"/>
          </a:xfrm>
          <a:prstGeom prst="rect">
            <a:avLst/>
          </a:prstGeom>
          <a:noFill/>
        </p:spPr>
        <p:txBody>
          <a:bodyPr wrap="square" lIns="0" tIns="0" rIns="0" bIns="0">
            <a:spAutoFit/>
          </a:bodyPr>
          <a:lstStyle/>
          <a:p>
            <a:pPr>
              <a:defRPr sz="1100" b="1">
                <a:solidFill>
                  <a:srgbClr val="14B8A6"/>
                </a:solidFill>
              </a:defRPr>
            </a:pPr>
            <a:r>
              <a:t>CONCLUSION &amp; IMPACT</a:t>
            </a:r>
          </a:p>
          <a:p>
            <a:pPr>
              <a:spcBef>
                <a:spcPts val="300"/>
              </a:spcBef>
              <a:defRPr sz="2500" b="1">
                <a:solidFill>
                  <a:srgbClr val="F8FAFC"/>
                </a:solidFill>
              </a:defRPr>
            </a:pPr>
            <a:r>
              <a:t>Deployment Performance &amp; Future Roadmap</a:t>
            </a:r>
          </a:p>
          <a:p>
            <a:pPr>
              <a:spcBef>
                <a:spcPts val="200"/>
              </a:spcBef>
              <a:defRPr sz="1300">
                <a:solidFill>
                  <a:srgbClr val="06B6D4"/>
                </a:solidFill>
              </a:defRPr>
            </a:pPr>
            <a:r>
              <a:t>Real-world speed benchmarks, clinical impact, and wearable translation</a:t>
            </a:r>
          </a:p>
        </p:txBody>
      </p:sp>
      <p:sp>
        <p:nvSpPr>
          <p:cNvPr id="4" name="Rounded Rectangle 3"/>
          <p:cNvSpPr/>
          <p:nvPr/>
        </p:nvSpPr>
        <p:spPr>
          <a:xfrm>
            <a:off x="9144000" y="365760"/>
            <a:ext cx="2316175" cy="438912"/>
          </a:xfrm>
          <a:prstGeom prst="roundRect">
            <a:avLst/>
          </a:prstGeom>
          <a:solidFill>
            <a:srgbClr val="082F49"/>
          </a:solidFill>
          <a:ln w="127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06B6D4"/>
                </a:solidFill>
              </a:defRPr>
            </a:pPr>
            <a:r>
              <a:t>6:30 – 7:00 | 30s</a:t>
            </a:r>
          </a:p>
        </p:txBody>
      </p:sp>
      <p:sp>
        <p:nvSpPr>
          <p:cNvPr id="5" name="Rounded Rectangle 4"/>
          <p:cNvSpPr/>
          <p:nvPr/>
        </p:nvSpPr>
        <p:spPr>
          <a:xfrm>
            <a:off x="731520" y="1463040"/>
            <a:ext cx="516636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45920"/>
            <a:ext cx="4709160" cy="4297680"/>
          </a:xfrm>
          <a:prstGeom prst="rect">
            <a:avLst/>
          </a:prstGeom>
          <a:noFill/>
        </p:spPr>
        <p:txBody>
          <a:bodyPr wrap="square" lIns="0" tIns="0" rIns="0" bIns="0">
            <a:spAutoFit/>
          </a:bodyPr>
          <a:lstStyle/>
          <a:p>
            <a:pPr>
              <a:defRPr sz="1700" b="1">
                <a:solidFill>
                  <a:srgbClr val="14B8A6"/>
                </a:solidFill>
              </a:defRPr>
            </a:pPr>
            <a:r>
              <a:t>⚡ CPU Speed Benchmarks (8-Core CPU, No GPU)</a:t>
            </a:r>
          </a:p>
          <a:p>
            <a:pPr>
              <a:spcBef>
                <a:spcPts val="800"/>
              </a:spcBef>
              <a:defRPr sz="1300">
                <a:solidFill>
                  <a:srgbClr val="CBD5E1"/>
                </a:solidFill>
              </a:defRPr>
            </a:pPr>
            <a:r>
              <a:t>• Single Epoch Inference: 3.7–4.7 ms (×6,400 real-time)</a:t>
            </a:r>
          </a:p>
          <a:p>
            <a:pPr>
              <a:spcBef>
                <a:spcPts val="800"/>
              </a:spcBef>
              <a:defRPr sz="1300">
                <a:solidFill>
                  <a:srgbClr val="CBD5E1"/>
                </a:solidFill>
              </a:defRPr>
            </a:pPr>
            <a:r>
              <a:t>• Full 22-Hour Night PSG (2,650 ep): 12.5 seconds (Ensemble)</a:t>
            </a:r>
          </a:p>
          <a:p>
            <a:pPr>
              <a:spcBef>
                <a:spcPts val="800"/>
              </a:spcBef>
              <a:defRPr sz="1300">
                <a:solidFill>
                  <a:srgbClr val="CBD5E1"/>
                </a:solidFill>
              </a:defRPr>
            </a:pPr>
            <a:r>
              <a:t>• Continuous SDI Depth Inference: 8.2 seconds (Transformer)</a:t>
            </a:r>
          </a:p>
          <a:p>
            <a:pPr>
              <a:spcBef>
                <a:spcPts val="800"/>
              </a:spcBef>
              <a:defRPr sz="1300">
                <a:solidFill>
                  <a:srgbClr val="CBD5E1"/>
                </a:solidFill>
              </a:defRPr>
            </a:pPr>
            <a:r>
              <a:t>• 96-Parameter Extraction: 9.8 seconds (Welch+YASA)</a:t>
            </a:r>
          </a:p>
          <a:p>
            <a:pPr>
              <a:spcBef>
                <a:spcPts val="1600"/>
              </a:spcBef>
              <a:defRPr sz="1400" b="1">
                <a:solidFill>
                  <a:srgbClr val="10B981"/>
                </a:solidFill>
              </a:defRPr>
            </a:pPr>
            <a:r>
              <a:t>★ Total Pipeline Turnaround: &lt; 35 seconds per night!</a:t>
            </a:r>
          </a:p>
          <a:p>
            <a:pPr>
              <a:spcBef>
                <a:spcPts val="1000"/>
              </a:spcBef>
              <a:defRPr sz="1250">
                <a:solidFill>
                  <a:srgbClr val="F8FAFC"/>
                </a:solidFill>
              </a:defRPr>
            </a:pPr>
            <a:r>
              <a:t>Clinical Productivity Impact:</a:t>
            </a:r>
            <a:br/>
            <a:r>
              <a:t>Reduces manual physician visual scoring time by &gt;85% while delivering far deeper physiological insights and automated audit trails.</a:t>
            </a:r>
          </a:p>
        </p:txBody>
      </p:sp>
      <p:sp>
        <p:nvSpPr>
          <p:cNvPr id="7" name="Rounded Rectangle 6"/>
          <p:cNvSpPr/>
          <p:nvPr/>
        </p:nvSpPr>
        <p:spPr>
          <a:xfrm>
            <a:off x="6263640" y="1463040"/>
            <a:ext cx="5193792"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645920"/>
            <a:ext cx="4736592" cy="4297680"/>
          </a:xfrm>
          <a:prstGeom prst="rect">
            <a:avLst/>
          </a:prstGeom>
          <a:noFill/>
        </p:spPr>
        <p:txBody>
          <a:bodyPr wrap="square" lIns="0" tIns="0" rIns="0" bIns="0">
            <a:spAutoFit/>
          </a:bodyPr>
          <a:lstStyle/>
          <a:p>
            <a:pPr>
              <a:defRPr sz="1700" b="1">
                <a:solidFill>
                  <a:srgbClr val="06B6D4"/>
                </a:solidFill>
              </a:defRPr>
            </a:pPr>
            <a:r>
              <a:t>🚀 Translational Roadmap</a:t>
            </a:r>
          </a:p>
          <a:p>
            <a:pPr>
              <a:spcBef>
                <a:spcPts val="1400"/>
              </a:spcBef>
              <a:defRPr sz="1400" b="1">
                <a:solidFill>
                  <a:srgbClr val="F8FAFC"/>
                </a:solidFill>
              </a:defRPr>
            </a:pPr>
            <a:r>
              <a:t>1. Wearable Surrogate Translation</a:t>
            </a:r>
          </a:p>
          <a:p>
            <a:pPr>
              <a:spcBef>
                <a:spcPts val="400"/>
              </a:spcBef>
              <a:defRPr sz="1250">
                <a:solidFill>
                  <a:srgbClr val="CBD5E1"/>
                </a:solidFill>
              </a:defRPr>
            </a:pPr>
            <a:r>
              <a:t>Deploying our trained ResUNet and WatchSleepNet surrogate models for wrist-worn actigraphy and PPG without any EEG leads.</a:t>
            </a:r>
          </a:p>
          <a:p>
            <a:pPr>
              <a:spcBef>
                <a:spcPts val="1400"/>
              </a:spcBef>
              <a:defRPr sz="1400" b="1">
                <a:solidFill>
                  <a:srgbClr val="F8FAFC"/>
                </a:solidFill>
              </a:defRPr>
            </a:pPr>
            <a:r>
              <a:t>2. Formal Apnea &amp; Movement Scoring</a:t>
            </a:r>
          </a:p>
          <a:p>
            <a:pPr>
              <a:spcBef>
                <a:spcPts val="400"/>
              </a:spcBef>
              <a:defRPr sz="1250">
                <a:solidFill>
                  <a:srgbClr val="CBD5E1"/>
                </a:solidFill>
              </a:defRPr>
            </a:pPr>
            <a:r>
              <a:t>Upgrading our proxy detectors to formal clinical AASM Apnea-Hypopnea Index (AHI) and Periodic Limb Movement Disorder (PLMD) scoring.</a:t>
            </a:r>
          </a:p>
          <a:p>
            <a:pPr>
              <a:spcBef>
                <a:spcPts val="1400"/>
              </a:spcBef>
              <a:defRPr sz="1400" b="1">
                <a:solidFill>
                  <a:srgbClr val="F8FAFC"/>
                </a:solidFill>
              </a:defRPr>
            </a:pPr>
            <a:r>
              <a:t>3. Multi-Center Clinical Trials</a:t>
            </a:r>
          </a:p>
          <a:p>
            <a:pPr>
              <a:spcBef>
                <a:spcPts val="400"/>
              </a:spcBef>
              <a:defRPr sz="1250">
                <a:solidFill>
                  <a:srgbClr val="CBD5E1"/>
                </a:solidFill>
              </a:defRPr>
            </a:pPr>
            <a:r>
              <a:t>Validation across large sleep cohorts (Sleep Heart Health Study) and neurological disorder groups (Parkinsonian REM sleep behavior disorder).</a:t>
            </a:r>
          </a:p>
        </p:txBody>
      </p:sp>
      <p:sp>
        <p:nvSpPr>
          <p:cNvPr id="9" name="TextBox 8"/>
          <p:cNvSpPr txBox="1"/>
          <p:nvPr/>
        </p:nvSpPr>
        <p:spPr>
          <a:xfrm>
            <a:off x="731520" y="6327648"/>
            <a:ext cx="10728655" cy="320040"/>
          </a:xfrm>
          <a:prstGeom prst="rect">
            <a:avLst/>
          </a:prstGeom>
          <a:noFill/>
        </p:spPr>
        <p:txBody>
          <a:bodyPr wrap="none" lIns="0" tIns="0" rIns="0" bIns="0">
            <a:spAutoFit/>
          </a:bodyPr>
          <a:lstStyle/>
          <a:p>
            <a:pPr>
              <a:defRPr sz="1050">
                <a:solidFill>
                  <a:srgbClr val="94A3B8"/>
                </a:solidFill>
              </a:defRPr>
            </a:pPr>
            <a:r>
              <a:t>SleepLens: Delivering Clinical Precision with Real-Time Efficiency</a:t>
            </a:r>
          </a:p>
        </p:txBody>
      </p:sp>
      <p:sp>
        <p:nvSpPr>
          <p:cNvPr id="10" name="TextBox 9"/>
          <p:cNvSpPr txBox="1"/>
          <p:nvPr/>
        </p:nvSpPr>
        <p:spPr>
          <a:xfrm>
            <a:off x="6400800" y="6327648"/>
            <a:ext cx="5059375" cy="320040"/>
          </a:xfrm>
          <a:prstGeom prst="rect">
            <a:avLst/>
          </a:prstGeom>
          <a:noFill/>
        </p:spPr>
        <p:txBody>
          <a:bodyPr wrap="none" lIns="0" tIns="0" rIns="0" bIns="0">
            <a:spAutoFit/>
          </a:bodyPr>
          <a:lstStyle/>
          <a:p>
            <a:pPr algn="r">
              <a:defRPr sz="1050">
                <a:solidFill>
                  <a:srgbClr val="94A3B8"/>
                </a:solidFill>
              </a:defRPr>
            </a:pPr>
            <a:r>
              <a:t>Thank you! 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