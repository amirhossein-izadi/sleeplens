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زمان هدف: ۰:۰۰ تا ۰:۴۵ (۴۵ ثانیه)</a:t>
            </a:r>
          </a:p>
          <a:p>
            <a:r>
              <a:t>سلام و درود. امروز پروژه اسلیپ‌لنز (SleepLens) را خدمت شما معرفی می‌کنیم؛ یک پلتفرم جامع هوش مصنوعی برای ارزیابی بالینی خواب. در پزشکی خواب، ثبت پلی‌سومنوگرافی استاندارد طلایی است، اما تحلیل آن ساعت‌ها زمان می‌برد و پیچیدگی مغز را به ۵ استیج گسسته تقلیل می‌دهد. ما با معماری دومرحله‌ای این چالش را حل کردیم: مرحله اول یک انسمبل دقیق برای استیجینگ ۳۰ ثانیه‌ای با تخمین اطمینان است، و مرحله دوم یک شبکه ترنسفورمر عمق پیوسته خواب همراه با استخراج ۹۶ پارامتر بالینی است که در قالب یک وب‌سایت در اختیار پزشک قرار می‌گیرد.</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زمان هدف: ۰:۴۵ تا ۱:۳۰ (۴۵ ثانیه)</a:t>
            </a:r>
          </a:p>
          <a:p>
            <a:r>
              <a:t>برای اطمینان از اعتبار علمی، ما بنچ‌مارک کامل Sleep-EDF Expanded را با ۱۹۷ شب و ۲۳۸ هزار ایپاک به کار بردیم. برخلاف بسیاری از مقالات که دچار نشت سوژه بین فولدها هستند، ما فولدبندی کاملا سوژه‌محور انجام دادیم. هر دو کوهورت خانگی و کلینیکی به طور جداگانه تست شدند. تمامی سیگنال‌ها به ۱۰۰ هرتز استاندارد رسانده شدند و با پنجره‌بندی هوشمند، داده‌های غیرواقعی بیداری قبل از خواب حذف شدند.</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زمان هدف: ۱:۳۰ تا ۲:۲۵ (۵۵ ثانیه)</a:t>
            </a:r>
          </a:p>
          <a:p>
            <a:r>
              <a:t>برای دسته‌بندی استیج‌های خواب، ما ۲۵ پیکربندی مختلف را بنچ‌مارک کردیم. مدل‌های سنتی مثل YASA در استیج دشوار N1 تنها به دقت ۱۰ درصد می‌رسند. مدل‌های یادگیری عمیق مانند AnySleep عملکرد فوق‌العاده 0.8267 را ثبت کردند. اما سیستم نهایی ما، انسمبل E19 با ترکیب AnySleep و U-Sleep و مدل آماری LightGBM به رکورد F1 ماکرو 0.8425 و ضریب کاپای 0.831 رسید. جالب اینجاست که مدل آماری LightGBM به دلیل تفاوت در فضای ویژگی توانست خطاهای مدل‌های عمیق را به خوبی جبران کند.</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زمان هدف: ۲:۲۵ تا ۳:۱۵ (۵۰ ثانیه)</a:t>
            </a:r>
          </a:p>
          <a:p>
            <a:r>
              <a:t>دو سوال عملی مهم: آیا می‌توان این سیستم را با یک گجت پوشیدنی ساده اجرا کرد و آیا هوش مصنوعی ما قابل تفسیر است؟ نتایج تحلیل حذف سنسورها نشان داد با فقط ۲ سنسور—یک الکترود پیشانی و یک سنسور چشم—می‌توان به دقت 0.8227 رسید که فقط 0.004 با سیستم کامل فاصله دارد. همچنین لایه‌های توجه شبکه دقیقا رفتار پزشک را تقلید می‌کنند: در بیداری به ریتم آلفا در پشت سر نگاه می‌کنند و در خواب REM پنجاه و دو درصد توجه به سنسور چشم می‌رود. خروجی اطمینان مدل نیز به قدری دقیق کالیبره شده که ایپاک‌های با اطمینان بالای ۹۰ درصد، دقت ۹۹.۵ درصدی دارند.</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زمان هدف: ۳:۱۵ تا ۴:۰۵ (۵۰ ثانیه)</a:t>
            </a:r>
          </a:p>
          <a:p>
            <a:r>
              <a:t>در مدل مرحله دوم، ما از محدودیت هیپنوگرام ۵ مرحله‌ای عبور کردیم. ما شبکه ترنسفورمر SDI منتشر شده در ژورنال معتبر npj Digital Medicine 2025 را پیاده‌سازی کردیم. این مدل یک عدد پیوسته بین صفر و یک برای عمق خواب در هر ایپاک تولید می‌کند. همگام با این مدل، موتور استخراج فیزیولوژیک ما ۹۶ پارامتر بالینی را اندازه می‌گیرد: پیوستگی خواب، ماتریس گذار مارکوف بین مراحل، توان باندهای فرکانسی مغز، و نشانگرهای ریزساختاری مثل چگالی دوک‌های خواب و آتونی عضلانی در REM.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زمان هدف: ۴:۰۵ تا ۴:۵۵ (۵۰ ثانیه)</a:t>
            </a:r>
          </a:p>
          <a:p>
            <a:r>
              <a:t>برای تبدیل این حجم از متغیرها به یک گزارش قابل فهم، ما امتیاز جامع اسلیپ‌لنز را طراحی کردیم. این امتیاز یک جعبه سیاه مبهم نیست؛ بلکه یک شاخص ۱۰۰ امتیازی کاملا شفاف است: ۲۵٪ بهره‌وری خواب، ۲۵٪ عمق پیوسته، ۲۰٪ پیوستگی و پایداری، و مابقی مربوط به خواب عمیق N3، خواب REM، تاخیر خواب و عدم پراکندگی است. علاوه بر این، ما پرسشنامه استاندارد پیتزبورگ (PSQI) را در سامانه تعبیه کردیم تا با تطبیق حس ذهنی بیمار و سیگنال‌های عینی، اختلالاتی مثل بی‌خوابی متناقض یا حس بیداری کاذب به سرعت کشف شوند.</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زمان هدف: ۴:۵۵ تا ۵:۴۵ (۵۰ ثانیه)</a:t>
            </a:r>
          </a:p>
          <a:p>
            <a:r>
              <a:t>در این اسلاید معماری مهندسی سامانه اسلیپ‌لنز را مشاهده می‌کنید. پزشک یا اپراتور فایل خام EDF را از طریق پنل مدرن Next.js آپلود می‌کند. بک‌اند جانگو درخواست را اعتبارسنجی کرده و پردازش سنگین را به کارگران Celery با صف ردیس می‌سپارد. سیگنال‌ها همگن‌سازی شده و همزمان به دو مدل هدایت می‌شوند: انسمبل استیجینگ و ترنسفورمر عمق خواب. داده‌ها همراه با ۹۶ ویژگی در پایگاه داده ذخیره شده و مدل زبانی هوشمند گزارش تشخیصی را تدوین می‌کند، در حالی که ایجنت محلی OpenCode به سوالات پزشک پاسخ می‌دهد.</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زمان هدف: ۵:۴۵ تا ۶:۳۰ (۴۵ ثانیه)</a:t>
            </a:r>
          </a:p>
          <a:p>
            <a:r>
              <a:t>در این اسلاید رابط کاربری اسلیپ‌لنز را می‌بینید. در داشبورد، پزشک امتیاز کیفی خواب و شاخص‌های کلیدی را در یک نگاه بررسی می‌کند. هیپنوگرام تعاملی به همراه میزان اطمینان مدل نمایش داده می‌شود و ایپاک‌های مبهم با پرچم زرد مشخص شده‌اند تا پزشک بتواند با یک کلیک آن‌ها را بازبینی کند. همچنین منحنی پیوسته عمق خواب، کاوشگر سیگنال‌های خام میکروولتی مغز برای هر ۳۰ ثانیه، پیش‌نویس گزارش متنی، و چت‌بات دستیار تشخیصی، زمان اسکورینگ را از ۹۰ دقیقه به چند دقیقه کاهش می‌دهند.</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زمان هدف: ۶:۳۰ تا ۷:۰۰ (۳۰ ثانیه)</a:t>
            </a:r>
          </a:p>
          <a:p>
            <a:r>
              <a:t>در جمع‌بندی، اسلیپ‌لنز با کسب نمره F1 معادل 0.8425 و کاپای 0.831 در استیجینگ، و پردازش کامل یک شب ظرف کمتر از ۳۵ ثانیه روی پردازنده‌های معمولی، پلی میان هوش مصنوعی پیشرفته و نیازهای روزمره کلینیک‌های خواب ایجاد کرده است. همچنین اثبات کارایی چیدمان ۲ سنسوره راه را برای هدبندهای خانگی هموار می‌کند. اسلیپ‌لنز زمان پزشک را ۸۵ درصد کاهش داده و کیفیت مراقبت از بیمار را ارتقا می‌بخشد. از توجه شما بسیار متشکرم.</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2011680"/>
          </a:xfrm>
          <a:prstGeom prst="rect">
            <a:avLst/>
          </a:prstGeom>
          <a:noFill/>
        </p:spPr>
        <p:txBody>
          <a:bodyPr wrap="square" lIns="0" tIns="0" rIns="0" bIns="0">
            <a:spAutoFit/>
          </a:bodyPr>
          <a:lstStyle/>
          <a:p>
            <a:pPr algn="r">
              <a:defRPr sz="1200" b="1">
                <a:solidFill>
                  <a:srgbClr val="14B8A6"/>
                </a:solidFill>
                <a:latin typeface="Tahoma"/>
              </a:defRPr>
            </a:pPr>
            <a:r>
              <a:t>خلاصه اجرایی • ارائه نهایی پروژه هکاتون</a:t>
            </a:r>
          </a:p>
          <a:p>
            <a:pPr algn="r">
              <a:spcBef>
                <a:spcPts val="600"/>
              </a:spcBef>
              <a:defRPr sz="2600" b="1">
                <a:solidFill>
                  <a:srgbClr val="F8FAFC"/>
                </a:solidFill>
                <a:latin typeface="Tahoma"/>
              </a:defRPr>
            </a:pPr>
            <a:r>
              <a:t>اسلیپ‌لنز: پلتفرم هوش مصنوعی دو‌مرحله‌ای برای دسته‌بندی استیج‌های خواب</a:t>
            </a:r>
            <a:br/>
            <a:r>
              <a:t>و سنجش شاخص پیوسته کیفیت خواب</a:t>
            </a:r>
          </a:p>
          <a:p>
            <a:pPr algn="r">
              <a:spcBef>
                <a:spcPts val="600"/>
              </a:spcBef>
              <a:defRPr sz="1400">
                <a:solidFill>
                  <a:srgbClr val="06B6D4"/>
                </a:solidFill>
                <a:latin typeface="Tahoma"/>
              </a:defRPr>
            </a:pPr>
            <a:r>
              <a:t>پیوند میان استیجینگ گسسته ۳۰ ثانیه‌ای با عمق پیوسته خواب و نشانگرهای ریزساختاری مغز</a:t>
            </a:r>
          </a:p>
        </p:txBody>
      </p:sp>
      <p:sp>
        <p:nvSpPr>
          <p:cNvPr id="4" name="Rounded Rectangle 3"/>
          <p:cNvSpPr/>
          <p:nvPr/>
        </p:nvSpPr>
        <p:spPr>
          <a:xfrm>
            <a:off x="8119872" y="2697480"/>
            <a:ext cx="3328416" cy="3474720"/>
          </a:xfrm>
          <a:prstGeom prst="roundRect">
            <a:avLst/>
          </a:prstGeom>
          <a:solidFill>
            <a:srgbClr val="1E293B"/>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02752" y="2880360"/>
            <a:ext cx="2962656" cy="3108960"/>
          </a:xfrm>
          <a:prstGeom prst="rect">
            <a:avLst/>
          </a:prstGeom>
          <a:noFill/>
        </p:spPr>
        <p:txBody>
          <a:bodyPr wrap="square" lIns="0" tIns="0" rIns="0" bIns="0">
            <a:spAutoFit/>
          </a:bodyPr>
          <a:lstStyle/>
          <a:p>
            <a:pPr algn="r">
              <a:defRPr sz="1500" b="1">
                <a:solidFill>
                  <a:srgbClr val="F59E0B"/>
                </a:solidFill>
                <a:latin typeface="Tahoma"/>
              </a:defRPr>
            </a:pPr>
            <a:r>
              <a:t>⚠️ گلوگاه بالینی در تست خواب</a:t>
            </a:r>
          </a:p>
          <a:p>
            <a:pPr algn="r">
              <a:spcBef>
                <a:spcPts val="1200"/>
              </a:spcBef>
              <a:defRPr sz="1200">
                <a:solidFill>
                  <a:srgbClr val="CBD5E1"/>
                </a:solidFill>
                <a:latin typeface="Tahoma"/>
              </a:defRPr>
            </a:pPr>
            <a:r>
              <a:t>• تحلیل دستی و چشمی سیگنال‌های پلی‌سومنوگرافی (PSG) نیازمند ۱.۵ تا ۲ ساعت زمان برای هر شب است.</a:t>
            </a:r>
          </a:p>
          <a:p>
            <a:pPr algn="r">
              <a:spcBef>
                <a:spcPts val="1200"/>
              </a:spcBef>
              <a:defRPr sz="1200">
                <a:solidFill>
                  <a:srgbClr val="CBD5E1"/>
                </a:solidFill>
                <a:latin typeface="Tahoma"/>
              </a:defRPr>
            </a:pPr>
            <a:r>
              <a:t>• عدم توافق بالای پزشکان در تشخیص مراحل گذار (دقت تشخیصی مرحله N1 کمتر از ۶۰٪ است).</a:t>
            </a:r>
          </a:p>
          <a:p>
            <a:pPr algn="r">
              <a:spcBef>
                <a:spcPts val="1200"/>
              </a:spcBef>
              <a:defRPr sz="1200">
                <a:solidFill>
                  <a:srgbClr val="CBD5E1"/>
                </a:solidFill>
                <a:latin typeface="Tahoma"/>
              </a:defRPr>
            </a:pPr>
            <a:r>
              <a:t>• سیستم سنتی ۵ مرحله‌ای (AASM) پیوستگی دینامیک عمق خواب و همگام‌سازی مغز را کاملا نادیده می‌گیرد.</a:t>
            </a:r>
          </a:p>
        </p:txBody>
      </p:sp>
      <p:sp>
        <p:nvSpPr>
          <p:cNvPr id="6" name="Rounded Rectangle 5"/>
          <p:cNvSpPr/>
          <p:nvPr/>
        </p:nvSpPr>
        <p:spPr>
          <a:xfrm>
            <a:off x="4425696" y="2697480"/>
            <a:ext cx="3328416" cy="3474720"/>
          </a:xfrm>
          <a:prstGeom prst="roundRect">
            <a:avLst/>
          </a:prstGeom>
          <a:solidFill>
            <a:srgbClr val="1E293B"/>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6" y="2880360"/>
            <a:ext cx="2962656" cy="3108960"/>
          </a:xfrm>
          <a:prstGeom prst="rect">
            <a:avLst/>
          </a:prstGeom>
          <a:noFill/>
        </p:spPr>
        <p:txBody>
          <a:bodyPr wrap="square" lIns="0" tIns="0" rIns="0" bIns="0">
            <a:spAutoFit/>
          </a:bodyPr>
          <a:lstStyle/>
          <a:p>
            <a:pPr algn="r">
              <a:defRPr sz="1500" b="1">
                <a:solidFill>
                  <a:srgbClr val="06B6D4"/>
                </a:solidFill>
                <a:latin typeface="Tahoma"/>
              </a:defRPr>
            </a:pPr>
            <a:r>
              <a:t>🧠 موتور هوش مصنوعی دو‌مرحله‌ای</a:t>
            </a:r>
          </a:p>
          <a:p>
            <a:pPr algn="r">
              <a:spcBef>
                <a:spcPts val="1200"/>
              </a:spcBef>
              <a:defRPr sz="1200">
                <a:solidFill>
                  <a:srgbClr val="CBD5E1"/>
                </a:solidFill>
                <a:latin typeface="Tahoma"/>
              </a:defRPr>
            </a:pPr>
            <a:r>
              <a:t>• مرحله اول (استیجینگ): انسمبل ۴ مدله با امتیاز F1 ماکرو 0.8425 (ضریب کاپای 0.831) روی ۲۳۷ هزار ایپاک.</a:t>
            </a:r>
          </a:p>
          <a:p>
            <a:pPr algn="r">
              <a:spcBef>
                <a:spcPts val="1200"/>
              </a:spcBef>
              <a:defRPr sz="1200">
                <a:solidFill>
                  <a:srgbClr val="CBD5E1"/>
                </a:solidFill>
                <a:latin typeface="Tahoma"/>
              </a:defRPr>
            </a:pPr>
            <a:r>
              <a:t>• مرحله دوم (عمق و کیفیت): ترنسفورمر SDI (منتشر شده در npj Digital Med) برای عمق پیوسته + ۹۶ پارامتر بالینی.</a:t>
            </a:r>
          </a:p>
          <a:p>
            <a:pPr algn="r">
              <a:spcBef>
                <a:spcPts val="1200"/>
              </a:spcBef>
              <a:defRPr sz="1200">
                <a:solidFill>
                  <a:srgbClr val="CBD5E1"/>
                </a:solidFill>
                <a:latin typeface="Tahoma"/>
              </a:defRPr>
            </a:pPr>
            <a:r>
              <a:t>• حداقل‌سازی سنسورها: چیدمان ۲ سنسوره (Fpz+EOG) توانسته ۹۹.۵٪ دقت سیستم کامل را حفظ کند!</a:t>
            </a:r>
          </a:p>
        </p:txBody>
      </p:sp>
      <p:sp>
        <p:nvSpPr>
          <p:cNvPr id="8" name="Rounded Rectangle 7"/>
          <p:cNvSpPr/>
          <p:nvPr/>
        </p:nvSpPr>
        <p:spPr>
          <a:xfrm>
            <a:off x="731520" y="2697480"/>
            <a:ext cx="3328416" cy="3474720"/>
          </a:xfrm>
          <a:prstGeom prst="roundRect">
            <a:avLst/>
          </a:prstGeom>
          <a:solidFill>
            <a:srgbClr val="1E293B"/>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880360"/>
            <a:ext cx="2962656" cy="3108960"/>
          </a:xfrm>
          <a:prstGeom prst="rect">
            <a:avLst/>
          </a:prstGeom>
          <a:noFill/>
        </p:spPr>
        <p:txBody>
          <a:bodyPr wrap="square" lIns="0" tIns="0" rIns="0" bIns="0">
            <a:spAutoFit/>
          </a:bodyPr>
          <a:lstStyle/>
          <a:p>
            <a:pPr algn="r">
              <a:defRPr sz="1500" b="1">
                <a:solidFill>
                  <a:srgbClr val="10B981"/>
                </a:solidFill>
                <a:latin typeface="Tahoma"/>
              </a:defRPr>
            </a:pPr>
            <a:r>
              <a:t>💻 پلتفرم عملیاتی و بالینی</a:t>
            </a:r>
          </a:p>
          <a:p>
            <a:pPr algn="r">
              <a:spcBef>
                <a:spcPts val="1200"/>
              </a:spcBef>
              <a:defRPr sz="1200">
                <a:solidFill>
                  <a:srgbClr val="CBD5E1"/>
                </a:solidFill>
                <a:latin typeface="Tahoma"/>
              </a:defRPr>
            </a:pPr>
            <a:r>
              <a:t>• وب‌اپلیکیشن فول‌استک بالینی با فریم‌ورک‌های مدرن Next.js 14 و Django REST Framework.</a:t>
            </a:r>
          </a:p>
          <a:p>
            <a:pPr algn="r">
              <a:spcBef>
                <a:spcPts val="1200"/>
              </a:spcBef>
              <a:defRPr sz="1200">
                <a:solidFill>
                  <a:srgbClr val="CBD5E1"/>
                </a:solidFill>
                <a:latin typeface="Tahoma"/>
              </a:defRPr>
            </a:pPr>
            <a:r>
              <a:t>• هیپنوگرام تعاملی، منحنی عمق پیوسته خواب (SDI)، و کاوشگر لحظه‌ای سیگنال‌های خام مغزی.</a:t>
            </a:r>
          </a:p>
          <a:p>
            <a:pPr algn="r">
              <a:spcBef>
                <a:spcPts val="1200"/>
              </a:spcBef>
              <a:defRPr sz="1200">
                <a:solidFill>
                  <a:srgbClr val="CBD5E1"/>
                </a:solidFill>
                <a:latin typeface="Tahoma"/>
              </a:defRPr>
            </a:pPr>
            <a:r>
              <a:t>• تولید خودکار گزارش متنی پزشکی با LLM + چت‌بات دستیار تشخیصی مجهز به OpenCode.</a:t>
            </a:r>
          </a:p>
        </p:txBody>
      </p:sp>
      <p:sp>
        <p:nvSpPr>
          <p:cNvPr id="10" name="TextBox 9"/>
          <p:cNvSpPr txBox="1"/>
          <p:nvPr/>
        </p:nvSpPr>
        <p:spPr>
          <a:xfrm>
            <a:off x="3657600" y="6327648"/>
            <a:ext cx="7802575" cy="320040"/>
          </a:xfrm>
          <a:prstGeom prst="rect">
            <a:avLst/>
          </a:prstGeom>
          <a:noFill/>
        </p:spPr>
        <p:txBody>
          <a:bodyPr wrap="none" lIns="0" tIns="0" rIns="0" bIns="0">
            <a:spAutoFit/>
          </a:bodyPr>
          <a:lstStyle/>
          <a:p>
            <a:pPr algn="r">
              <a:defRPr sz="1050">
                <a:solidFill>
                  <a:srgbClr val="94A3B8"/>
                </a:solidFill>
                <a:latin typeface="Tahoma"/>
              </a:defRPr>
            </a:pPr>
            <a:r>
              <a:t>پلتفرم اسلیپ‌لنز • نمونه اولیه سامانه هوش مصنوعی بالینی و تحقیقاتی خواب</a:t>
            </a:r>
          </a:p>
        </p:txBody>
      </p:sp>
      <p:sp>
        <p:nvSpPr>
          <p:cNvPr id="11" name="TextBox 10"/>
          <p:cNvSpPr txBox="1"/>
          <p:nvPr/>
        </p:nvSpPr>
        <p:spPr>
          <a:xfrm>
            <a:off x="731520" y="6327648"/>
            <a:ext cx="3200400" cy="320040"/>
          </a:xfrm>
          <a:prstGeom prst="rect">
            <a:avLst/>
          </a:prstGeom>
          <a:noFill/>
        </p:spPr>
        <p:txBody>
          <a:bodyPr wrap="none" lIns="0" tIns="0" rIns="0" bIns="0">
            <a:spAutoFit/>
          </a:bodyPr>
          <a:lstStyle/>
          <a:p>
            <a:pPr algn="l">
              <a:defRPr sz="1050">
                <a:solidFill>
                  <a:srgbClr val="94A3B8"/>
                </a:solidFill>
                <a:latin typeface="Tahoma"/>
              </a:defRPr>
            </a:pPr>
            <a:r>
              <a:t>اسلاید ۱ از ۹ • زمان: ۰:۰۰ تا ۰:۴۵</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0" y="320040"/>
            <a:ext cx="8229600" cy="1051560"/>
          </a:xfrm>
          <a:prstGeom prst="rect">
            <a:avLst/>
          </a:prstGeom>
          <a:noFill/>
        </p:spPr>
        <p:txBody>
          <a:bodyPr wrap="square" lIns="0" tIns="0" rIns="0" bIns="0">
            <a:spAutoFit/>
          </a:bodyPr>
          <a:lstStyle/>
          <a:p>
            <a:pPr algn="r">
              <a:defRPr sz="1150" b="1">
                <a:solidFill>
                  <a:srgbClr val="14B8A6"/>
                </a:solidFill>
                <a:latin typeface="Tahoma"/>
              </a:defRPr>
            </a:pPr>
            <a:r>
              <a:t>اعتبار بنچ‌مارک و اصول تجربی</a:t>
            </a:r>
          </a:p>
          <a:p>
            <a:pPr algn="r">
              <a:spcBef>
                <a:spcPts val="300"/>
              </a:spcBef>
              <a:defRPr sz="2400" b="1">
                <a:solidFill>
                  <a:srgbClr val="F8FAFC"/>
                </a:solidFill>
                <a:latin typeface="Tahoma"/>
              </a:defRPr>
            </a:pPr>
            <a:r>
              <a:t>مجموعه داده، پیش‌پردازش و استانداردسازی</a:t>
            </a:r>
          </a:p>
          <a:p>
            <a:pPr algn="r">
              <a:spcBef>
                <a:spcPts val="300"/>
              </a:spcBef>
              <a:defRPr sz="1250">
                <a:solidFill>
                  <a:srgbClr val="06B6D4"/>
                </a:solidFill>
                <a:latin typeface="Tahoma"/>
              </a:defRPr>
            </a:pPr>
            <a:r>
              <a:t>پایگاه Sleep-EDF Expanded: ۱۹۷ شب کامل با اعتبارسنجی متقاطع بدون نشت اطلاعات (Subject-Atomic)</a:t>
            </a:r>
          </a:p>
        </p:txBody>
      </p:sp>
      <p:sp>
        <p:nvSpPr>
          <p:cNvPr id="4" name="Rounded Rectangle 3"/>
          <p:cNvSpPr/>
          <p:nvPr/>
        </p:nvSpPr>
        <p:spPr>
          <a:xfrm>
            <a:off x="731520" y="365760"/>
            <a:ext cx="2316175" cy="438912"/>
          </a:xfrm>
          <a:prstGeom prst="roundRect">
            <a:avLst/>
          </a:prstGeom>
          <a:solidFill>
            <a:srgbClr val="082F49"/>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6B6D4"/>
                </a:solidFill>
                <a:latin typeface="Tahoma"/>
              </a:defRPr>
            </a:pPr>
            <a:r>
              <a:t>۰:۴۵ – ۱:۳۰ | ۴۵s</a:t>
            </a:r>
          </a:p>
        </p:txBody>
      </p:sp>
      <p:sp>
        <p:nvSpPr>
          <p:cNvPr id="5" name="Rounded Rectangle 4"/>
          <p:cNvSpPr/>
          <p:nvPr/>
        </p:nvSpPr>
        <p:spPr>
          <a:xfrm>
            <a:off x="6263640" y="1463040"/>
            <a:ext cx="5193792"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645920"/>
            <a:ext cx="4736592" cy="4297680"/>
          </a:xfrm>
          <a:prstGeom prst="rect">
            <a:avLst/>
          </a:prstGeom>
          <a:noFill/>
        </p:spPr>
        <p:txBody>
          <a:bodyPr wrap="square" lIns="0" tIns="0" rIns="0" bIns="0">
            <a:spAutoFit/>
          </a:bodyPr>
          <a:lstStyle/>
          <a:p>
            <a:pPr algn="r">
              <a:defRPr sz="1600" b="1">
                <a:solidFill>
                  <a:srgbClr val="14B8A6"/>
                </a:solidFill>
                <a:latin typeface="Tahoma"/>
              </a:defRPr>
            </a:pPr>
            <a:r>
              <a:t>📊 بنچ‌مارک رسمی Sleep-EDF Expanded (PhysioNet)</a:t>
            </a:r>
          </a:p>
          <a:p>
            <a:pPr algn="r">
              <a:spcBef>
                <a:spcPts val="1200"/>
              </a:spcBef>
              <a:defRPr sz="1350" b="1">
                <a:solidFill>
                  <a:srgbClr val="F8FAFC"/>
                </a:solidFill>
                <a:latin typeface="Tahoma"/>
              </a:defRPr>
            </a:pPr>
            <a:r>
              <a:t>مقیاس و حجم داده‌ها:</a:t>
            </a:r>
          </a:p>
          <a:p>
            <a:pPr algn="r">
              <a:spcBef>
                <a:spcPts val="300"/>
              </a:spcBef>
              <a:defRPr sz="1200">
                <a:solidFill>
                  <a:srgbClr val="CBD5E1"/>
                </a:solidFill>
                <a:latin typeface="Tahoma"/>
              </a:defRPr>
            </a:pPr>
            <a:r>
              <a:t>• ۱۹۷ ثبت شبانه کامل (معادل حدود ۲,۰۰۰ ساعت سیگنال چندکاناله)</a:t>
            </a:r>
            <a:br/>
            <a:r>
              <a:t>• ۲۳۷,۹۳۶ ایپاک استاندارد ۳۰ ثانیه‌ای برچسب‌گذاری‌شده توسط متخصص</a:t>
            </a:r>
          </a:p>
          <a:p>
            <a:pPr algn="r">
              <a:spcBef>
                <a:spcPts val="1200"/>
              </a:spcBef>
              <a:defRPr sz="1350" b="1">
                <a:solidFill>
                  <a:srgbClr val="F8FAFC"/>
                </a:solidFill>
                <a:latin typeface="Tahoma"/>
              </a:defRPr>
            </a:pPr>
            <a:r>
              <a:t>تفکیک دقیق دو کوهورت بدون تداخل:</a:t>
            </a:r>
          </a:p>
          <a:p>
            <a:pPr algn="r">
              <a:spcBef>
                <a:spcPts val="300"/>
              </a:spcBef>
              <a:defRPr sz="1200">
                <a:solidFill>
                  <a:srgbClr val="CBD5E1"/>
                </a:solidFill>
                <a:latin typeface="Tahoma"/>
              </a:defRPr>
            </a:pPr>
            <a:r>
              <a:t>• کوهورت کاست (SC): ۱۵۳ ثبت افراد سالم در خانه (سیگنال هولتر روزمره)</a:t>
            </a:r>
            <a:br/>
            <a:r>
              <a:t>• کوهورت تله‌متری (ST): ۴۴ ثبت بالینی داخل بیمارستان و کلینیک خواب</a:t>
            </a:r>
          </a:p>
          <a:p>
            <a:pPr algn="r">
              <a:spcBef>
                <a:spcPts val="1200"/>
              </a:spcBef>
              <a:defRPr sz="1350" b="1">
                <a:solidFill>
                  <a:srgbClr val="F8FAFC"/>
                </a:solidFill>
                <a:latin typeface="Tahoma"/>
              </a:defRPr>
            </a:pPr>
            <a:r>
              <a:t>پروتکل اعتبارسنجی بدون نشت اطلاعات (Subject-Atomic 5-Fold CV):</a:t>
            </a:r>
          </a:p>
          <a:p>
            <a:pPr algn="r">
              <a:spcBef>
                <a:spcPts val="300"/>
              </a:spcBef>
              <a:defRPr sz="1200">
                <a:solidFill>
                  <a:srgbClr val="CBD5E1"/>
                </a:solidFill>
                <a:latin typeface="Tahoma"/>
              </a:defRPr>
            </a:pPr>
            <a:r>
              <a:t>• تفکیک کاملا سوژه‌محور (folds5_v3)؛ هیچ بیماری به طور مشترک در بخش آموزش و ارزیابی قرار ندارد تا از حفظ‌کردن داده‌ها جلوگیری شود.</a:t>
            </a:r>
          </a:p>
        </p:txBody>
      </p:sp>
      <p:sp>
        <p:nvSpPr>
          <p:cNvPr id="7" name="Rounded Rectangle 6"/>
          <p:cNvSpPr/>
          <p:nvPr/>
        </p:nvSpPr>
        <p:spPr>
          <a:xfrm>
            <a:off x="731520" y="1463040"/>
            <a:ext cx="516636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4297680"/>
          </a:xfrm>
          <a:prstGeom prst="rect">
            <a:avLst/>
          </a:prstGeom>
          <a:noFill/>
        </p:spPr>
        <p:txBody>
          <a:bodyPr wrap="square" lIns="0" tIns="0" rIns="0" bIns="0">
            <a:spAutoFit/>
          </a:bodyPr>
          <a:lstStyle/>
          <a:p>
            <a:pPr algn="r">
              <a:defRPr sz="1600" b="1">
                <a:solidFill>
                  <a:srgbClr val="06B6D4"/>
                </a:solidFill>
                <a:latin typeface="Tahoma"/>
              </a:defRPr>
            </a:pPr>
            <a:r>
              <a:t>⚙️ خط لوله پیش‌پردازش و یکپارچه‌سازی سیگنال‌ها</a:t>
            </a:r>
          </a:p>
          <a:p>
            <a:pPr algn="r">
              <a:spcBef>
                <a:spcPts val="1400"/>
              </a:spcBef>
              <a:defRPr sz="1350" b="1">
                <a:solidFill>
                  <a:srgbClr val="F8FAFC"/>
                </a:solidFill>
                <a:latin typeface="Tahoma"/>
              </a:defRPr>
            </a:pPr>
            <a:r>
              <a:t>۱. بازنمونه‌برداری استاندارد ۱۰۰ هرتز (Canonical 100 Hz):</a:t>
            </a:r>
          </a:p>
          <a:p>
            <a:pPr algn="r">
              <a:spcBef>
                <a:spcPts val="300"/>
              </a:spcBef>
              <a:defRPr sz="1200">
                <a:solidFill>
                  <a:srgbClr val="CBD5E1"/>
                </a:solidFill>
                <a:latin typeface="Tahoma"/>
              </a:defRPr>
            </a:pPr>
            <a:r>
              <a:t>اعمال فیلتر ضددایره‌ای (Anti-aliasing) چندفازی روی کلیه کانال‌های خام به منظور رفع تفاوت نرخ نمونه‌برداری دستگاه‌های مختلف.</a:t>
            </a:r>
          </a:p>
          <a:p>
            <a:pPr algn="r">
              <a:spcBef>
                <a:spcPts val="1400"/>
              </a:spcBef>
              <a:defRPr sz="1350" b="1">
                <a:solidFill>
                  <a:srgbClr val="F8FAFC"/>
                </a:solidFill>
                <a:latin typeface="Tahoma"/>
              </a:defRPr>
            </a:pPr>
            <a:r>
              <a:t>۲. استانداردسازی و نگاشت الکترودها:</a:t>
            </a:r>
          </a:p>
          <a:p>
            <a:pPr algn="r">
              <a:spcBef>
                <a:spcPts val="300"/>
              </a:spcBef>
              <a:defRPr sz="1200">
                <a:solidFill>
                  <a:srgbClr val="CBD5E1"/>
                </a:solidFill>
                <a:latin typeface="Tahoma"/>
              </a:defRPr>
            </a:pPr>
            <a:r>
              <a:t>همگن‌سازی کانال‌های ناهمگون به الکترودهای استاندارد: مغز پیشانی (Fpz-Cz)، مغز پس‌سری (Pz-Oz)، حرکت چشم (EOG horiz) و عضله چانه (EMG).</a:t>
            </a:r>
          </a:p>
          <a:p>
            <a:pPr algn="r">
              <a:spcBef>
                <a:spcPts val="1400"/>
              </a:spcBef>
              <a:defRPr sz="1350" b="1">
                <a:solidFill>
                  <a:srgbClr val="F8FAFC"/>
                </a:solidFill>
                <a:latin typeface="Tahoma"/>
              </a:defRPr>
            </a:pPr>
            <a:r>
              <a:t>۳. پنجره‌بندی خاموشی چراغ‌ها (BENCHMARK_30):</a:t>
            </a:r>
          </a:p>
          <a:p>
            <a:pPr algn="r">
              <a:spcBef>
                <a:spcPts val="300"/>
              </a:spcBef>
              <a:defRPr sz="1200">
                <a:solidFill>
                  <a:srgbClr val="CBD5E1"/>
                </a:solidFill>
                <a:latin typeface="Tahoma"/>
              </a:defRPr>
            </a:pPr>
            <a:r>
              <a:t>برش خودکار دوره‌های بیداری طولانی قبل و بعد از خواب ضمن حفظ کامل گذارهای فیزیولوژیک شروع و پایان خواب.</a:t>
            </a:r>
          </a:p>
        </p:txBody>
      </p:sp>
      <p:sp>
        <p:nvSpPr>
          <p:cNvPr id="9" name="TextBox 8"/>
          <p:cNvSpPr txBox="1"/>
          <p:nvPr/>
        </p:nvSpPr>
        <p:spPr>
          <a:xfrm>
            <a:off x="3657600" y="6327648"/>
            <a:ext cx="7802575" cy="320040"/>
          </a:xfrm>
          <a:prstGeom prst="rect">
            <a:avLst/>
          </a:prstGeom>
          <a:noFill/>
        </p:spPr>
        <p:txBody>
          <a:bodyPr wrap="none" lIns="0" tIns="0" rIns="0" bIns="0">
            <a:spAutoFit/>
          </a:bodyPr>
          <a:lstStyle/>
          <a:p>
            <a:pPr algn="r">
              <a:defRPr sz="1050">
                <a:solidFill>
                  <a:srgbClr val="94A3B8"/>
                </a:solidFill>
                <a:latin typeface="Tahoma"/>
              </a:defRPr>
            </a:pPr>
            <a:r>
              <a:t>پروتکل اعتبارسنجی: ۵ فولد تفکیک‌شده بر اساس سوژه با پنجره استاندارد BENCHMARK_30</a:t>
            </a:r>
          </a:p>
        </p:txBody>
      </p:sp>
      <p:sp>
        <p:nvSpPr>
          <p:cNvPr id="10" name="TextBox 9"/>
          <p:cNvSpPr txBox="1"/>
          <p:nvPr/>
        </p:nvSpPr>
        <p:spPr>
          <a:xfrm>
            <a:off x="731520" y="6327648"/>
            <a:ext cx="3200400" cy="320040"/>
          </a:xfrm>
          <a:prstGeom prst="rect">
            <a:avLst/>
          </a:prstGeom>
          <a:noFill/>
        </p:spPr>
        <p:txBody>
          <a:bodyPr wrap="none" lIns="0" tIns="0" rIns="0" bIns="0">
            <a:spAutoFit/>
          </a:bodyPr>
          <a:lstStyle/>
          <a:p>
            <a:pPr algn="l">
              <a:defRPr sz="1050">
                <a:solidFill>
                  <a:srgbClr val="94A3B8"/>
                </a:solidFill>
                <a:latin typeface="Tahoma"/>
              </a:defRPr>
            </a:pPr>
            <a:r>
              <a:t>تعداد کل ایپاک‌ها: ۲۳۷,۹۳۶ ایپاک معتبر</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0" y="320040"/>
            <a:ext cx="8229600" cy="1051560"/>
          </a:xfrm>
          <a:prstGeom prst="rect">
            <a:avLst/>
          </a:prstGeom>
          <a:noFill/>
        </p:spPr>
        <p:txBody>
          <a:bodyPr wrap="square" lIns="0" tIns="0" rIns="0" bIns="0">
            <a:spAutoFit/>
          </a:bodyPr>
          <a:lstStyle/>
          <a:p>
            <a:pPr algn="r">
              <a:defRPr sz="1150" b="1">
                <a:solidFill>
                  <a:srgbClr val="14B8A6"/>
                </a:solidFill>
                <a:latin typeface="Tahoma"/>
              </a:defRPr>
            </a:pPr>
            <a:r>
              <a:t>مدل مرحله اول هوش مصنوعی</a:t>
            </a:r>
          </a:p>
          <a:p>
            <a:pPr algn="r">
              <a:spcBef>
                <a:spcPts val="300"/>
              </a:spcBef>
              <a:defRPr sz="2400" b="1">
                <a:solidFill>
                  <a:srgbClr val="F8FAFC"/>
                </a:solidFill>
                <a:latin typeface="Tahoma"/>
              </a:defRPr>
            </a:pPr>
            <a:r>
              <a:t>مدل اول: دسته‌بندی ۳۰ ثانیه‌ای مراحل خواب (SSC)</a:t>
            </a:r>
          </a:p>
          <a:p>
            <a:pPr algn="r">
              <a:spcBef>
                <a:spcPts val="300"/>
              </a:spcBef>
              <a:defRPr sz="1250">
                <a:solidFill>
                  <a:srgbClr val="06B6D4"/>
                </a:solidFill>
                <a:latin typeface="Tahoma"/>
              </a:defRPr>
            </a:pPr>
            <a:r>
              <a:t>ارزیابی ساختاریافته بیش از ۲۵ پیکربندی روی تمامی ۱۹۷ شب داده</a:t>
            </a:r>
          </a:p>
        </p:txBody>
      </p:sp>
      <p:sp>
        <p:nvSpPr>
          <p:cNvPr id="4" name="Rounded Rectangle 3"/>
          <p:cNvSpPr/>
          <p:nvPr/>
        </p:nvSpPr>
        <p:spPr>
          <a:xfrm>
            <a:off x="731520" y="365760"/>
            <a:ext cx="2316175" cy="438912"/>
          </a:xfrm>
          <a:prstGeom prst="roundRect">
            <a:avLst/>
          </a:prstGeom>
          <a:solidFill>
            <a:srgbClr val="082F49"/>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6B6D4"/>
                </a:solidFill>
                <a:latin typeface="Tahoma"/>
              </a:defRPr>
            </a:pPr>
            <a:r>
              <a:t>۱:۳۰ – ۲:۲۵ | ۵۵s</a:t>
            </a:r>
          </a:p>
        </p:txBody>
      </p:sp>
      <p:graphicFrame>
        <p:nvGraphicFramePr>
          <p:cNvPr id="5" name="Table 4"/>
          <p:cNvGraphicFramePr>
            <a:graphicFrameLocks noGrp="1"/>
          </p:cNvGraphicFramePr>
          <p:nvPr/>
        </p:nvGraphicFramePr>
        <p:xfrm>
          <a:off x="731520" y="1463040"/>
          <a:ext cx="10728655" cy="2834640"/>
        </p:xfrm>
        <a:graphic>
          <a:graphicData uri="http://schemas.openxmlformats.org/drawingml/2006/table">
            <a:tbl>
              <a:tblPr firstRow="1" bandRow="1">
                <a:tableStyleId>{5C22544A-7EE6-4342-B048-85BDC9FD1C3A}</a:tableStyleId>
              </a:tblPr>
              <a:tblGrid>
                <a:gridCol w="1005840"/>
                <a:gridCol w="3322015"/>
                <a:gridCol w="868680"/>
                <a:gridCol w="777240"/>
                <a:gridCol w="777240"/>
                <a:gridCol w="822960"/>
                <a:gridCol w="777240"/>
                <a:gridCol w="777240"/>
                <a:gridCol w="777240"/>
                <a:gridCol w="822960"/>
              </a:tblGrid>
              <a:tr h="404948">
                <a:tc>
                  <a:txBody>
                    <a:bodyPr/>
                    <a:lstStyle/>
                    <a:p>
                      <a:pPr algn="ctr">
                        <a:defRPr sz="1100" b="1">
                          <a:solidFill>
                            <a:srgbClr val="06B6D4"/>
                          </a:solidFill>
                          <a:latin typeface="Tahoma"/>
                        </a:defRPr>
                      </a:pPr>
                      <a:r>
                        <a:t>کد اجرا</a:t>
                      </a:r>
                    </a:p>
                  </a:txBody>
                  <a:tcPr>
                    <a:solidFill>
                      <a:srgbClr val="1E293B"/>
                    </a:solidFill>
                  </a:tcPr>
                </a:tc>
                <a:tc>
                  <a:txBody>
                    <a:bodyPr/>
                    <a:lstStyle/>
                    <a:p>
                      <a:pPr algn="ctr">
                        <a:defRPr sz="1100" b="1">
                          <a:solidFill>
                            <a:srgbClr val="06B6D4"/>
                          </a:solidFill>
                          <a:latin typeface="Tahoma"/>
                        </a:defRPr>
                      </a:pPr>
                      <a:r>
                        <a:t>معماری مدل و چیدمان سنسورها</a:t>
                      </a:r>
                    </a:p>
                  </a:txBody>
                  <a:tcPr>
                    <a:solidFill>
                      <a:srgbClr val="1E293B"/>
                    </a:solidFill>
                  </a:tcPr>
                </a:tc>
                <a:tc>
                  <a:txBody>
                    <a:bodyPr/>
                    <a:lstStyle/>
                    <a:p>
                      <a:pPr algn="ctr">
                        <a:defRPr sz="1100" b="1">
                          <a:solidFill>
                            <a:srgbClr val="06B6D4"/>
                          </a:solidFill>
                          <a:latin typeface="Tahoma"/>
                        </a:defRPr>
                      </a:pPr>
                      <a:r>
                        <a:t>F1 کل</a:t>
                      </a:r>
                    </a:p>
                  </a:txBody>
                  <a:tcPr>
                    <a:solidFill>
                      <a:srgbClr val="1E293B"/>
                    </a:solidFill>
                  </a:tcPr>
                </a:tc>
                <a:tc>
                  <a:txBody>
                    <a:bodyPr/>
                    <a:lstStyle/>
                    <a:p>
                      <a:pPr algn="ctr">
                        <a:defRPr sz="1100" b="1">
                          <a:solidFill>
                            <a:srgbClr val="06B6D4"/>
                          </a:solidFill>
                          <a:latin typeface="Tahoma"/>
                        </a:defRPr>
                      </a:pPr>
                      <a:r>
                        <a:t>SC F1</a:t>
                      </a:r>
                    </a:p>
                  </a:txBody>
                  <a:tcPr>
                    <a:solidFill>
                      <a:srgbClr val="1E293B"/>
                    </a:solidFill>
                  </a:tcPr>
                </a:tc>
                <a:tc>
                  <a:txBody>
                    <a:bodyPr/>
                    <a:lstStyle/>
                    <a:p>
                      <a:pPr algn="ctr">
                        <a:defRPr sz="1100" b="1">
                          <a:solidFill>
                            <a:srgbClr val="06B6D4"/>
                          </a:solidFill>
                          <a:latin typeface="Tahoma"/>
                        </a:defRPr>
                      </a:pPr>
                      <a:r>
                        <a:t>ST F1</a:t>
                      </a:r>
                    </a:p>
                  </a:txBody>
                  <a:tcPr>
                    <a:solidFill>
                      <a:srgbClr val="1E293B"/>
                    </a:solidFill>
                  </a:tcPr>
                </a:tc>
                <a:tc>
                  <a:txBody>
                    <a:bodyPr/>
                    <a:lstStyle/>
                    <a:p>
                      <a:pPr algn="ctr">
                        <a:defRPr sz="1100" b="1">
                          <a:solidFill>
                            <a:srgbClr val="06B6D4"/>
                          </a:solidFill>
                          <a:latin typeface="Tahoma"/>
                        </a:defRPr>
                      </a:pPr>
                      <a:r>
                        <a:t>N1 F1</a:t>
                      </a:r>
                    </a:p>
                  </a:txBody>
                  <a:tcPr>
                    <a:solidFill>
                      <a:srgbClr val="1E293B"/>
                    </a:solidFill>
                  </a:tcPr>
                </a:tc>
                <a:tc>
                  <a:txBody>
                    <a:bodyPr/>
                    <a:lstStyle/>
                    <a:p>
                      <a:pPr algn="ctr">
                        <a:defRPr sz="1100" b="1">
                          <a:solidFill>
                            <a:srgbClr val="06B6D4"/>
                          </a:solidFill>
                          <a:latin typeface="Tahoma"/>
                        </a:defRPr>
                      </a:pPr>
                      <a:r>
                        <a:t>N2 F1</a:t>
                      </a:r>
                    </a:p>
                  </a:txBody>
                  <a:tcPr>
                    <a:solidFill>
                      <a:srgbClr val="1E293B"/>
                    </a:solidFill>
                  </a:tcPr>
                </a:tc>
                <a:tc>
                  <a:txBody>
                    <a:bodyPr/>
                    <a:lstStyle/>
                    <a:p>
                      <a:pPr algn="ctr">
                        <a:defRPr sz="1100" b="1">
                          <a:solidFill>
                            <a:srgbClr val="06B6D4"/>
                          </a:solidFill>
                          <a:latin typeface="Tahoma"/>
                        </a:defRPr>
                      </a:pPr>
                      <a:r>
                        <a:t>N3 F1</a:t>
                      </a:r>
                    </a:p>
                  </a:txBody>
                  <a:tcPr>
                    <a:solidFill>
                      <a:srgbClr val="1E293B"/>
                    </a:solidFill>
                  </a:tcPr>
                </a:tc>
                <a:tc>
                  <a:txBody>
                    <a:bodyPr/>
                    <a:lstStyle/>
                    <a:p>
                      <a:pPr algn="ctr">
                        <a:defRPr sz="1100" b="1">
                          <a:solidFill>
                            <a:srgbClr val="06B6D4"/>
                          </a:solidFill>
                          <a:latin typeface="Tahoma"/>
                        </a:defRPr>
                      </a:pPr>
                      <a:r>
                        <a:t>REM F1</a:t>
                      </a:r>
                    </a:p>
                  </a:txBody>
                  <a:tcPr>
                    <a:solidFill>
                      <a:srgbClr val="1E293B"/>
                    </a:solidFill>
                  </a:tcPr>
                </a:tc>
                <a:tc>
                  <a:txBody>
                    <a:bodyPr/>
                    <a:lstStyle/>
                    <a:p>
                      <a:pPr algn="ctr">
                        <a:defRPr sz="1100" b="1">
                          <a:solidFill>
                            <a:srgbClr val="06B6D4"/>
                          </a:solidFill>
                          <a:latin typeface="Tahoma"/>
                        </a:defRPr>
                      </a:pPr>
                      <a:r>
                        <a:t>کاپا κ</a:t>
                      </a:r>
                    </a:p>
                  </a:txBody>
                  <a:tcPr>
                    <a:solidFill>
                      <a:srgbClr val="1E293B"/>
                    </a:solidFill>
                  </a:tcPr>
                </a:tc>
              </a:tr>
              <a:tr h="404948">
                <a:tc>
                  <a:txBody>
                    <a:bodyPr/>
                    <a:lstStyle/>
                    <a:p>
                      <a:pPr algn="ctr">
                        <a:defRPr sz="1050" b="1">
                          <a:solidFill>
                            <a:srgbClr val="14B8A6"/>
                          </a:solidFill>
                          <a:latin typeface="Tahoma"/>
                        </a:defRPr>
                      </a:pPr>
                      <a:r>
                        <a:t>E19 (برتر)</a:t>
                      </a:r>
                    </a:p>
                  </a:txBody>
                  <a:tcPr>
                    <a:solidFill>
                      <a:srgbClr val="134E4A"/>
                    </a:solidFill>
                  </a:tcPr>
                </a:tc>
                <a:tc>
                  <a:txBody>
                    <a:bodyPr/>
                    <a:lstStyle/>
                    <a:p>
                      <a:pPr algn="r">
                        <a:defRPr sz="1050" b="1">
                          <a:solidFill>
                            <a:srgbClr val="F8FAFC"/>
                          </a:solidFill>
                          <a:latin typeface="Tahoma"/>
                        </a:defRPr>
                      </a:pPr>
                      <a:r>
                        <a:t>انسمبل ۴ مدله متنوع (ANY3ch + ANY2ch + USleep + LGBM)</a:t>
                      </a:r>
                    </a:p>
                  </a:txBody>
                  <a:tcPr>
                    <a:solidFill>
                      <a:srgbClr val="134E4A"/>
                    </a:solidFill>
                  </a:tcPr>
                </a:tc>
                <a:tc>
                  <a:txBody>
                    <a:bodyPr/>
                    <a:lstStyle/>
                    <a:p>
                      <a:pPr algn="ctr">
                        <a:defRPr sz="1050" b="1">
                          <a:solidFill>
                            <a:srgbClr val="14B8A6"/>
                          </a:solidFill>
                          <a:latin typeface="Tahoma"/>
                        </a:defRPr>
                      </a:pPr>
                      <a:r>
                        <a:t>0.8425</a:t>
                      </a:r>
                    </a:p>
                  </a:txBody>
                  <a:tcPr>
                    <a:solidFill>
                      <a:srgbClr val="134E4A"/>
                    </a:solidFill>
                  </a:tcPr>
                </a:tc>
                <a:tc>
                  <a:txBody>
                    <a:bodyPr/>
                    <a:lstStyle/>
                    <a:p>
                      <a:pPr algn="ctr">
                        <a:defRPr sz="1050" b="1">
                          <a:solidFill>
                            <a:srgbClr val="F8FAFC"/>
                          </a:solidFill>
                          <a:latin typeface="Tahoma"/>
                        </a:defRPr>
                      </a:pPr>
                      <a:r>
                        <a:t>0.836</a:t>
                      </a:r>
                    </a:p>
                  </a:txBody>
                  <a:tcPr>
                    <a:solidFill>
                      <a:srgbClr val="134E4A"/>
                    </a:solidFill>
                  </a:tcPr>
                </a:tc>
                <a:tc>
                  <a:txBody>
                    <a:bodyPr/>
                    <a:lstStyle/>
                    <a:p>
                      <a:pPr algn="ctr">
                        <a:defRPr sz="1050" b="1">
                          <a:solidFill>
                            <a:srgbClr val="F8FAFC"/>
                          </a:solidFill>
                          <a:latin typeface="Tahoma"/>
                        </a:defRPr>
                      </a:pPr>
                      <a:r>
                        <a:t>0.865</a:t>
                      </a:r>
                    </a:p>
                  </a:txBody>
                  <a:tcPr>
                    <a:solidFill>
                      <a:srgbClr val="134E4A"/>
                    </a:solidFill>
                  </a:tcPr>
                </a:tc>
                <a:tc>
                  <a:txBody>
                    <a:bodyPr/>
                    <a:lstStyle/>
                    <a:p>
                      <a:pPr algn="ctr">
                        <a:defRPr sz="1050" b="1">
                          <a:solidFill>
                            <a:srgbClr val="14B8A6"/>
                          </a:solidFill>
                          <a:latin typeface="Tahoma"/>
                        </a:defRPr>
                      </a:pPr>
                      <a:r>
                        <a:t>0.635</a:t>
                      </a:r>
                    </a:p>
                  </a:txBody>
                  <a:tcPr>
                    <a:solidFill>
                      <a:srgbClr val="134E4A"/>
                    </a:solidFill>
                  </a:tcPr>
                </a:tc>
                <a:tc>
                  <a:txBody>
                    <a:bodyPr/>
                    <a:lstStyle/>
                    <a:p>
                      <a:pPr algn="ctr">
                        <a:defRPr sz="1050" b="1">
                          <a:solidFill>
                            <a:srgbClr val="F8FAFC"/>
                          </a:solidFill>
                          <a:latin typeface="Tahoma"/>
                        </a:defRPr>
                      </a:pPr>
                      <a:r>
                        <a:t>0.892</a:t>
                      </a:r>
                    </a:p>
                  </a:txBody>
                  <a:tcPr>
                    <a:solidFill>
                      <a:srgbClr val="134E4A"/>
                    </a:solidFill>
                  </a:tcPr>
                </a:tc>
                <a:tc>
                  <a:txBody>
                    <a:bodyPr/>
                    <a:lstStyle/>
                    <a:p>
                      <a:pPr algn="ctr">
                        <a:defRPr sz="1050" b="1">
                          <a:solidFill>
                            <a:srgbClr val="F8FAFC"/>
                          </a:solidFill>
                          <a:latin typeface="Tahoma"/>
                        </a:defRPr>
                      </a:pPr>
                      <a:r>
                        <a:t>0.833</a:t>
                      </a:r>
                    </a:p>
                  </a:txBody>
                  <a:tcPr>
                    <a:solidFill>
                      <a:srgbClr val="134E4A"/>
                    </a:solidFill>
                  </a:tcPr>
                </a:tc>
                <a:tc>
                  <a:txBody>
                    <a:bodyPr/>
                    <a:lstStyle/>
                    <a:p>
                      <a:pPr algn="ctr">
                        <a:defRPr sz="1050" b="1">
                          <a:solidFill>
                            <a:srgbClr val="14B8A6"/>
                          </a:solidFill>
                          <a:latin typeface="Tahoma"/>
                        </a:defRPr>
                      </a:pPr>
                      <a:r>
                        <a:t>0.915</a:t>
                      </a:r>
                    </a:p>
                  </a:txBody>
                  <a:tcPr>
                    <a:solidFill>
                      <a:srgbClr val="134E4A"/>
                    </a:solidFill>
                  </a:tcPr>
                </a:tc>
                <a:tc>
                  <a:txBody>
                    <a:bodyPr/>
                    <a:lstStyle/>
                    <a:p>
                      <a:pPr algn="ctr">
                        <a:defRPr sz="1050" b="1">
                          <a:solidFill>
                            <a:srgbClr val="14B8A6"/>
                          </a:solidFill>
                          <a:latin typeface="Tahoma"/>
                        </a:defRPr>
                      </a:pPr>
                      <a:r>
                        <a:t>0.831</a:t>
                      </a:r>
                    </a:p>
                  </a:txBody>
                  <a:tcPr>
                    <a:solidFill>
                      <a:srgbClr val="134E4A"/>
                    </a:solidFill>
                  </a:tcPr>
                </a:tc>
              </a:tr>
              <a:tr h="404948">
                <a:tc>
                  <a:txBody>
                    <a:bodyPr/>
                    <a:lstStyle/>
                    <a:p>
                      <a:pPr algn="ctr">
                        <a:defRPr sz="1050">
                          <a:solidFill>
                            <a:srgbClr val="F8FAFC"/>
                          </a:solidFill>
                          <a:latin typeface="Tahoma"/>
                        </a:defRPr>
                      </a:pPr>
                      <a:r>
                        <a:t>E11</a:t>
                      </a:r>
                    </a:p>
                  </a:txBody>
                  <a:tcPr>
                    <a:solidFill>
                      <a:srgbClr val="0F172A"/>
                    </a:solidFill>
                  </a:tcPr>
                </a:tc>
                <a:tc>
                  <a:txBody>
                    <a:bodyPr/>
                    <a:lstStyle/>
                    <a:p>
                      <a:pPr algn="r">
                        <a:defRPr sz="1050">
                          <a:solidFill>
                            <a:srgbClr val="F8FAFC"/>
                          </a:solidFill>
                          <a:latin typeface="Tahoma"/>
                        </a:defRPr>
                      </a:pPr>
                      <a:r>
                        <a:t>مدل AnySleep ۳ کاناله (Fpz+Pz+EOG) — بهترین تک‌مدل</a:t>
                      </a:r>
                    </a:p>
                  </a:txBody>
                  <a:tcPr>
                    <a:solidFill>
                      <a:srgbClr val="0F172A"/>
                    </a:solidFill>
                  </a:tcPr>
                </a:tc>
                <a:tc>
                  <a:txBody>
                    <a:bodyPr/>
                    <a:lstStyle/>
                    <a:p>
                      <a:pPr algn="ctr">
                        <a:defRPr sz="1050">
                          <a:solidFill>
                            <a:srgbClr val="CBD5E1"/>
                          </a:solidFill>
                          <a:latin typeface="Tahoma"/>
                        </a:defRPr>
                      </a:pPr>
                      <a:r>
                        <a:t>0.8267</a:t>
                      </a:r>
                    </a:p>
                  </a:txBody>
                  <a:tcPr>
                    <a:solidFill>
                      <a:srgbClr val="0F172A"/>
                    </a:solidFill>
                  </a:tcPr>
                </a:tc>
                <a:tc>
                  <a:txBody>
                    <a:bodyPr/>
                    <a:lstStyle/>
                    <a:p>
                      <a:pPr algn="ctr">
                        <a:defRPr sz="1050">
                          <a:solidFill>
                            <a:srgbClr val="CBD5E1"/>
                          </a:solidFill>
                          <a:latin typeface="Tahoma"/>
                        </a:defRPr>
                      </a:pPr>
                      <a:r>
                        <a:t>0.809</a:t>
                      </a:r>
                    </a:p>
                  </a:txBody>
                  <a:tcPr>
                    <a:solidFill>
                      <a:srgbClr val="0F172A"/>
                    </a:solidFill>
                  </a:tcPr>
                </a:tc>
                <a:tc>
                  <a:txBody>
                    <a:bodyPr/>
                    <a:lstStyle/>
                    <a:p>
                      <a:pPr algn="ctr">
                        <a:defRPr sz="1050">
                          <a:solidFill>
                            <a:srgbClr val="CBD5E1"/>
                          </a:solidFill>
                          <a:latin typeface="Tahoma"/>
                        </a:defRPr>
                      </a:pPr>
                      <a:r>
                        <a:t>0.878</a:t>
                      </a:r>
                    </a:p>
                  </a:txBody>
                  <a:tcPr>
                    <a:solidFill>
                      <a:srgbClr val="0F172A"/>
                    </a:solidFill>
                  </a:tcPr>
                </a:tc>
                <a:tc>
                  <a:txBody>
                    <a:bodyPr/>
                    <a:lstStyle/>
                    <a:p>
                      <a:pPr algn="ctr">
                        <a:defRPr sz="1050">
                          <a:solidFill>
                            <a:srgbClr val="CBD5E1"/>
                          </a:solidFill>
                          <a:latin typeface="Tahoma"/>
                        </a:defRPr>
                      </a:pPr>
                      <a:r>
                        <a:t>0.622</a:t>
                      </a:r>
                    </a:p>
                  </a:txBody>
                  <a:tcPr>
                    <a:solidFill>
                      <a:srgbClr val="0F172A"/>
                    </a:solidFill>
                  </a:tcPr>
                </a:tc>
                <a:tc>
                  <a:txBody>
                    <a:bodyPr/>
                    <a:lstStyle/>
                    <a:p>
                      <a:pPr algn="ctr">
                        <a:defRPr sz="1050">
                          <a:solidFill>
                            <a:srgbClr val="CBD5E1"/>
                          </a:solidFill>
                          <a:latin typeface="Tahoma"/>
                        </a:defRPr>
                      </a:pPr>
                      <a:r>
                        <a:t>0.880</a:t>
                      </a:r>
                    </a:p>
                  </a:txBody>
                  <a:tcPr>
                    <a:solidFill>
                      <a:srgbClr val="0F172A"/>
                    </a:solidFill>
                  </a:tcPr>
                </a:tc>
                <a:tc>
                  <a:txBody>
                    <a:bodyPr/>
                    <a:lstStyle/>
                    <a:p>
                      <a:pPr algn="ctr">
                        <a:defRPr sz="1050">
                          <a:solidFill>
                            <a:srgbClr val="CBD5E1"/>
                          </a:solidFill>
                          <a:latin typeface="Tahoma"/>
                        </a:defRPr>
                      </a:pPr>
                      <a:r>
                        <a:t>0.788</a:t>
                      </a:r>
                    </a:p>
                  </a:txBody>
                  <a:tcPr>
                    <a:solidFill>
                      <a:srgbClr val="0F172A"/>
                    </a:solidFill>
                  </a:tcPr>
                </a:tc>
                <a:tc>
                  <a:txBody>
                    <a:bodyPr/>
                    <a:lstStyle/>
                    <a:p>
                      <a:pPr algn="ctr">
                        <a:defRPr sz="1050">
                          <a:solidFill>
                            <a:srgbClr val="CBD5E1"/>
                          </a:solidFill>
                          <a:latin typeface="Tahoma"/>
                        </a:defRPr>
                      </a:pPr>
                      <a:r>
                        <a:t>0.904</a:t>
                      </a:r>
                    </a:p>
                  </a:txBody>
                  <a:tcPr>
                    <a:solidFill>
                      <a:srgbClr val="0F172A"/>
                    </a:solidFill>
                  </a:tcPr>
                </a:tc>
                <a:tc>
                  <a:txBody>
                    <a:bodyPr/>
                    <a:lstStyle/>
                    <a:p>
                      <a:pPr algn="ctr">
                        <a:defRPr sz="1050">
                          <a:solidFill>
                            <a:srgbClr val="CBD5E1"/>
                          </a:solidFill>
                          <a:latin typeface="Tahoma"/>
                        </a:defRPr>
                      </a:pPr>
                      <a:r>
                        <a:t>0.812</a:t>
                      </a:r>
                    </a:p>
                  </a:txBody>
                  <a:tcPr>
                    <a:solidFill>
                      <a:srgbClr val="0F172A"/>
                    </a:solidFill>
                  </a:tcPr>
                </a:tc>
              </a:tr>
              <a:tr h="404948">
                <a:tc>
                  <a:txBody>
                    <a:bodyPr/>
                    <a:lstStyle/>
                    <a:p>
                      <a:pPr algn="ctr">
                        <a:defRPr sz="1050">
                          <a:solidFill>
                            <a:srgbClr val="F8FAFC"/>
                          </a:solidFill>
                          <a:latin typeface="Tahoma"/>
                        </a:defRPr>
                      </a:pPr>
                      <a:r>
                        <a:t>E11d</a:t>
                      </a:r>
                    </a:p>
                  </a:txBody>
                  <a:tcPr>
                    <a:solidFill>
                      <a:srgbClr val="0F172A"/>
                    </a:solidFill>
                  </a:tcPr>
                </a:tc>
                <a:tc>
                  <a:txBody>
                    <a:bodyPr/>
                    <a:lstStyle/>
                    <a:p>
                      <a:pPr algn="r">
                        <a:defRPr sz="1050">
                          <a:solidFill>
                            <a:srgbClr val="F8FAFC"/>
                          </a:solidFill>
                          <a:latin typeface="Tahoma"/>
                        </a:defRPr>
                      </a:pPr>
                      <a:r>
                        <a:t>مدل AnySleep ۲ سنسوره (Fpz+EOG) — بهترین ۲ سنسوره</a:t>
                      </a:r>
                    </a:p>
                  </a:txBody>
                  <a:tcPr>
                    <a:solidFill>
                      <a:srgbClr val="0F172A"/>
                    </a:solidFill>
                  </a:tcPr>
                </a:tc>
                <a:tc>
                  <a:txBody>
                    <a:bodyPr/>
                    <a:lstStyle/>
                    <a:p>
                      <a:pPr algn="ctr">
                        <a:defRPr sz="1050">
                          <a:solidFill>
                            <a:srgbClr val="CBD5E1"/>
                          </a:solidFill>
                          <a:latin typeface="Tahoma"/>
                        </a:defRPr>
                      </a:pPr>
                      <a:r>
                        <a:t>0.8227</a:t>
                      </a:r>
                    </a:p>
                  </a:txBody>
                  <a:tcPr>
                    <a:solidFill>
                      <a:srgbClr val="0F172A"/>
                    </a:solidFill>
                  </a:tcPr>
                </a:tc>
                <a:tc>
                  <a:txBody>
                    <a:bodyPr/>
                    <a:lstStyle/>
                    <a:p>
                      <a:pPr algn="ctr">
                        <a:defRPr sz="1050">
                          <a:solidFill>
                            <a:srgbClr val="CBD5E1"/>
                          </a:solidFill>
                          <a:latin typeface="Tahoma"/>
                        </a:defRPr>
                      </a:pPr>
                      <a:r>
                        <a:t>0.811</a:t>
                      </a:r>
                    </a:p>
                  </a:txBody>
                  <a:tcPr>
                    <a:solidFill>
                      <a:srgbClr val="0F172A"/>
                    </a:solidFill>
                  </a:tcPr>
                </a:tc>
                <a:tc>
                  <a:txBody>
                    <a:bodyPr/>
                    <a:lstStyle/>
                    <a:p>
                      <a:pPr algn="ctr">
                        <a:defRPr sz="1050">
                          <a:solidFill>
                            <a:srgbClr val="CBD5E1"/>
                          </a:solidFill>
                          <a:latin typeface="Tahoma"/>
                        </a:defRPr>
                      </a:pPr>
                      <a:r>
                        <a:t>0.865</a:t>
                      </a:r>
                    </a:p>
                  </a:txBody>
                  <a:tcPr>
                    <a:solidFill>
                      <a:srgbClr val="0F172A"/>
                    </a:solidFill>
                  </a:tcPr>
                </a:tc>
                <a:tc>
                  <a:txBody>
                    <a:bodyPr/>
                    <a:lstStyle/>
                    <a:p>
                      <a:pPr algn="ctr">
                        <a:defRPr sz="1050">
                          <a:solidFill>
                            <a:srgbClr val="CBD5E1"/>
                          </a:solidFill>
                          <a:latin typeface="Tahoma"/>
                        </a:defRPr>
                      </a:pPr>
                      <a:r>
                        <a:t>0.592</a:t>
                      </a:r>
                    </a:p>
                  </a:txBody>
                  <a:tcPr>
                    <a:solidFill>
                      <a:srgbClr val="0F172A"/>
                    </a:solidFill>
                  </a:tcPr>
                </a:tc>
                <a:tc>
                  <a:txBody>
                    <a:bodyPr/>
                    <a:lstStyle/>
                    <a:p>
                      <a:pPr algn="ctr">
                        <a:defRPr sz="1050">
                          <a:solidFill>
                            <a:srgbClr val="CBD5E1"/>
                          </a:solidFill>
                          <a:latin typeface="Tahoma"/>
                        </a:defRPr>
                      </a:pPr>
                      <a:r>
                        <a:t>0.880</a:t>
                      </a:r>
                    </a:p>
                  </a:txBody>
                  <a:tcPr>
                    <a:solidFill>
                      <a:srgbClr val="0F172A"/>
                    </a:solidFill>
                  </a:tcPr>
                </a:tc>
                <a:tc>
                  <a:txBody>
                    <a:bodyPr/>
                    <a:lstStyle/>
                    <a:p>
                      <a:pPr algn="ctr">
                        <a:defRPr sz="1050">
                          <a:solidFill>
                            <a:srgbClr val="CBD5E1"/>
                          </a:solidFill>
                          <a:latin typeface="Tahoma"/>
                        </a:defRPr>
                      </a:pPr>
                      <a:r>
                        <a:t>0.812</a:t>
                      </a:r>
                    </a:p>
                  </a:txBody>
                  <a:tcPr>
                    <a:solidFill>
                      <a:srgbClr val="0F172A"/>
                    </a:solidFill>
                  </a:tcPr>
                </a:tc>
                <a:tc>
                  <a:txBody>
                    <a:bodyPr/>
                    <a:lstStyle/>
                    <a:p>
                      <a:pPr algn="ctr">
                        <a:defRPr sz="1050">
                          <a:solidFill>
                            <a:srgbClr val="CBD5E1"/>
                          </a:solidFill>
                          <a:latin typeface="Tahoma"/>
                        </a:defRPr>
                      </a:pPr>
                      <a:r>
                        <a:t>0.905</a:t>
                      </a:r>
                    </a:p>
                  </a:txBody>
                  <a:tcPr>
                    <a:solidFill>
                      <a:srgbClr val="0F172A"/>
                    </a:solidFill>
                  </a:tcPr>
                </a:tc>
                <a:tc>
                  <a:txBody>
                    <a:bodyPr/>
                    <a:lstStyle/>
                    <a:p>
                      <a:pPr algn="ctr">
                        <a:defRPr sz="1050">
                          <a:solidFill>
                            <a:srgbClr val="CBD5E1"/>
                          </a:solidFill>
                          <a:latin typeface="Tahoma"/>
                        </a:defRPr>
                      </a:pPr>
                      <a:r>
                        <a:t>0.808</a:t>
                      </a:r>
                    </a:p>
                  </a:txBody>
                  <a:tcPr>
                    <a:solidFill>
                      <a:srgbClr val="0F172A"/>
                    </a:solidFill>
                  </a:tcPr>
                </a:tc>
              </a:tr>
              <a:tr h="404948">
                <a:tc>
                  <a:txBody>
                    <a:bodyPr/>
                    <a:lstStyle/>
                    <a:p>
                      <a:pPr algn="ctr">
                        <a:defRPr sz="1050">
                          <a:solidFill>
                            <a:srgbClr val="F8FAFC"/>
                          </a:solidFill>
                          <a:latin typeface="Tahoma"/>
                        </a:defRPr>
                      </a:pPr>
                      <a:r>
                        <a:t>E20</a:t>
                      </a:r>
                    </a:p>
                  </a:txBody>
                  <a:tcPr>
                    <a:solidFill>
                      <a:srgbClr val="0F172A"/>
                    </a:solidFill>
                  </a:tcPr>
                </a:tc>
                <a:tc>
                  <a:txBody>
                    <a:bodyPr/>
                    <a:lstStyle/>
                    <a:p>
                      <a:pPr algn="r">
                        <a:defRPr sz="1050">
                          <a:solidFill>
                            <a:srgbClr val="F8FAFC"/>
                          </a:solidFill>
                          <a:latin typeface="Tahoma"/>
                        </a:defRPr>
                      </a:pPr>
                      <a:r>
                        <a:t>مدل RobustSleepNet فرونتال (پاک — بدون پیش‌آموزش)</a:t>
                      </a:r>
                    </a:p>
                  </a:txBody>
                  <a:tcPr>
                    <a:solidFill>
                      <a:srgbClr val="0F172A"/>
                    </a:solidFill>
                  </a:tcPr>
                </a:tc>
                <a:tc>
                  <a:txBody>
                    <a:bodyPr/>
                    <a:lstStyle/>
                    <a:p>
                      <a:pPr algn="ctr">
                        <a:defRPr sz="1050">
                          <a:solidFill>
                            <a:srgbClr val="CBD5E1"/>
                          </a:solidFill>
                          <a:latin typeface="Tahoma"/>
                        </a:defRPr>
                      </a:pPr>
                      <a:r>
                        <a:t>0.7501</a:t>
                      </a:r>
                    </a:p>
                  </a:txBody>
                  <a:tcPr>
                    <a:solidFill>
                      <a:srgbClr val="0F172A"/>
                    </a:solidFill>
                  </a:tcPr>
                </a:tc>
                <a:tc>
                  <a:txBody>
                    <a:bodyPr/>
                    <a:lstStyle/>
                    <a:p>
                      <a:pPr algn="ctr">
                        <a:defRPr sz="1050">
                          <a:solidFill>
                            <a:srgbClr val="CBD5E1"/>
                          </a:solidFill>
                          <a:latin typeface="Tahoma"/>
                        </a:defRPr>
                      </a:pPr>
                      <a:r>
                        <a:t>0.736</a:t>
                      </a:r>
                    </a:p>
                  </a:txBody>
                  <a:tcPr>
                    <a:solidFill>
                      <a:srgbClr val="0F172A"/>
                    </a:solidFill>
                  </a:tcPr>
                </a:tc>
                <a:tc>
                  <a:txBody>
                    <a:bodyPr/>
                    <a:lstStyle/>
                    <a:p>
                      <a:pPr algn="ctr">
                        <a:defRPr sz="1050">
                          <a:solidFill>
                            <a:srgbClr val="CBD5E1"/>
                          </a:solidFill>
                          <a:latin typeface="Tahoma"/>
                        </a:defRPr>
                      </a:pPr>
                      <a:r>
                        <a:t>0.788</a:t>
                      </a:r>
                    </a:p>
                  </a:txBody>
                  <a:tcPr>
                    <a:solidFill>
                      <a:srgbClr val="0F172A"/>
                    </a:solidFill>
                  </a:tcPr>
                </a:tc>
                <a:tc>
                  <a:txBody>
                    <a:bodyPr/>
                    <a:lstStyle/>
                    <a:p>
                      <a:pPr algn="ctr">
                        <a:defRPr sz="1050">
                          <a:solidFill>
                            <a:srgbClr val="CBD5E1"/>
                          </a:solidFill>
                          <a:latin typeface="Tahoma"/>
                        </a:defRPr>
                      </a:pPr>
                      <a:r>
                        <a:t>0.442</a:t>
                      </a:r>
                    </a:p>
                  </a:txBody>
                  <a:tcPr>
                    <a:solidFill>
                      <a:srgbClr val="0F172A"/>
                    </a:solidFill>
                  </a:tcPr>
                </a:tc>
                <a:tc>
                  <a:txBody>
                    <a:bodyPr/>
                    <a:lstStyle/>
                    <a:p>
                      <a:pPr algn="ctr">
                        <a:defRPr sz="1050">
                          <a:solidFill>
                            <a:srgbClr val="CBD5E1"/>
                          </a:solidFill>
                          <a:latin typeface="Tahoma"/>
                        </a:defRPr>
                      </a:pPr>
                      <a:r>
                        <a:t>0.828</a:t>
                      </a:r>
                    </a:p>
                  </a:txBody>
                  <a:tcPr>
                    <a:solidFill>
                      <a:srgbClr val="0F172A"/>
                    </a:solidFill>
                  </a:tcPr>
                </a:tc>
                <a:tc>
                  <a:txBody>
                    <a:bodyPr/>
                    <a:lstStyle/>
                    <a:p>
                      <a:pPr algn="ctr">
                        <a:defRPr sz="1050">
                          <a:solidFill>
                            <a:srgbClr val="CBD5E1"/>
                          </a:solidFill>
                          <a:latin typeface="Tahoma"/>
                        </a:defRPr>
                      </a:pPr>
                      <a:r>
                        <a:t>0.717</a:t>
                      </a:r>
                    </a:p>
                  </a:txBody>
                  <a:tcPr>
                    <a:solidFill>
                      <a:srgbClr val="0F172A"/>
                    </a:solidFill>
                  </a:tcPr>
                </a:tc>
                <a:tc>
                  <a:txBody>
                    <a:bodyPr/>
                    <a:lstStyle/>
                    <a:p>
                      <a:pPr algn="ctr">
                        <a:defRPr sz="1050">
                          <a:solidFill>
                            <a:srgbClr val="CBD5E1"/>
                          </a:solidFill>
                          <a:latin typeface="Tahoma"/>
                        </a:defRPr>
                      </a:pPr>
                      <a:r>
                        <a:t>0.855</a:t>
                      </a:r>
                    </a:p>
                  </a:txBody>
                  <a:tcPr>
                    <a:solidFill>
                      <a:srgbClr val="0F172A"/>
                    </a:solidFill>
                  </a:tcPr>
                </a:tc>
                <a:tc>
                  <a:txBody>
                    <a:bodyPr/>
                    <a:lstStyle/>
                    <a:p>
                      <a:pPr algn="ctr">
                        <a:defRPr sz="1050">
                          <a:solidFill>
                            <a:srgbClr val="CBD5E1"/>
                          </a:solidFill>
                          <a:latin typeface="Tahoma"/>
                        </a:defRPr>
                      </a:pPr>
                      <a:r>
                        <a:t>0.724</a:t>
                      </a:r>
                    </a:p>
                  </a:txBody>
                  <a:tcPr>
                    <a:solidFill>
                      <a:srgbClr val="0F172A"/>
                    </a:solidFill>
                  </a:tcPr>
                </a:tc>
              </a:tr>
              <a:tr h="404948">
                <a:tc>
                  <a:txBody>
                    <a:bodyPr/>
                    <a:lstStyle/>
                    <a:p>
                      <a:pPr algn="ctr">
                        <a:defRPr sz="1050">
                          <a:solidFill>
                            <a:srgbClr val="F8FAFC"/>
                          </a:solidFill>
                          <a:latin typeface="Tahoma"/>
                        </a:defRPr>
                      </a:pPr>
                      <a:r>
                        <a:t>E00</a:t>
                      </a:r>
                    </a:p>
                  </a:txBody>
                  <a:tcPr>
                    <a:solidFill>
                      <a:srgbClr val="0F172A"/>
                    </a:solidFill>
                  </a:tcPr>
                </a:tc>
                <a:tc>
                  <a:txBody>
                    <a:bodyPr/>
                    <a:lstStyle/>
                    <a:p>
                      <a:pPr algn="r">
                        <a:defRPr sz="1050">
                          <a:solidFill>
                            <a:srgbClr val="F8FAFC"/>
                          </a:solidFill>
                          <a:latin typeface="Tahoma"/>
                        </a:defRPr>
                      </a:pPr>
                      <a:r>
                        <a:t>مدل LightGBM (۱۱ ویژگی طیفی و توان فرکانسی)</a:t>
                      </a:r>
                    </a:p>
                  </a:txBody>
                  <a:tcPr>
                    <a:solidFill>
                      <a:srgbClr val="0F172A"/>
                    </a:solidFill>
                  </a:tcPr>
                </a:tc>
                <a:tc>
                  <a:txBody>
                    <a:bodyPr/>
                    <a:lstStyle/>
                    <a:p>
                      <a:pPr algn="ctr">
                        <a:defRPr sz="1050">
                          <a:solidFill>
                            <a:srgbClr val="CBD5E1"/>
                          </a:solidFill>
                          <a:latin typeface="Tahoma"/>
                        </a:defRPr>
                      </a:pPr>
                      <a:r>
                        <a:t>0.6672</a:t>
                      </a:r>
                    </a:p>
                  </a:txBody>
                  <a:tcPr>
                    <a:solidFill>
                      <a:srgbClr val="0F172A"/>
                    </a:solidFill>
                  </a:tcPr>
                </a:tc>
                <a:tc>
                  <a:txBody>
                    <a:bodyPr/>
                    <a:lstStyle/>
                    <a:p>
                      <a:pPr algn="ctr">
                        <a:defRPr sz="1050">
                          <a:solidFill>
                            <a:srgbClr val="CBD5E1"/>
                          </a:solidFill>
                          <a:latin typeface="Tahoma"/>
                        </a:defRPr>
                      </a:pPr>
                      <a:r>
                        <a:t>—</a:t>
                      </a:r>
                    </a:p>
                  </a:txBody>
                  <a:tcPr>
                    <a:solidFill>
                      <a:srgbClr val="0F172A"/>
                    </a:solidFill>
                  </a:tcPr>
                </a:tc>
                <a:tc>
                  <a:txBody>
                    <a:bodyPr/>
                    <a:lstStyle/>
                    <a:p>
                      <a:pPr algn="ctr">
                        <a:defRPr sz="1050">
                          <a:solidFill>
                            <a:srgbClr val="CBD5E1"/>
                          </a:solidFill>
                          <a:latin typeface="Tahoma"/>
                        </a:defRPr>
                      </a:pPr>
                      <a:r>
                        <a:t>—</a:t>
                      </a:r>
                    </a:p>
                  </a:txBody>
                  <a:tcPr>
                    <a:solidFill>
                      <a:srgbClr val="0F172A"/>
                    </a:solidFill>
                  </a:tcPr>
                </a:tc>
                <a:tc>
                  <a:txBody>
                    <a:bodyPr/>
                    <a:lstStyle/>
                    <a:p>
                      <a:pPr algn="ctr">
                        <a:defRPr sz="1050">
                          <a:solidFill>
                            <a:srgbClr val="CBD5E1"/>
                          </a:solidFill>
                          <a:latin typeface="Tahoma"/>
                        </a:defRPr>
                      </a:pPr>
                      <a:r>
                        <a:t>0.339</a:t>
                      </a:r>
                    </a:p>
                  </a:txBody>
                  <a:tcPr>
                    <a:solidFill>
                      <a:srgbClr val="0F172A"/>
                    </a:solidFill>
                  </a:tcPr>
                </a:tc>
                <a:tc>
                  <a:txBody>
                    <a:bodyPr/>
                    <a:lstStyle/>
                    <a:p>
                      <a:pPr algn="ctr">
                        <a:defRPr sz="1050">
                          <a:solidFill>
                            <a:srgbClr val="CBD5E1"/>
                          </a:solidFill>
                          <a:latin typeface="Tahoma"/>
                        </a:defRPr>
                      </a:pPr>
                      <a:r>
                        <a:t>0.752</a:t>
                      </a:r>
                    </a:p>
                  </a:txBody>
                  <a:tcPr>
                    <a:solidFill>
                      <a:srgbClr val="0F172A"/>
                    </a:solidFill>
                  </a:tcPr>
                </a:tc>
                <a:tc>
                  <a:txBody>
                    <a:bodyPr/>
                    <a:lstStyle/>
                    <a:p>
                      <a:pPr algn="ctr">
                        <a:defRPr sz="1050">
                          <a:solidFill>
                            <a:srgbClr val="CBD5E1"/>
                          </a:solidFill>
                          <a:latin typeface="Tahoma"/>
                        </a:defRPr>
                      </a:pPr>
                      <a:r>
                        <a:t>0.687</a:t>
                      </a:r>
                    </a:p>
                  </a:txBody>
                  <a:tcPr>
                    <a:solidFill>
                      <a:srgbClr val="0F172A"/>
                    </a:solidFill>
                  </a:tcPr>
                </a:tc>
                <a:tc>
                  <a:txBody>
                    <a:bodyPr/>
                    <a:lstStyle/>
                    <a:p>
                      <a:pPr algn="ctr">
                        <a:defRPr sz="1050">
                          <a:solidFill>
                            <a:srgbClr val="CBD5E1"/>
                          </a:solidFill>
                          <a:latin typeface="Tahoma"/>
                        </a:defRPr>
                      </a:pPr>
                      <a:r>
                        <a:t>0.585</a:t>
                      </a:r>
                    </a:p>
                  </a:txBody>
                  <a:tcPr>
                    <a:solidFill>
                      <a:srgbClr val="0F172A"/>
                    </a:solidFill>
                  </a:tcPr>
                </a:tc>
                <a:tc>
                  <a:txBody>
                    <a:bodyPr/>
                    <a:lstStyle/>
                    <a:p>
                      <a:pPr algn="ctr">
                        <a:defRPr sz="1050">
                          <a:solidFill>
                            <a:srgbClr val="CBD5E1"/>
                          </a:solidFill>
                          <a:latin typeface="Tahoma"/>
                        </a:defRPr>
                      </a:pPr>
                      <a:r>
                        <a:t>0.612</a:t>
                      </a:r>
                    </a:p>
                  </a:txBody>
                  <a:tcPr>
                    <a:solidFill>
                      <a:srgbClr val="0F172A"/>
                    </a:solidFill>
                  </a:tcPr>
                </a:tc>
              </a:tr>
              <a:tr h="404952">
                <a:tc>
                  <a:txBody>
                    <a:bodyPr/>
                    <a:lstStyle/>
                    <a:p>
                      <a:pPr algn="ctr">
                        <a:defRPr sz="1050">
                          <a:solidFill>
                            <a:srgbClr val="F8FAFC"/>
                          </a:solidFill>
                          <a:latin typeface="Tahoma"/>
                        </a:defRPr>
                      </a:pPr>
                      <a:r>
                        <a:t>E01</a:t>
                      </a:r>
                    </a:p>
                  </a:txBody>
                  <a:tcPr>
                    <a:solidFill>
                      <a:srgbClr val="0F172A"/>
                    </a:solidFill>
                  </a:tcPr>
                </a:tc>
                <a:tc>
                  <a:txBody>
                    <a:bodyPr/>
                    <a:lstStyle/>
                    <a:p>
                      <a:pPr algn="r">
                        <a:defRPr sz="1050">
                          <a:solidFill>
                            <a:srgbClr val="F8FAFC"/>
                          </a:solidFill>
                          <a:latin typeface="Tahoma"/>
                        </a:defRPr>
                      </a:pPr>
                      <a:r>
                        <a:t>مدل سنتی بالینی YASA (جنگل تصادفی Fpz-Cz)</a:t>
                      </a:r>
                    </a:p>
                  </a:txBody>
                  <a:tcPr>
                    <a:solidFill>
                      <a:srgbClr val="0F172A"/>
                    </a:solidFill>
                  </a:tcPr>
                </a:tc>
                <a:tc>
                  <a:txBody>
                    <a:bodyPr/>
                    <a:lstStyle/>
                    <a:p>
                      <a:pPr algn="ctr">
                        <a:defRPr sz="1050">
                          <a:solidFill>
                            <a:srgbClr val="F43F5E"/>
                          </a:solidFill>
                          <a:latin typeface="Tahoma"/>
                        </a:defRPr>
                      </a:pPr>
                      <a:r>
                        <a:t>0.5225</a:t>
                      </a:r>
                    </a:p>
                  </a:txBody>
                  <a:tcPr>
                    <a:solidFill>
                      <a:srgbClr val="0F172A"/>
                    </a:solidFill>
                  </a:tcPr>
                </a:tc>
                <a:tc>
                  <a:txBody>
                    <a:bodyPr/>
                    <a:lstStyle/>
                    <a:p>
                      <a:pPr algn="ctr">
                        <a:defRPr sz="1050">
                          <a:solidFill>
                            <a:srgbClr val="CBD5E1"/>
                          </a:solidFill>
                          <a:latin typeface="Tahoma"/>
                        </a:defRPr>
                      </a:pPr>
                      <a:r>
                        <a:t>0.486</a:t>
                      </a:r>
                    </a:p>
                  </a:txBody>
                  <a:tcPr>
                    <a:solidFill>
                      <a:srgbClr val="0F172A"/>
                    </a:solidFill>
                  </a:tcPr>
                </a:tc>
                <a:tc>
                  <a:txBody>
                    <a:bodyPr/>
                    <a:lstStyle/>
                    <a:p>
                      <a:pPr algn="ctr">
                        <a:defRPr sz="1050">
                          <a:solidFill>
                            <a:srgbClr val="CBD5E1"/>
                          </a:solidFill>
                          <a:latin typeface="Tahoma"/>
                        </a:defRPr>
                      </a:pPr>
                      <a:r>
                        <a:t>0.611</a:t>
                      </a:r>
                    </a:p>
                  </a:txBody>
                  <a:tcPr>
                    <a:solidFill>
                      <a:srgbClr val="0F172A"/>
                    </a:solidFill>
                  </a:tcPr>
                </a:tc>
                <a:tc>
                  <a:txBody>
                    <a:bodyPr/>
                    <a:lstStyle/>
                    <a:p>
                      <a:pPr algn="ctr">
                        <a:defRPr sz="1050">
                          <a:solidFill>
                            <a:srgbClr val="F43F5E"/>
                          </a:solidFill>
                          <a:latin typeface="Tahoma"/>
                        </a:defRPr>
                      </a:pPr>
                      <a:r>
                        <a:t>0.100</a:t>
                      </a:r>
                    </a:p>
                  </a:txBody>
                  <a:tcPr>
                    <a:solidFill>
                      <a:srgbClr val="0F172A"/>
                    </a:solidFill>
                  </a:tcPr>
                </a:tc>
                <a:tc>
                  <a:txBody>
                    <a:bodyPr/>
                    <a:lstStyle/>
                    <a:p>
                      <a:pPr algn="ctr">
                        <a:defRPr sz="1050">
                          <a:solidFill>
                            <a:srgbClr val="CBD5E1"/>
                          </a:solidFill>
                          <a:latin typeface="Tahoma"/>
                        </a:defRPr>
                      </a:pPr>
                      <a:r>
                        <a:t>0.737</a:t>
                      </a:r>
                    </a:p>
                  </a:txBody>
                  <a:tcPr>
                    <a:solidFill>
                      <a:srgbClr val="0F172A"/>
                    </a:solidFill>
                  </a:tcPr>
                </a:tc>
                <a:tc>
                  <a:txBody>
                    <a:bodyPr/>
                    <a:lstStyle/>
                    <a:p>
                      <a:pPr algn="ctr">
                        <a:defRPr sz="1050">
                          <a:solidFill>
                            <a:srgbClr val="CBD5E1"/>
                          </a:solidFill>
                          <a:latin typeface="Tahoma"/>
                        </a:defRPr>
                      </a:pPr>
                      <a:r>
                        <a:t>0.538</a:t>
                      </a:r>
                    </a:p>
                  </a:txBody>
                  <a:tcPr>
                    <a:solidFill>
                      <a:srgbClr val="0F172A"/>
                    </a:solidFill>
                  </a:tcPr>
                </a:tc>
                <a:tc>
                  <a:txBody>
                    <a:bodyPr/>
                    <a:lstStyle/>
                    <a:p>
                      <a:pPr algn="ctr">
                        <a:defRPr sz="1050">
                          <a:solidFill>
                            <a:srgbClr val="CBD5E1"/>
                          </a:solidFill>
                          <a:latin typeface="Tahoma"/>
                        </a:defRPr>
                      </a:pPr>
                      <a:r>
                        <a:t>0.557</a:t>
                      </a:r>
                    </a:p>
                  </a:txBody>
                  <a:tcPr>
                    <a:solidFill>
                      <a:srgbClr val="0F172A"/>
                    </a:solidFill>
                  </a:tcPr>
                </a:tc>
                <a:tc>
                  <a:txBody>
                    <a:bodyPr/>
                    <a:lstStyle/>
                    <a:p>
                      <a:pPr algn="ctr">
                        <a:defRPr sz="1050">
                          <a:solidFill>
                            <a:srgbClr val="CBD5E1"/>
                          </a:solidFill>
                          <a:latin typeface="Tahoma"/>
                        </a:defRPr>
                      </a:pPr>
                      <a:r>
                        <a:t>0.473</a:t>
                      </a:r>
                    </a:p>
                  </a:txBody>
                  <a:tcPr>
                    <a:solidFill>
                      <a:srgbClr val="0F172A"/>
                    </a:solidFill>
                  </a:tcPr>
                </a:tc>
              </a:tr>
            </a:tbl>
          </a:graphicData>
        </a:graphic>
      </p:graphicFrame>
      <p:sp>
        <p:nvSpPr>
          <p:cNvPr id="6" name="Rounded Rectangle 5"/>
          <p:cNvSpPr/>
          <p:nvPr/>
        </p:nvSpPr>
        <p:spPr>
          <a:xfrm>
            <a:off x="8119872" y="4462272"/>
            <a:ext cx="3328416" cy="16916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57032" y="4553712"/>
            <a:ext cx="3054096" cy="1508760"/>
          </a:xfrm>
          <a:prstGeom prst="rect">
            <a:avLst/>
          </a:prstGeom>
          <a:noFill/>
        </p:spPr>
        <p:txBody>
          <a:bodyPr wrap="square" lIns="0" tIns="0" rIns="0" bIns="0">
            <a:spAutoFit/>
          </a:bodyPr>
          <a:lstStyle/>
          <a:p>
            <a:pPr algn="r">
              <a:defRPr sz="1250" b="1">
                <a:solidFill>
                  <a:srgbClr val="14B8A6"/>
                </a:solidFill>
                <a:latin typeface="Tahoma"/>
              </a:defRPr>
            </a:pPr>
            <a:r>
              <a:t>۱. برتری تنوع ویژگی بر مقیاس</a:t>
            </a:r>
          </a:p>
          <a:p>
            <a:pPr algn="r">
              <a:spcBef>
                <a:spcPts val="400"/>
              </a:spcBef>
              <a:defRPr sz="1100">
                <a:solidFill>
                  <a:srgbClr val="CBD5E1"/>
                </a:solidFill>
                <a:latin typeface="Tahoma"/>
              </a:defRPr>
            </a:pPr>
            <a:r>
              <a:t>افزودن مدل سبک LightGBM (با F1=0.667) به شبکه‌های عمیق باعث افزایش 0.016+ در دقت شد، چرا که ویژگی‌های طیفی مستقل از شکل موج خام را لحاظ می‌کند.</a:t>
            </a:r>
          </a:p>
        </p:txBody>
      </p:sp>
      <p:sp>
        <p:nvSpPr>
          <p:cNvPr id="8" name="Rounded Rectangle 7"/>
          <p:cNvSpPr/>
          <p:nvPr/>
        </p:nvSpPr>
        <p:spPr>
          <a:xfrm>
            <a:off x="4425696" y="4462272"/>
            <a:ext cx="3328416" cy="16916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62856" y="4553712"/>
            <a:ext cx="3054096" cy="1508760"/>
          </a:xfrm>
          <a:prstGeom prst="rect">
            <a:avLst/>
          </a:prstGeom>
          <a:noFill/>
        </p:spPr>
        <p:txBody>
          <a:bodyPr wrap="square" lIns="0" tIns="0" rIns="0" bIns="0">
            <a:spAutoFit/>
          </a:bodyPr>
          <a:lstStyle/>
          <a:p>
            <a:pPr algn="r">
              <a:defRPr sz="1250" b="1">
                <a:solidFill>
                  <a:srgbClr val="06B6D4"/>
                </a:solidFill>
                <a:latin typeface="Tahoma"/>
              </a:defRPr>
            </a:pPr>
            <a:r>
              <a:t>۲. رکوردشکنی در تفکیک استیج‌ها</a:t>
            </a:r>
          </a:p>
          <a:p>
            <a:pPr algn="r">
              <a:spcBef>
                <a:spcPts val="400"/>
              </a:spcBef>
              <a:defRPr sz="1100">
                <a:solidFill>
                  <a:srgbClr val="CBD5E1"/>
                </a:solidFill>
                <a:latin typeface="Tahoma"/>
              </a:defRPr>
            </a:pPr>
            <a:r>
              <a:t>سیستم برنده E19 بالاترین دقت تاریخ این بنچ‌مارک را در ۴ استیج اصلی ثبت کرد: N1 (0.635), N2 (0.892), N3 (0.833) و REM (0.915).</a:t>
            </a:r>
          </a:p>
        </p:txBody>
      </p:sp>
      <p:sp>
        <p:nvSpPr>
          <p:cNvPr id="10" name="Rounded Rectangle 9"/>
          <p:cNvSpPr/>
          <p:nvPr/>
        </p:nvSpPr>
        <p:spPr>
          <a:xfrm>
            <a:off x="731520" y="4462272"/>
            <a:ext cx="3328416" cy="16916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553712"/>
            <a:ext cx="3054096" cy="1508760"/>
          </a:xfrm>
          <a:prstGeom prst="rect">
            <a:avLst/>
          </a:prstGeom>
          <a:noFill/>
        </p:spPr>
        <p:txBody>
          <a:bodyPr wrap="square" lIns="0" tIns="0" rIns="0" bIns="0">
            <a:spAutoFit/>
          </a:bodyPr>
          <a:lstStyle/>
          <a:p>
            <a:pPr algn="r">
              <a:defRPr sz="1250" b="1">
                <a:solidFill>
                  <a:srgbClr val="F59E0B"/>
                </a:solidFill>
                <a:latin typeface="Tahoma"/>
              </a:defRPr>
            </a:pPr>
            <a:r>
              <a:t>۳. رد الگوریتم ویتربی</a:t>
            </a:r>
          </a:p>
          <a:p>
            <a:pPr algn="r">
              <a:spcBef>
                <a:spcPts val="400"/>
              </a:spcBef>
              <a:defRPr sz="1100">
                <a:solidFill>
                  <a:srgbClr val="CBD5E1"/>
                </a:solidFill>
                <a:latin typeface="Tahoma"/>
              </a:defRPr>
            </a:pPr>
            <a:r>
              <a:t>اعمال دیکودینگ ویتربی بر احتمالات گذار باعث افت دقت شد (0.8267 به 0.8259)، چرا که معماری AnySleep ذاتاً میدان دید زمانی ۱۴ دقیقه‌ای دارد.</a:t>
            </a:r>
          </a:p>
        </p:txBody>
      </p:sp>
      <p:sp>
        <p:nvSpPr>
          <p:cNvPr id="12" name="TextBox 11"/>
          <p:cNvSpPr txBox="1"/>
          <p:nvPr/>
        </p:nvSpPr>
        <p:spPr>
          <a:xfrm>
            <a:off x="3657600" y="6327648"/>
            <a:ext cx="7802575" cy="320040"/>
          </a:xfrm>
          <a:prstGeom prst="rect">
            <a:avLst/>
          </a:prstGeom>
          <a:noFill/>
        </p:spPr>
        <p:txBody>
          <a:bodyPr wrap="none" lIns="0" tIns="0" rIns="0" bIns="0">
            <a:spAutoFit/>
          </a:bodyPr>
          <a:lstStyle/>
          <a:p>
            <a:pPr algn="r">
              <a:defRPr sz="1050">
                <a:solidFill>
                  <a:srgbClr val="94A3B8"/>
                </a:solidFill>
                <a:latin typeface="Tahoma"/>
              </a:defRPr>
            </a:pPr>
            <a:r>
              <a:t>انسمبل برنده ۴ مدله: توافق مستقل در تمام ۵ فولد ارزیابی OOF</a:t>
            </a:r>
          </a:p>
        </p:txBody>
      </p:sp>
      <p:sp>
        <p:nvSpPr>
          <p:cNvPr id="13" name="TextBox 12"/>
          <p:cNvSpPr txBox="1"/>
          <p:nvPr/>
        </p:nvSpPr>
        <p:spPr>
          <a:xfrm>
            <a:off x="731520" y="6327648"/>
            <a:ext cx="3200400" cy="320040"/>
          </a:xfrm>
          <a:prstGeom prst="rect">
            <a:avLst/>
          </a:prstGeom>
          <a:noFill/>
        </p:spPr>
        <p:txBody>
          <a:bodyPr wrap="none" lIns="0" tIns="0" rIns="0" bIns="0">
            <a:spAutoFit/>
          </a:bodyPr>
          <a:lstStyle/>
          <a:p>
            <a:pPr algn="l">
              <a:defRPr sz="1050">
                <a:solidFill>
                  <a:srgbClr val="94A3B8"/>
                </a:solidFill>
                <a:latin typeface="Tahoma"/>
              </a:defRPr>
            </a:pPr>
            <a:r>
              <a:t>ضریب کاپای کوهن: 0.831 (معادل توافق پزشکان فوق تخصص)</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0" y="320040"/>
            <a:ext cx="8229600" cy="1051560"/>
          </a:xfrm>
          <a:prstGeom prst="rect">
            <a:avLst/>
          </a:prstGeom>
          <a:noFill/>
        </p:spPr>
        <p:txBody>
          <a:bodyPr wrap="square" lIns="0" tIns="0" rIns="0" bIns="0">
            <a:spAutoFit/>
          </a:bodyPr>
          <a:lstStyle/>
          <a:p>
            <a:pPr algn="r">
              <a:defRPr sz="1150" b="1">
                <a:solidFill>
                  <a:srgbClr val="14B8A6"/>
                </a:solidFill>
                <a:latin typeface="Tahoma"/>
              </a:defRPr>
            </a:pPr>
            <a:r>
              <a:t>تحلیل‌های فنی استیجینگ</a:t>
            </a:r>
          </a:p>
          <a:p>
            <a:pPr algn="r">
              <a:spcBef>
                <a:spcPts val="300"/>
              </a:spcBef>
              <a:defRPr sz="2400" b="1">
                <a:solidFill>
                  <a:srgbClr val="F8FAFC"/>
                </a:solidFill>
                <a:latin typeface="Tahoma"/>
              </a:defRPr>
            </a:pPr>
            <a:r>
              <a:t>کاهش سنسورها و هوش مصنوعی تفسیرپذیر (XAI)</a:t>
            </a:r>
          </a:p>
          <a:p>
            <a:pPr algn="r">
              <a:spcBef>
                <a:spcPts val="300"/>
              </a:spcBef>
              <a:defRPr sz="1250">
                <a:solidFill>
                  <a:srgbClr val="06B6D4"/>
                </a:solidFill>
                <a:latin typeface="Tahoma"/>
              </a:defRPr>
            </a:pPr>
            <a:r>
              <a:t>کشف حداقل چیدمان سخت‌افزاری پوشیدنی و بازرسی توجه فیزیولوژیک شبکه عمیق</a:t>
            </a:r>
          </a:p>
        </p:txBody>
      </p:sp>
      <p:sp>
        <p:nvSpPr>
          <p:cNvPr id="4" name="Rounded Rectangle 3"/>
          <p:cNvSpPr/>
          <p:nvPr/>
        </p:nvSpPr>
        <p:spPr>
          <a:xfrm>
            <a:off x="731520" y="365760"/>
            <a:ext cx="2316175" cy="438912"/>
          </a:xfrm>
          <a:prstGeom prst="roundRect">
            <a:avLst/>
          </a:prstGeom>
          <a:solidFill>
            <a:srgbClr val="082F49"/>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6B6D4"/>
                </a:solidFill>
                <a:latin typeface="Tahoma"/>
              </a:defRPr>
            </a:pPr>
            <a:r>
              <a:t>۲:۲۵ – ۳:۱۵ | ۵۰s</a:t>
            </a:r>
          </a:p>
        </p:txBody>
      </p:sp>
      <p:sp>
        <p:nvSpPr>
          <p:cNvPr id="5" name="Rounded Rectangle 4"/>
          <p:cNvSpPr/>
          <p:nvPr/>
        </p:nvSpPr>
        <p:spPr>
          <a:xfrm>
            <a:off x="6263640" y="1463040"/>
            <a:ext cx="5193792"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645920"/>
            <a:ext cx="4736592" cy="4297680"/>
          </a:xfrm>
          <a:prstGeom prst="rect">
            <a:avLst/>
          </a:prstGeom>
          <a:noFill/>
        </p:spPr>
        <p:txBody>
          <a:bodyPr wrap="square" lIns="0" tIns="0" rIns="0" bIns="0">
            <a:spAutoFit/>
          </a:bodyPr>
          <a:lstStyle/>
          <a:p>
            <a:pPr algn="r">
              <a:defRPr sz="1600" b="1">
                <a:solidFill>
                  <a:srgbClr val="14B8A6"/>
                </a:solidFill>
                <a:latin typeface="Tahoma"/>
              </a:defRPr>
            </a:pPr>
            <a:r>
              <a:t>🔌 ارزیابی کاهش کانال‌ها برای گجت‌های پوشیدنی</a:t>
            </a:r>
          </a:p>
          <a:p>
            <a:pPr algn="r">
              <a:spcBef>
                <a:spcPts val="800"/>
              </a:spcBef>
              <a:defRPr sz="1250">
                <a:solidFill>
                  <a:srgbClr val="F8FAFC"/>
                </a:solidFill>
                <a:latin typeface="Tahoma"/>
              </a:defRPr>
            </a:pPr>
            <a:r>
              <a:t>سیستم ۳ کاناله کامل (Fpz-Cz + Pz-Oz + EOG):  ◀──  0.8267 F1 (مرجع)</a:t>
            </a:r>
          </a:p>
          <a:p>
            <a:pPr algn="r">
              <a:spcBef>
                <a:spcPts val="800"/>
              </a:spcBef>
              <a:defRPr sz="1250" b="1">
                <a:solidFill>
                  <a:srgbClr val="06B6D4"/>
                </a:solidFill>
                <a:latin typeface="Tahoma"/>
              </a:defRPr>
            </a:pPr>
            <a:r>
              <a:t>★ چیدمان ۲ سنسوره (Fpz-Cz + EOG):  ◀──  0.8227 F1 (تنها 0.004- افت!)</a:t>
            </a:r>
          </a:p>
          <a:p>
            <a:pPr algn="r">
              <a:spcBef>
                <a:spcPts val="800"/>
              </a:spcBef>
              <a:defRPr sz="1250">
                <a:solidFill>
                  <a:srgbClr val="CBD5E1"/>
                </a:solidFill>
                <a:latin typeface="Tahoma"/>
              </a:defRPr>
            </a:pPr>
            <a:r>
              <a:t>دو کانال مغزی بدون چشم (Fpz-Cz + Pz-Oz):  ◀──  0.8134 F1 (افت 0.013)</a:t>
            </a:r>
          </a:p>
          <a:p>
            <a:pPr algn="r">
              <a:spcBef>
                <a:spcPts val="800"/>
              </a:spcBef>
              <a:defRPr sz="1250">
                <a:solidFill>
                  <a:srgbClr val="CBD5E1"/>
                </a:solidFill>
                <a:latin typeface="Tahoma"/>
              </a:defRPr>
            </a:pPr>
            <a:r>
              <a:t>تک الکترود پیشانی (Fpz-Cz):  ◀──  0.8015 F1 (افت 0.025)</a:t>
            </a:r>
          </a:p>
          <a:p>
            <a:pPr algn="r">
              <a:spcBef>
                <a:spcPts val="800"/>
              </a:spcBef>
              <a:defRPr sz="1250">
                <a:solidFill>
                  <a:srgbClr val="CBD5E1"/>
                </a:solidFill>
                <a:latin typeface="Tahoma"/>
              </a:defRPr>
            </a:pPr>
            <a:r>
              <a:t>تک الکترود پس‌سری (Pz-Oz):  ◀──  0.7736 F1 (افت 0.053)</a:t>
            </a:r>
          </a:p>
          <a:p>
            <a:pPr algn="r">
              <a:spcBef>
                <a:spcPts val="1400"/>
              </a:spcBef>
              <a:defRPr sz="1150">
                <a:solidFill>
                  <a:srgbClr val="CBD5E1"/>
                </a:solidFill>
                <a:latin typeface="Tahoma"/>
              </a:defRPr>
            </a:pPr>
            <a:r>
              <a:t>نتیجه بالینی: کانال پس‌سری Pz-Oz کاملا قابل حذف است. افزودن EOG به الکترود پیشانی به طور مستقیم سیگنال دو‌قطبی چشم را ثبت کرده و ریکال خواب REM را به 0.913 می‌رساند (بالاتر از 0.897 در سیستم ۳ کاناله!).</a:t>
            </a:r>
          </a:p>
        </p:txBody>
      </p:sp>
      <p:sp>
        <p:nvSpPr>
          <p:cNvPr id="7" name="Rounded Rectangle 6"/>
          <p:cNvSpPr/>
          <p:nvPr/>
        </p:nvSpPr>
        <p:spPr>
          <a:xfrm>
            <a:off x="731520" y="1463040"/>
            <a:ext cx="516636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4297680"/>
          </a:xfrm>
          <a:prstGeom prst="rect">
            <a:avLst/>
          </a:prstGeom>
          <a:noFill/>
        </p:spPr>
        <p:txBody>
          <a:bodyPr wrap="square" lIns="0" tIns="0" rIns="0" bIns="0">
            <a:spAutoFit/>
          </a:bodyPr>
          <a:lstStyle/>
          <a:p>
            <a:pPr algn="r">
              <a:defRPr sz="1600" b="1">
                <a:solidFill>
                  <a:srgbClr val="06B6D4"/>
                </a:solidFill>
                <a:latin typeface="Tahoma"/>
              </a:defRPr>
            </a:pPr>
            <a:r>
              <a:t>🔍 فیزیولوژی توجه لایه‌ای و کالیبراسیون اطمینان</a:t>
            </a:r>
          </a:p>
          <a:p>
            <a:pPr algn="r">
              <a:spcBef>
                <a:spcPts val="1000"/>
              </a:spcBef>
              <a:defRPr sz="1300" b="1">
                <a:solidFill>
                  <a:srgbClr val="F8FAFC"/>
                </a:solidFill>
                <a:latin typeface="Tahoma"/>
              </a:defRPr>
            </a:pPr>
            <a:r>
              <a:t>توزیع توجه لایه ۱۲ شبکه (Skip Connections) کاملا منطبق بر قواعد پزشکی:</a:t>
            </a:r>
          </a:p>
          <a:p>
            <a:pPr algn="r">
              <a:spcBef>
                <a:spcPts val="500"/>
              </a:spcBef>
              <a:defRPr sz="1200">
                <a:solidFill>
                  <a:srgbClr val="CBD5E1"/>
                </a:solidFill>
                <a:latin typeface="Tahoma"/>
              </a:defRPr>
            </a:pPr>
            <a:r>
              <a:t>• بیداری (Wake): ۶۷.۲٪ توجه روی Pz (ردیابی محو شدن ریتم آلفا)</a:t>
            </a:r>
          </a:p>
          <a:p>
            <a:pPr algn="r">
              <a:spcBef>
                <a:spcPts val="500"/>
              </a:spcBef>
              <a:defRPr sz="1200">
                <a:solidFill>
                  <a:srgbClr val="CBD5E1"/>
                </a:solidFill>
                <a:latin typeface="Tahoma"/>
              </a:defRPr>
            </a:pPr>
            <a:r>
              <a:t>• خواب عمیق (N3): ۹۳.۰٪ توجه روی امواج مغزی (امواج دلتای کورتکس، چشم آرام)</a:t>
            </a:r>
          </a:p>
          <a:p>
            <a:pPr algn="r">
              <a:spcBef>
                <a:spcPts val="500"/>
              </a:spcBef>
              <a:defRPr sz="1200">
                <a:solidFill>
                  <a:srgbClr val="CBD5E1"/>
                </a:solidFill>
                <a:latin typeface="Tahoma"/>
              </a:defRPr>
            </a:pPr>
            <a:r>
              <a:t>• خواب رویابینی (REM): ۵۲.۰٪ توجه روی EOG (ردیابی پرش‌های سریع چشم در آتونی)</a:t>
            </a:r>
          </a:p>
          <a:p>
            <a:pPr algn="r">
              <a:spcBef>
                <a:spcPts val="1200"/>
              </a:spcBef>
              <a:defRPr sz="1300" b="1">
                <a:solidFill>
                  <a:srgbClr val="F8FAFC"/>
                </a:solidFill>
                <a:latin typeface="Tahoma"/>
              </a:defRPr>
            </a:pPr>
            <a:r>
              <a:t>کالیبراسیون یکنوای اطمینان مدل (ECE = 0.029):</a:t>
            </a:r>
          </a:p>
          <a:p>
            <a:pPr algn="r">
              <a:spcBef>
                <a:spcPts val="500"/>
              </a:spcBef>
              <a:defRPr sz="1150">
                <a:solidFill>
                  <a:srgbClr val="CBD5E1"/>
                </a:solidFill>
                <a:latin typeface="Tahoma"/>
              </a:defRPr>
            </a:pPr>
            <a:r>
              <a:t>• اطمینان بالای ۹۰٪ (۳۰.۳٪ کل شب): دارای دقت تجربی ۹۹.۵٪!</a:t>
            </a:r>
            <a:br/>
            <a:r>
              <a:t>• اطمینان زیر ۶۰٪ (~۱۵٪ کل شب): برچسب‌گذاری با needs_review = true</a:t>
            </a:r>
            <a:br/>
            <a:r>
              <a:t>• پزشک در چرخه (Doctor-in-the-Loop): متخصص فقط ایپاک‌های مرزی را چک می‌کند.</a:t>
            </a:r>
          </a:p>
        </p:txBody>
      </p:sp>
      <p:sp>
        <p:nvSpPr>
          <p:cNvPr id="9" name="TextBox 8"/>
          <p:cNvSpPr txBox="1"/>
          <p:nvPr/>
        </p:nvSpPr>
        <p:spPr>
          <a:xfrm>
            <a:off x="3657600" y="6327648"/>
            <a:ext cx="7802575" cy="320040"/>
          </a:xfrm>
          <a:prstGeom prst="rect">
            <a:avLst/>
          </a:prstGeom>
          <a:noFill/>
        </p:spPr>
        <p:txBody>
          <a:bodyPr wrap="none" lIns="0" tIns="0" rIns="0" bIns="0">
            <a:spAutoFit/>
          </a:bodyPr>
          <a:lstStyle/>
          <a:p>
            <a:pPr algn="r">
              <a:defRPr sz="1050">
                <a:solidFill>
                  <a:srgbClr val="94A3B8"/>
                </a:solidFill>
                <a:latin typeface="Tahoma"/>
              </a:defRPr>
            </a:pPr>
            <a:r>
              <a:t>هدف سخت‌افزاری: هدبند خانگی با ۲ سنسور پیشانی (Fpz-Cz + EOG)</a:t>
            </a:r>
          </a:p>
        </p:txBody>
      </p:sp>
      <p:sp>
        <p:nvSpPr>
          <p:cNvPr id="10" name="TextBox 9"/>
          <p:cNvSpPr txBox="1"/>
          <p:nvPr/>
        </p:nvSpPr>
        <p:spPr>
          <a:xfrm>
            <a:off x="731520" y="6327648"/>
            <a:ext cx="3200400" cy="320040"/>
          </a:xfrm>
          <a:prstGeom prst="rect">
            <a:avLst/>
          </a:prstGeom>
          <a:noFill/>
        </p:spPr>
        <p:txBody>
          <a:bodyPr wrap="none" lIns="0" tIns="0" rIns="0" bIns="0">
            <a:spAutoFit/>
          </a:bodyPr>
          <a:lstStyle/>
          <a:p>
            <a:pPr algn="l">
              <a:defRPr sz="1050">
                <a:solidFill>
                  <a:srgbClr val="94A3B8"/>
                </a:solidFill>
                <a:latin typeface="Tahoma"/>
              </a:defRPr>
            </a:pPr>
            <a:r>
              <a:t>خطای کالیبراسیون مورد انتظار: ECE = 0.029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0" y="320040"/>
            <a:ext cx="8229600" cy="1051560"/>
          </a:xfrm>
          <a:prstGeom prst="rect">
            <a:avLst/>
          </a:prstGeom>
          <a:noFill/>
        </p:spPr>
        <p:txBody>
          <a:bodyPr wrap="square" lIns="0" tIns="0" rIns="0" bIns="0">
            <a:spAutoFit/>
          </a:bodyPr>
          <a:lstStyle/>
          <a:p>
            <a:pPr algn="r">
              <a:defRPr sz="1150" b="1">
                <a:solidFill>
                  <a:srgbClr val="14B8A6"/>
                </a:solidFill>
                <a:latin typeface="Tahoma"/>
              </a:defRPr>
            </a:pPr>
            <a:r>
              <a:t>مدل مرحله دوم هوش مصنوعی</a:t>
            </a:r>
          </a:p>
          <a:p>
            <a:pPr algn="r">
              <a:spcBef>
                <a:spcPts val="300"/>
              </a:spcBef>
              <a:defRPr sz="2400" b="1">
                <a:solidFill>
                  <a:srgbClr val="F8FAFC"/>
                </a:solidFill>
                <a:latin typeface="Tahoma"/>
              </a:defRPr>
            </a:pPr>
            <a:r>
              <a:t>مدل دوم: عمق پیوسته خواب (SDI) و موتور ۹۶ ویژگی</a:t>
            </a:r>
          </a:p>
          <a:p>
            <a:pPr algn="r">
              <a:spcBef>
                <a:spcPts val="300"/>
              </a:spcBef>
              <a:defRPr sz="1250">
                <a:solidFill>
                  <a:srgbClr val="06B6D4"/>
                </a:solidFill>
                <a:latin typeface="Tahoma"/>
              </a:defRPr>
            </a:pPr>
            <a:r>
              <a:t>گذار از ۵ پله گسسته به عمق پیوسته همگام‌سازی بیولوژیکی مغز</a:t>
            </a:r>
          </a:p>
        </p:txBody>
      </p:sp>
      <p:sp>
        <p:nvSpPr>
          <p:cNvPr id="4" name="Rounded Rectangle 3"/>
          <p:cNvSpPr/>
          <p:nvPr/>
        </p:nvSpPr>
        <p:spPr>
          <a:xfrm>
            <a:off x="731520" y="365760"/>
            <a:ext cx="2316175" cy="438912"/>
          </a:xfrm>
          <a:prstGeom prst="roundRect">
            <a:avLst/>
          </a:prstGeom>
          <a:solidFill>
            <a:srgbClr val="082F49"/>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6B6D4"/>
                </a:solidFill>
                <a:latin typeface="Tahoma"/>
              </a:defRPr>
            </a:pPr>
            <a:r>
              <a:t>۳:۱۵ – ۴:۰۵ | ۵۰s</a:t>
            </a:r>
          </a:p>
        </p:txBody>
      </p:sp>
      <p:sp>
        <p:nvSpPr>
          <p:cNvPr id="5" name="Rounded Rectangle 4"/>
          <p:cNvSpPr/>
          <p:nvPr/>
        </p:nvSpPr>
        <p:spPr>
          <a:xfrm>
            <a:off x="731520" y="1463040"/>
            <a:ext cx="10728655" cy="2148840"/>
          </a:xfrm>
          <a:prstGeom prst="roundRect">
            <a:avLst/>
          </a:prstGeom>
          <a:solidFill>
            <a:srgbClr val="1E293B"/>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00200"/>
            <a:ext cx="10271455" cy="1874519"/>
          </a:xfrm>
          <a:prstGeom prst="rect">
            <a:avLst/>
          </a:prstGeom>
          <a:noFill/>
        </p:spPr>
        <p:txBody>
          <a:bodyPr wrap="square" lIns="0" tIns="0" rIns="0" bIns="0">
            <a:spAutoFit/>
          </a:bodyPr>
          <a:lstStyle/>
          <a:p>
            <a:pPr algn="r">
              <a:defRPr sz="1600" b="1">
                <a:solidFill>
                  <a:srgbClr val="06B6D4"/>
                </a:solidFill>
                <a:latin typeface="Tahoma"/>
              </a:defRPr>
            </a:pPr>
            <a:r>
              <a:t>شبکه ترنسفورمر SDI (منتشر شده در مجله معتبر npj Digital Medicine 2025)</a:t>
            </a:r>
          </a:p>
          <a:p>
            <a:pPr algn="r">
              <a:spcBef>
                <a:spcPts val="500"/>
              </a:spcBef>
              <a:defRPr sz="1250">
                <a:solidFill>
                  <a:srgbClr val="F8FAFC"/>
                </a:solidFill>
                <a:latin typeface="Tahoma"/>
              </a:defRPr>
            </a:pPr>
            <a:r>
              <a:t>تخمین شاخص پیوسته عمق خواب (۰.۰ = بیداری/خواب سبک تا ۱.۰ = اوج امواج آهسته عمیق) برای هر ایپاک ۳۰ ثانیه‌ای. برخلاف استیجینگ گسسته سنتی، مدل SDI می‌تواند میکرو-بیداری‌ها، تخلیه بار خستگی روزانه و الگوهای متناوب حلقوی (CAP) را به دقت ردیابی کند.</a:t>
            </a:r>
          </a:p>
          <a:p>
            <a:pPr algn="r">
              <a:spcBef>
                <a:spcPts val="800"/>
              </a:spcBef>
              <a:defRPr sz="1150" b="1">
                <a:solidFill>
                  <a:srgbClr val="14B8A6"/>
                </a:solidFill>
                <a:latin typeface="Tahoma"/>
              </a:defRPr>
            </a:pPr>
            <a:r>
              <a:t>بردار پنج‌گانه استاندارد تحقیقاتی ژو و همکاران:  [RB: بار خواب سطحی SDI &lt; 0.20]  •  [AP: میانگین عمق خواب]  •  [CV: ناپایداری و نوسان عمق]  •  [MDR: میانگین عمق در REM]  •  [PR: سهم فاز REM]</a:t>
            </a:r>
          </a:p>
        </p:txBody>
      </p:sp>
      <p:sp>
        <p:nvSpPr>
          <p:cNvPr id="7" name="Rounded Rectangle 6"/>
          <p:cNvSpPr/>
          <p:nvPr/>
        </p:nvSpPr>
        <p:spPr>
          <a:xfrm>
            <a:off x="731520" y="3749039"/>
            <a:ext cx="10728655" cy="24231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3886200"/>
            <a:ext cx="10271455" cy="2148840"/>
          </a:xfrm>
          <a:prstGeom prst="rect">
            <a:avLst/>
          </a:prstGeom>
          <a:noFill/>
        </p:spPr>
        <p:txBody>
          <a:bodyPr wrap="square" lIns="0" tIns="0" rIns="0" bIns="0">
            <a:spAutoFit/>
          </a:bodyPr>
          <a:lstStyle/>
          <a:p>
            <a:pPr algn="r">
              <a:defRPr sz="1600" b="1">
                <a:solidFill>
                  <a:srgbClr val="14B8A6"/>
                </a:solidFill>
                <a:latin typeface="Tahoma"/>
              </a:defRPr>
            </a:pPr>
            <a:r>
              <a:t>📈 موتور استخراج پارامترهای جامع فیزیولوژیک (~۹۶ شاخص بالینی)</a:t>
            </a:r>
          </a:p>
        </p:txBody>
      </p:sp>
      <p:sp>
        <p:nvSpPr>
          <p:cNvPr id="9" name="TextBox 8"/>
          <p:cNvSpPr txBox="1"/>
          <p:nvPr/>
        </p:nvSpPr>
        <p:spPr>
          <a:xfrm>
            <a:off x="8778240" y="4251960"/>
            <a:ext cx="2468880" cy="1783080"/>
          </a:xfrm>
          <a:prstGeom prst="rect">
            <a:avLst/>
          </a:prstGeom>
          <a:noFill/>
        </p:spPr>
        <p:txBody>
          <a:bodyPr wrap="square" lIns="0" tIns="0" rIns="0" bIns="0">
            <a:spAutoFit/>
          </a:bodyPr>
          <a:lstStyle/>
          <a:p>
            <a:pPr algn="r">
              <a:defRPr sz="1250" b="1">
                <a:solidFill>
                  <a:srgbClr val="F8FAFC"/>
                </a:solidFill>
                <a:latin typeface="Tahoma"/>
              </a:defRPr>
            </a:pPr>
            <a:r>
              <a:t>پیوستگی و پراکندگی خواب</a:t>
            </a:r>
          </a:p>
          <a:p>
            <a:pPr algn="r">
              <a:spcBef>
                <a:spcPts val="400"/>
              </a:spcBef>
              <a:defRPr sz="1100">
                <a:solidFill>
                  <a:srgbClr val="CBD5E1"/>
                </a:solidFill>
                <a:latin typeface="Tahoma"/>
              </a:defRPr>
            </a:pPr>
            <a:r>
              <a:t>• زمان کل خواب، TIB، بهره‌وری SE%</a:t>
            </a:r>
            <a:br/>
            <a:r>
              <a:t>• تاخیر شروع خواب، WASO، تاخیر REM</a:t>
            </a:r>
            <a:br/>
            <a:r>
              <a:t>• شاخص بیداری‌های مکرر</a:t>
            </a:r>
            <a:br/>
            <a:r>
              <a:t>• شاخص قطعه‌قطعه شدن خواب (SFI)</a:t>
            </a:r>
          </a:p>
        </p:txBody>
      </p:sp>
      <p:sp>
        <p:nvSpPr>
          <p:cNvPr id="10" name="TextBox 9"/>
          <p:cNvSpPr txBox="1"/>
          <p:nvPr/>
        </p:nvSpPr>
        <p:spPr>
          <a:xfrm>
            <a:off x="6172200" y="4251960"/>
            <a:ext cx="2468880" cy="1783080"/>
          </a:xfrm>
          <a:prstGeom prst="rect">
            <a:avLst/>
          </a:prstGeom>
          <a:noFill/>
        </p:spPr>
        <p:txBody>
          <a:bodyPr wrap="square" lIns="0" tIns="0" rIns="0" bIns="0">
            <a:spAutoFit/>
          </a:bodyPr>
          <a:lstStyle/>
          <a:p>
            <a:pPr algn="r">
              <a:defRPr sz="1250" b="1">
                <a:solidFill>
                  <a:srgbClr val="F8FAFC"/>
                </a:solidFill>
                <a:latin typeface="Tahoma"/>
              </a:defRPr>
            </a:pPr>
            <a:r>
              <a:t>ساختار ماکرو و دینامیک</a:t>
            </a:r>
          </a:p>
          <a:p>
            <a:pPr algn="r">
              <a:spcBef>
                <a:spcPts val="400"/>
              </a:spcBef>
              <a:defRPr sz="1100">
                <a:solidFill>
                  <a:srgbClr val="CBD5E1"/>
                </a:solidFill>
                <a:latin typeface="Tahoma"/>
              </a:defRPr>
            </a:pPr>
            <a:r>
              <a:t>• سهم درصدی استیج‌های N1, N2, N3, REM</a:t>
            </a:r>
            <a:br/>
            <a:r>
              <a:t>• جابجایی استیج‌ها در نیمه اول و دوم شب</a:t>
            </a:r>
            <a:br/>
            <a:r>
              <a:t>• طول دوره‌های خواب مداوم</a:t>
            </a:r>
            <a:br/>
            <a:r>
              <a:t>• ماتریس گذار مارکوف ۵×۵</a:t>
            </a:r>
          </a:p>
        </p:txBody>
      </p:sp>
      <p:sp>
        <p:nvSpPr>
          <p:cNvPr id="11" name="TextBox 10"/>
          <p:cNvSpPr txBox="1"/>
          <p:nvPr/>
        </p:nvSpPr>
        <p:spPr>
          <a:xfrm>
            <a:off x="3566160" y="4251960"/>
            <a:ext cx="2468880" cy="1783080"/>
          </a:xfrm>
          <a:prstGeom prst="rect">
            <a:avLst/>
          </a:prstGeom>
          <a:noFill/>
        </p:spPr>
        <p:txBody>
          <a:bodyPr wrap="square" lIns="0" tIns="0" rIns="0" bIns="0">
            <a:spAutoFit/>
          </a:bodyPr>
          <a:lstStyle/>
          <a:p>
            <a:pPr algn="r">
              <a:defRPr sz="1250" b="1">
                <a:solidFill>
                  <a:srgbClr val="F8FAFC"/>
                </a:solidFill>
                <a:latin typeface="Tahoma"/>
              </a:defRPr>
            </a:pPr>
            <a:r>
              <a:t>دینامیک طیفی مغز (EEG)</a:t>
            </a:r>
          </a:p>
          <a:p>
            <a:pPr algn="r">
              <a:spcBef>
                <a:spcPts val="400"/>
              </a:spcBef>
              <a:defRPr sz="1100">
                <a:solidFill>
                  <a:srgbClr val="CBD5E1"/>
                </a:solidFill>
                <a:latin typeface="Tahoma"/>
              </a:defRPr>
            </a:pPr>
            <a:r>
              <a:t>• توان طیفی ولچ (دلتا، تتا، آلفا، سیگما، بتا)</a:t>
            </a:r>
            <a:br/>
            <a:r>
              <a:t>• فعالیت امواج آهسته مغزی (SWA)</a:t>
            </a:r>
            <a:br/>
            <a:r>
              <a:t>• آنتروپی طیفی سیگنال</a:t>
            </a:r>
            <a:br/>
            <a:r>
              <a:t>• آنتروپی جایگشتی در فازهای مختلف</a:t>
            </a:r>
          </a:p>
        </p:txBody>
      </p:sp>
      <p:sp>
        <p:nvSpPr>
          <p:cNvPr id="12" name="TextBox 11"/>
          <p:cNvSpPr txBox="1"/>
          <p:nvPr/>
        </p:nvSpPr>
        <p:spPr>
          <a:xfrm>
            <a:off x="960120" y="4251960"/>
            <a:ext cx="2468880" cy="1783080"/>
          </a:xfrm>
          <a:prstGeom prst="rect">
            <a:avLst/>
          </a:prstGeom>
          <a:noFill/>
        </p:spPr>
        <p:txBody>
          <a:bodyPr wrap="square" lIns="0" tIns="0" rIns="0" bIns="0">
            <a:spAutoFit/>
          </a:bodyPr>
          <a:lstStyle/>
          <a:p>
            <a:pPr algn="r">
              <a:defRPr sz="1250" b="1">
                <a:solidFill>
                  <a:srgbClr val="F8FAFC"/>
                </a:solidFill>
                <a:latin typeface="Tahoma"/>
              </a:defRPr>
            </a:pPr>
            <a:r>
              <a:t>ریزساختار و سیگنال عضله</a:t>
            </a:r>
          </a:p>
          <a:p>
            <a:pPr algn="r">
              <a:spcBef>
                <a:spcPts val="400"/>
              </a:spcBef>
              <a:defRPr sz="1100">
                <a:solidFill>
                  <a:srgbClr val="CBD5E1"/>
                </a:solidFill>
                <a:latin typeface="Tahoma"/>
              </a:defRPr>
            </a:pPr>
            <a:r>
              <a:t>• چگالی و دامنه دوک‌های خواب YASA (N2)</a:t>
            </a:r>
            <a:br/>
            <a:r>
              <a:t>• دامنه و مدت امواج آهسته مغز</a:t>
            </a:r>
            <a:br/>
            <a:r>
              <a:t>• توان RMS عضله زیر چانه (EMG)</a:t>
            </a:r>
            <a:br/>
            <a:r>
              <a:t>• نسبت آتونی عضلانی در فاز REM</a:t>
            </a:r>
          </a:p>
        </p:txBody>
      </p:sp>
      <p:sp>
        <p:nvSpPr>
          <p:cNvPr id="13" name="TextBox 12"/>
          <p:cNvSpPr txBox="1"/>
          <p:nvPr/>
        </p:nvSpPr>
        <p:spPr>
          <a:xfrm>
            <a:off x="3657600" y="6327648"/>
            <a:ext cx="7802575" cy="320040"/>
          </a:xfrm>
          <a:prstGeom prst="rect">
            <a:avLst/>
          </a:prstGeom>
          <a:noFill/>
        </p:spPr>
        <p:txBody>
          <a:bodyPr wrap="none" lIns="0" tIns="0" rIns="0" bIns="0">
            <a:spAutoFit/>
          </a:bodyPr>
          <a:lstStyle/>
          <a:p>
            <a:pPr algn="r">
              <a:defRPr sz="1050">
                <a:solidFill>
                  <a:srgbClr val="94A3B8"/>
                </a:solidFill>
                <a:latin typeface="Tahoma"/>
              </a:defRPr>
            </a:pPr>
            <a:r>
              <a:t>دیدگاه دوگانه: هیپنوگرام گسسته کلان + عمق پیوسته و ریزساختارهای خواب</a:t>
            </a:r>
          </a:p>
        </p:txBody>
      </p:sp>
      <p:sp>
        <p:nvSpPr>
          <p:cNvPr id="14" name="TextBox 13"/>
          <p:cNvSpPr txBox="1"/>
          <p:nvPr/>
        </p:nvSpPr>
        <p:spPr>
          <a:xfrm>
            <a:off x="731520" y="6327648"/>
            <a:ext cx="3200400" cy="320040"/>
          </a:xfrm>
          <a:prstGeom prst="rect">
            <a:avLst/>
          </a:prstGeom>
          <a:noFill/>
        </p:spPr>
        <p:txBody>
          <a:bodyPr wrap="none" lIns="0" tIns="0" rIns="0" bIns="0">
            <a:spAutoFit/>
          </a:bodyPr>
          <a:lstStyle/>
          <a:p>
            <a:pPr algn="l">
              <a:defRPr sz="1050">
                <a:solidFill>
                  <a:srgbClr val="94A3B8"/>
                </a:solidFill>
                <a:latin typeface="Tahoma"/>
              </a:defRPr>
            </a:pPr>
            <a:r>
              <a:t>خروجی: ۹۶ ویژگی بالینی برای هر شب آزمایش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0" y="320040"/>
            <a:ext cx="8229600" cy="1051560"/>
          </a:xfrm>
          <a:prstGeom prst="rect">
            <a:avLst/>
          </a:prstGeom>
          <a:noFill/>
        </p:spPr>
        <p:txBody>
          <a:bodyPr wrap="square" lIns="0" tIns="0" rIns="0" bIns="0">
            <a:spAutoFit/>
          </a:bodyPr>
          <a:lstStyle/>
          <a:p>
            <a:pPr algn="r">
              <a:defRPr sz="1150" b="1">
                <a:solidFill>
                  <a:srgbClr val="14B8A6"/>
                </a:solidFill>
                <a:latin typeface="Tahoma"/>
              </a:defRPr>
            </a:pPr>
            <a:r>
              <a:t>هوش تشخیصی بالینی</a:t>
            </a:r>
          </a:p>
          <a:p>
            <a:pPr algn="r">
              <a:spcBef>
                <a:spcPts val="300"/>
              </a:spcBef>
              <a:defRPr sz="2400" b="1">
                <a:solidFill>
                  <a:srgbClr val="F8FAFC"/>
                </a:solidFill>
                <a:latin typeface="Tahoma"/>
              </a:defRPr>
            </a:pPr>
            <a:r>
              <a:t>شاخص کیفیت خواب و امتیازدهی چندوجهی</a:t>
            </a:r>
          </a:p>
          <a:p>
            <a:pPr algn="r">
              <a:spcBef>
                <a:spcPts val="300"/>
              </a:spcBef>
              <a:defRPr sz="1250">
                <a:solidFill>
                  <a:srgbClr val="06B6D4"/>
                </a:solidFill>
                <a:latin typeface="Tahoma"/>
              </a:defRPr>
            </a:pPr>
            <a:r>
              <a:t>سنتز ۹۶ پارامتر فیزیولوژیک عینی، عمق پیوسته و ادراک ذهنی بیمار</a:t>
            </a:r>
          </a:p>
        </p:txBody>
      </p:sp>
      <p:sp>
        <p:nvSpPr>
          <p:cNvPr id="4" name="Rounded Rectangle 3"/>
          <p:cNvSpPr/>
          <p:nvPr/>
        </p:nvSpPr>
        <p:spPr>
          <a:xfrm>
            <a:off x="731520" y="365760"/>
            <a:ext cx="2316175" cy="438912"/>
          </a:xfrm>
          <a:prstGeom prst="roundRect">
            <a:avLst/>
          </a:prstGeom>
          <a:solidFill>
            <a:srgbClr val="082F49"/>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6B6D4"/>
                </a:solidFill>
                <a:latin typeface="Tahoma"/>
              </a:defRPr>
            </a:pPr>
            <a:r>
              <a:t>۴:۰۵ – ۴:۵۵ | ۵۰s</a:t>
            </a:r>
          </a:p>
        </p:txBody>
      </p:sp>
      <p:sp>
        <p:nvSpPr>
          <p:cNvPr id="5" name="Rounded Rectangle 4"/>
          <p:cNvSpPr/>
          <p:nvPr/>
        </p:nvSpPr>
        <p:spPr>
          <a:xfrm>
            <a:off x="6263640" y="1463040"/>
            <a:ext cx="5193792"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645920"/>
            <a:ext cx="4736592" cy="4297680"/>
          </a:xfrm>
          <a:prstGeom prst="rect">
            <a:avLst/>
          </a:prstGeom>
          <a:noFill/>
        </p:spPr>
        <p:txBody>
          <a:bodyPr wrap="square" lIns="0" tIns="0" rIns="0" bIns="0">
            <a:spAutoFit/>
          </a:bodyPr>
          <a:lstStyle/>
          <a:p>
            <a:pPr algn="r">
              <a:defRPr sz="1600" b="1">
                <a:solidFill>
                  <a:srgbClr val="14B8A6"/>
                </a:solidFill>
                <a:latin typeface="Tahoma"/>
              </a:defRPr>
            </a:pPr>
            <a:r>
              <a:t>🎯 امتیاز یکپارچه و شفاف کیفیت خواب (۰ تا ۱۰۰)</a:t>
            </a:r>
          </a:p>
          <a:p>
            <a:pPr algn="r">
              <a:spcBef>
                <a:spcPts val="400"/>
              </a:spcBef>
              <a:defRPr sz="1250">
                <a:solidFill>
                  <a:srgbClr val="F8FAFC"/>
                </a:solidFill>
                <a:latin typeface="Tahoma"/>
              </a:defRPr>
            </a:pPr>
            <a:r>
              <a:t>فرمول شفاف و غیرجعبه‌سیاه مبتنی بر ۷ مولفه کلیدی:</a:t>
            </a:r>
          </a:p>
          <a:p>
            <a:pPr algn="r">
              <a:spcBef>
                <a:spcPts val="500"/>
              </a:spcBef>
              <a:defRPr sz="1150">
                <a:solidFill>
                  <a:srgbClr val="CBD5E1"/>
                </a:solidFill>
                <a:latin typeface="Tahoma"/>
              </a:defRPr>
            </a:pPr>
            <a:r>
              <a:t>• بهره‌وری خواب (SE%): حداکثر ۲۵ امتیاز  (نسبت خواب مفید به کل زمان در بستر)</a:t>
            </a:r>
          </a:p>
          <a:p>
            <a:pPr algn="r">
              <a:spcBef>
                <a:spcPts val="500"/>
              </a:spcBef>
              <a:defRPr sz="1150">
                <a:solidFill>
                  <a:srgbClr val="CBD5E1"/>
                </a:solidFill>
                <a:latin typeface="Tahoma"/>
              </a:defRPr>
            </a:pPr>
            <a:r>
              <a:t>• عمق پیوسته خواب (Mean SDI): حداکثر ۲۵ امتیاز  (میزان اشباع امواج آهسته کورتکس)</a:t>
            </a:r>
          </a:p>
          <a:p>
            <a:pPr algn="r">
              <a:spcBef>
                <a:spcPts val="500"/>
              </a:spcBef>
              <a:defRPr sz="1150">
                <a:solidFill>
                  <a:srgbClr val="CBD5E1"/>
                </a:solidFill>
                <a:latin typeface="Tahoma"/>
              </a:defRPr>
            </a:pPr>
            <a:r>
              <a:t>• پیوستگی و عدم بیداری: حداکثر ۲۰ امتیاز  (جریمه تغییرات مکرر استیج و بیداری)</a:t>
            </a:r>
          </a:p>
          <a:p>
            <a:pPr algn="r">
              <a:spcBef>
                <a:spcPts val="500"/>
              </a:spcBef>
              <a:defRPr sz="1150">
                <a:solidFill>
                  <a:srgbClr val="CBD5E1"/>
                </a:solidFill>
                <a:latin typeface="Tahoma"/>
              </a:defRPr>
            </a:pPr>
            <a:r>
              <a:t>• سهم خواب عمیق (N3%): حداکثر ۱۰ امتیاز  (ترمیم جسمانی و بازسازی سلولی)</a:t>
            </a:r>
          </a:p>
          <a:p>
            <a:pPr algn="r">
              <a:spcBef>
                <a:spcPts val="500"/>
              </a:spcBef>
              <a:defRPr sz="1150">
                <a:solidFill>
                  <a:srgbClr val="CBD5E1"/>
                </a:solidFill>
                <a:latin typeface="Tahoma"/>
              </a:defRPr>
            </a:pPr>
            <a:r>
              <a:t>• سهم خواب رویابینی (REM%): حداکثر ۱۰ امتیاز  (تثبیت حافظه و تعادل شناختی)</a:t>
            </a:r>
          </a:p>
          <a:p>
            <a:pPr algn="r">
              <a:spcBef>
                <a:spcPts val="500"/>
              </a:spcBef>
              <a:defRPr sz="1150">
                <a:solidFill>
                  <a:srgbClr val="CBD5E1"/>
                </a:solidFill>
                <a:latin typeface="Tahoma"/>
              </a:defRPr>
            </a:pPr>
            <a:r>
              <a:t>• تاخیر به خواب رفتن (SOL): حداکثر ۵ امتیاز  (معیار ورود روان به خواب زیر ۳۰ دقیقه)</a:t>
            </a:r>
          </a:p>
          <a:p>
            <a:pPr algn="r">
              <a:spcBef>
                <a:spcPts val="500"/>
              </a:spcBef>
              <a:defRPr sz="1150">
                <a:solidFill>
                  <a:srgbClr val="CBD5E1"/>
                </a:solidFill>
                <a:latin typeface="Tahoma"/>
              </a:defRPr>
            </a:pPr>
            <a:r>
              <a:t>• مقاومت در برابر پراکندگی: حداکثر ۵ امتیاز  (کنترل ایپاک‌های خواب سطحی SDI &lt; 0.20)</a:t>
            </a:r>
          </a:p>
          <a:p>
            <a:pPr algn="r">
              <a:spcBef>
                <a:spcPts val="800"/>
              </a:spcBef>
              <a:defRPr sz="1150" b="1">
                <a:solidFill>
                  <a:srgbClr val="06B6D4"/>
                </a:solidFill>
                <a:latin typeface="Tahoma"/>
              </a:defRPr>
            </a:pPr>
            <a:r>
              <a:t>رتبه‌بندی بالینی:  ۸۵ تا ۱۰۰: عالی  |  ۷۰ تا ۸۴: خوب  |  ۵۵ تا ۶۹: متوسط  |  زیر ۵۵: ضعیف</a:t>
            </a:r>
          </a:p>
        </p:txBody>
      </p:sp>
      <p:sp>
        <p:nvSpPr>
          <p:cNvPr id="7" name="Rounded Rectangle 6"/>
          <p:cNvSpPr/>
          <p:nvPr/>
        </p:nvSpPr>
        <p:spPr>
          <a:xfrm>
            <a:off x="731520" y="1463040"/>
            <a:ext cx="516636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4297680"/>
          </a:xfrm>
          <a:prstGeom prst="rect">
            <a:avLst/>
          </a:prstGeom>
          <a:noFill/>
        </p:spPr>
        <p:txBody>
          <a:bodyPr wrap="square" lIns="0" tIns="0" rIns="0" bIns="0">
            <a:spAutoFit/>
          </a:bodyPr>
          <a:lstStyle/>
          <a:p>
            <a:pPr algn="r">
              <a:defRPr sz="1600" b="1">
                <a:solidFill>
                  <a:srgbClr val="06B6D4"/>
                </a:solidFill>
                <a:latin typeface="Tahoma"/>
              </a:defRPr>
            </a:pPr>
            <a:r>
              <a:t>🩺 تلفیق داده‌های عینی و ادراک ذهنی بیمار (PSQI)</a:t>
            </a:r>
          </a:p>
          <a:p>
            <a:pPr algn="r">
              <a:spcBef>
                <a:spcPts val="1000"/>
              </a:spcBef>
              <a:defRPr sz="1300" b="1">
                <a:solidFill>
                  <a:srgbClr val="F8FAFC"/>
                </a:solidFill>
                <a:latin typeface="Tahoma"/>
              </a:defRPr>
            </a:pPr>
            <a:r>
              <a:t>یکپارچگی استاندارد با پرسشنامه پیتزبورگ (PSQI):</a:t>
            </a:r>
          </a:p>
          <a:p>
            <a:pPr algn="r">
              <a:spcBef>
                <a:spcPts val="300"/>
              </a:spcBef>
              <a:defRPr sz="1200">
                <a:solidFill>
                  <a:srgbClr val="CBD5E1"/>
                </a:solidFill>
                <a:latin typeface="Tahoma"/>
              </a:defRPr>
            </a:pPr>
            <a:r>
              <a:t>شامل هر ۷ مولفه بالینی (کیفیت ذهنی، تاخیر خواب، مدت خواب، بازدهی خواب، اختلالات، مصرف دارو، و اختلال عملکرد روزانه) با امتیاز کل ۰ تا ۲۱.</a:t>
            </a:r>
          </a:p>
          <a:p>
            <a:pPr algn="r">
              <a:spcBef>
                <a:spcPts val="1200"/>
              </a:spcBef>
              <a:defRPr sz="1300" b="1">
                <a:solidFill>
                  <a:srgbClr val="F59E0B"/>
                </a:solidFill>
                <a:latin typeface="Tahoma"/>
              </a:defRPr>
            </a:pPr>
            <a:r>
              <a:t>تشخیص بی‌خوابی متناقض (Sleep State Misperception):</a:t>
            </a:r>
          </a:p>
          <a:p>
            <a:pPr algn="r">
              <a:spcBef>
                <a:spcPts val="300"/>
              </a:spcBef>
              <a:defRPr sz="1200">
                <a:solidFill>
                  <a:srgbClr val="CBD5E1"/>
                </a:solidFill>
                <a:latin typeface="Tahoma"/>
              </a:defRPr>
            </a:pPr>
            <a:r>
              <a:t>سیستم با مقایسه PSQI و PSG، بیمارانی که حس بیداری و نارضایتی شدید دارند (PSQI &gt; 12) ولی در آزمایش مغزی ساختار خواب کاملا سالم دارند را فورا شناسایی می‌کند.</a:t>
            </a:r>
          </a:p>
          <a:p>
            <a:pPr algn="r">
              <a:spcBef>
                <a:spcPts val="1200"/>
              </a:spcBef>
              <a:defRPr sz="1300" b="1">
                <a:solidFill>
                  <a:srgbClr val="10B981"/>
                </a:solidFill>
                <a:latin typeface="Tahoma"/>
              </a:defRPr>
            </a:pPr>
            <a:r>
              <a:t>سنتز خودکار گزارش پزشکی با هوش مصنوعی:</a:t>
            </a:r>
          </a:p>
          <a:p>
            <a:pPr algn="r">
              <a:spcBef>
                <a:spcPts val="300"/>
              </a:spcBef>
              <a:defRPr sz="1200">
                <a:solidFill>
                  <a:srgbClr val="CBD5E1"/>
                </a:solidFill>
                <a:latin typeface="Tahoma"/>
              </a:defRPr>
            </a:pPr>
            <a:r>
              <a:t>مدل زبانی هوشمند (gpt-6-luna) بر اساس ۹۶ پارامتر و عمق پیوسته گزارش متنی ساختاریافته پزشکی تولید می‌کند که آماده تایید و امضای پزشک است.</a:t>
            </a:r>
          </a:p>
        </p:txBody>
      </p:sp>
      <p:sp>
        <p:nvSpPr>
          <p:cNvPr id="9" name="TextBox 8"/>
          <p:cNvSpPr txBox="1"/>
          <p:nvPr/>
        </p:nvSpPr>
        <p:spPr>
          <a:xfrm>
            <a:off x="3657600" y="6327648"/>
            <a:ext cx="7802575" cy="320040"/>
          </a:xfrm>
          <a:prstGeom prst="rect">
            <a:avLst/>
          </a:prstGeom>
          <a:noFill/>
        </p:spPr>
        <p:txBody>
          <a:bodyPr wrap="none" lIns="0" tIns="0" rIns="0" bIns="0">
            <a:spAutoFit/>
          </a:bodyPr>
          <a:lstStyle/>
          <a:p>
            <a:pPr algn="r">
              <a:defRPr sz="1050">
                <a:solidFill>
                  <a:srgbClr val="94A3B8"/>
                </a:solidFill>
                <a:latin typeface="Tahoma"/>
              </a:defRPr>
            </a:pPr>
            <a:r>
              <a:t>کاربرد بالینی: تبدیل ۹۶ پارامتر پیچیده مهندسی به یک شاخص قابل‌فهم برای بیمار و پزشک</a:t>
            </a:r>
          </a:p>
        </p:txBody>
      </p:sp>
      <p:sp>
        <p:nvSpPr>
          <p:cNvPr id="10" name="TextBox 9"/>
          <p:cNvSpPr txBox="1"/>
          <p:nvPr/>
        </p:nvSpPr>
        <p:spPr>
          <a:xfrm>
            <a:off x="731520" y="6327648"/>
            <a:ext cx="3200400" cy="320040"/>
          </a:xfrm>
          <a:prstGeom prst="rect">
            <a:avLst/>
          </a:prstGeom>
          <a:noFill/>
        </p:spPr>
        <p:txBody>
          <a:bodyPr wrap="none" lIns="0" tIns="0" rIns="0" bIns="0">
            <a:spAutoFit/>
          </a:bodyPr>
          <a:lstStyle/>
          <a:p>
            <a:pPr algn="l">
              <a:defRPr sz="1050">
                <a:solidFill>
                  <a:srgbClr val="94A3B8"/>
                </a:solidFill>
                <a:latin typeface="Tahoma"/>
              </a:defRPr>
            </a:pPr>
            <a:r>
              <a:t>فرمولاسیون شفاف و کاملا قابل تفسیر</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0" y="320040"/>
            <a:ext cx="8229600" cy="1051560"/>
          </a:xfrm>
          <a:prstGeom prst="rect">
            <a:avLst/>
          </a:prstGeom>
          <a:noFill/>
        </p:spPr>
        <p:txBody>
          <a:bodyPr wrap="square" lIns="0" tIns="0" rIns="0" bIns="0">
            <a:spAutoFit/>
          </a:bodyPr>
          <a:lstStyle/>
          <a:p>
            <a:pPr algn="r">
              <a:defRPr sz="1150" b="1">
                <a:solidFill>
                  <a:srgbClr val="14B8A6"/>
                </a:solidFill>
                <a:latin typeface="Tahoma"/>
              </a:defRPr>
            </a:pPr>
            <a:r>
              <a:t>طراحی نرم‌افزار و معماری سامانه</a:t>
            </a:r>
          </a:p>
          <a:p>
            <a:pPr algn="r">
              <a:spcBef>
                <a:spcPts val="300"/>
              </a:spcBef>
              <a:defRPr sz="2400" b="1">
                <a:solidFill>
                  <a:srgbClr val="F8FAFC"/>
                </a:solidFill>
                <a:latin typeface="Tahoma"/>
              </a:defRPr>
            </a:pPr>
            <a:r>
              <a:t>معماری جامع سیستم و جریان پردازش داده‌ها</a:t>
            </a:r>
          </a:p>
          <a:p>
            <a:pPr algn="r">
              <a:spcBef>
                <a:spcPts val="300"/>
              </a:spcBef>
              <a:defRPr sz="1250">
                <a:solidFill>
                  <a:srgbClr val="06B6D4"/>
                </a:solidFill>
                <a:latin typeface="Tahoma"/>
              </a:defRPr>
            </a:pPr>
            <a:r>
              <a:t>خط لوله پردازش ناهمگام و مقیاس‌پذیر از آپلود فایل EDF تا گزارش تشخیصی نهایی</a:t>
            </a:r>
          </a:p>
        </p:txBody>
      </p:sp>
      <p:sp>
        <p:nvSpPr>
          <p:cNvPr id="4" name="Rounded Rectangle 3"/>
          <p:cNvSpPr/>
          <p:nvPr/>
        </p:nvSpPr>
        <p:spPr>
          <a:xfrm>
            <a:off x="731520" y="365760"/>
            <a:ext cx="2316175" cy="438912"/>
          </a:xfrm>
          <a:prstGeom prst="roundRect">
            <a:avLst/>
          </a:prstGeom>
          <a:solidFill>
            <a:srgbClr val="082F49"/>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6B6D4"/>
                </a:solidFill>
                <a:latin typeface="Tahoma"/>
              </a:defRPr>
            </a:pPr>
            <a:r>
              <a:t>۴:۵۵ – ۵:۴۵ | ۵۰s</a:t>
            </a:r>
          </a:p>
        </p:txBody>
      </p:sp>
      <p:sp>
        <p:nvSpPr>
          <p:cNvPr id="5" name="Rounded Rectangle 4"/>
          <p:cNvSpPr/>
          <p:nvPr/>
        </p:nvSpPr>
        <p:spPr>
          <a:xfrm>
            <a:off x="8961120" y="1463040"/>
            <a:ext cx="2499055" cy="2834640"/>
          </a:xfrm>
          <a:prstGeom prst="roundRect">
            <a:avLst/>
          </a:prstGeom>
          <a:solidFill>
            <a:srgbClr val="1E293B"/>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070848" y="1645920"/>
            <a:ext cx="2279599" cy="2468880"/>
          </a:xfrm>
          <a:prstGeom prst="rect">
            <a:avLst/>
          </a:prstGeom>
          <a:noFill/>
        </p:spPr>
        <p:txBody>
          <a:bodyPr wrap="square" lIns="0" tIns="0" rIns="0" bIns="0">
            <a:spAutoFit/>
          </a:bodyPr>
          <a:lstStyle/>
          <a:p>
            <a:pPr algn="r">
              <a:defRPr sz="1300" b="1">
                <a:solidFill>
                  <a:srgbClr val="14B8A6"/>
                </a:solidFill>
                <a:latin typeface="Tahoma"/>
              </a:defRPr>
            </a:pPr>
            <a:r>
              <a:t>۰۱ • آپلود و امنیت</a:t>
            </a:r>
          </a:p>
          <a:p>
            <a:pPr algn="r">
              <a:spcBef>
                <a:spcPts val="800"/>
              </a:spcBef>
              <a:defRPr sz="1150">
                <a:solidFill>
                  <a:srgbClr val="F8FAFC"/>
                </a:solidFill>
                <a:latin typeface="Tahoma"/>
              </a:defRPr>
            </a:pPr>
            <a:r>
              <a:t>• درگ‌اند‌دراپ EDF (تا ۵۰۰ مگابایت)</a:t>
            </a:r>
            <a:br/>
            <a:r>
              <a:t>• فرم اختیاری ۷‌بخشی PSQI</a:t>
            </a:r>
            <a:br/>
            <a:r>
              <a:t>• اتصال به پرونده بالینی بیمار</a:t>
            </a:r>
            <a:br/>
            <a:r>
              <a:t>• احراز هویت امن JWT با کوکی</a:t>
            </a:r>
          </a:p>
        </p:txBody>
      </p:sp>
      <p:sp>
        <p:nvSpPr>
          <p:cNvPr id="7" name="Rounded Rectangle 6"/>
          <p:cNvSpPr/>
          <p:nvPr/>
        </p:nvSpPr>
        <p:spPr>
          <a:xfrm>
            <a:off x="6217920" y="1463040"/>
            <a:ext cx="2499055" cy="2834640"/>
          </a:xfrm>
          <a:prstGeom prst="roundRect">
            <a:avLst/>
          </a:prstGeom>
          <a:solidFill>
            <a:srgbClr val="1E293B"/>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27648" y="1645920"/>
            <a:ext cx="2279599" cy="2468880"/>
          </a:xfrm>
          <a:prstGeom prst="rect">
            <a:avLst/>
          </a:prstGeom>
          <a:noFill/>
        </p:spPr>
        <p:txBody>
          <a:bodyPr wrap="square" lIns="0" tIns="0" rIns="0" bIns="0">
            <a:spAutoFit/>
          </a:bodyPr>
          <a:lstStyle/>
          <a:p>
            <a:pPr algn="r">
              <a:defRPr sz="1300" b="1">
                <a:solidFill>
                  <a:srgbClr val="06B6D4"/>
                </a:solidFill>
                <a:latin typeface="Tahoma"/>
              </a:defRPr>
            </a:pPr>
            <a:r>
              <a:t>۰۲ • آماده‌سازی سیگنال</a:t>
            </a:r>
          </a:p>
          <a:p>
            <a:pPr algn="r">
              <a:spcBef>
                <a:spcPts val="800"/>
              </a:spcBef>
              <a:defRPr sz="1150">
                <a:solidFill>
                  <a:srgbClr val="F8FAFC"/>
                </a:solidFill>
                <a:latin typeface="Tahoma"/>
              </a:defRPr>
            </a:pPr>
            <a:r>
              <a:t>• بازنمونه‌برداری ۱۰۰ هرتز</a:t>
            </a:r>
            <a:br/>
            <a:r>
              <a:t>• پنجره‌بندی خاموشی چراغ‌ها</a:t>
            </a:r>
            <a:br/>
            <a:r>
              <a:t>• کنترل کیفیت و نگاشت کانال‌ها</a:t>
            </a:r>
            <a:br/>
            <a:r>
              <a:t>• صف کارگران ناهمگام Celery</a:t>
            </a:r>
          </a:p>
        </p:txBody>
      </p:sp>
      <p:sp>
        <p:nvSpPr>
          <p:cNvPr id="9" name="Rounded Rectangle 8"/>
          <p:cNvSpPr/>
          <p:nvPr/>
        </p:nvSpPr>
        <p:spPr>
          <a:xfrm>
            <a:off x="3474720" y="1463040"/>
            <a:ext cx="2499055" cy="2834640"/>
          </a:xfrm>
          <a:prstGeom prst="round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84448" y="1645920"/>
            <a:ext cx="2279599" cy="2468880"/>
          </a:xfrm>
          <a:prstGeom prst="rect">
            <a:avLst/>
          </a:prstGeom>
          <a:noFill/>
        </p:spPr>
        <p:txBody>
          <a:bodyPr wrap="square" lIns="0" tIns="0" rIns="0" bIns="0">
            <a:spAutoFit/>
          </a:bodyPr>
          <a:lstStyle/>
          <a:p>
            <a:pPr algn="r">
              <a:defRPr sz="1300" b="1">
                <a:solidFill>
                  <a:srgbClr val="38BDF8"/>
                </a:solidFill>
                <a:latin typeface="Tahoma"/>
              </a:defRPr>
            </a:pPr>
            <a:r>
              <a:t>۰۳ • موتورهای دوگانه AI</a:t>
            </a:r>
          </a:p>
          <a:p>
            <a:pPr algn="r">
              <a:spcBef>
                <a:spcPts val="800"/>
              </a:spcBef>
              <a:defRPr sz="1150">
                <a:solidFill>
                  <a:srgbClr val="F8FAFC"/>
                </a:solidFill>
                <a:latin typeface="Tahoma"/>
              </a:defRPr>
            </a:pPr>
            <a:r>
              <a:t>• مدل اول: انسمبل ۴ مدله</a:t>
            </a:r>
            <a:br/>
            <a:r>
              <a:t>  (استیجینگ ۳۰ثانیه + اطمینان)</a:t>
            </a:r>
            <a:br/>
            <a:r>
              <a:t>• مدل دوم: ترنسفورمر SDI</a:t>
            </a:r>
            <a:br/>
            <a:r>
              <a:t>  (منحنی عمق پیوسته ۰ تا ۱)</a:t>
            </a:r>
          </a:p>
        </p:txBody>
      </p:sp>
      <p:sp>
        <p:nvSpPr>
          <p:cNvPr id="11" name="Rounded Rectangle 10"/>
          <p:cNvSpPr/>
          <p:nvPr/>
        </p:nvSpPr>
        <p:spPr>
          <a:xfrm>
            <a:off x="731520" y="1463040"/>
            <a:ext cx="2499055" cy="2834640"/>
          </a:xfrm>
          <a:prstGeom prst="roundRect">
            <a:avLst/>
          </a:prstGeom>
          <a:solidFill>
            <a:srgbClr val="1E293B"/>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1645920"/>
            <a:ext cx="2279599" cy="2468880"/>
          </a:xfrm>
          <a:prstGeom prst="rect">
            <a:avLst/>
          </a:prstGeom>
          <a:noFill/>
        </p:spPr>
        <p:txBody>
          <a:bodyPr wrap="square" lIns="0" tIns="0" rIns="0" bIns="0">
            <a:spAutoFit/>
          </a:bodyPr>
          <a:lstStyle/>
          <a:p>
            <a:pPr algn="r">
              <a:defRPr sz="1300" b="1">
                <a:solidFill>
                  <a:srgbClr val="10B981"/>
                </a:solidFill>
                <a:latin typeface="Tahoma"/>
              </a:defRPr>
            </a:pPr>
            <a:r>
              <a:t>۰۴ • پلتفرم و هوش نهایی</a:t>
            </a:r>
          </a:p>
          <a:p>
            <a:pPr algn="r">
              <a:spcBef>
                <a:spcPts val="800"/>
              </a:spcBef>
              <a:defRPr sz="1150">
                <a:solidFill>
                  <a:srgbClr val="F8FAFC"/>
                </a:solidFill>
                <a:latin typeface="Tahoma"/>
              </a:defRPr>
            </a:pPr>
            <a:r>
              <a:t>• امتیاز ۰ تا ۱۰۰ اسلیپ‌لنز</a:t>
            </a:r>
            <a:br/>
            <a:r>
              <a:t>• موتور ۹۶ ویژگی بالینی</a:t>
            </a:r>
            <a:br/>
            <a:r>
              <a:t>• گزارش خودکار متنی با LLM</a:t>
            </a:r>
            <a:br/>
            <a:r>
              <a:t>• چت‌بات تشخیصی OpenCode</a:t>
            </a:r>
          </a:p>
        </p:txBody>
      </p:sp>
      <p:sp>
        <p:nvSpPr>
          <p:cNvPr id="13" name="Rounded Rectangle 12"/>
          <p:cNvSpPr/>
          <p:nvPr/>
        </p:nvSpPr>
        <p:spPr>
          <a:xfrm>
            <a:off x="731520" y="4480560"/>
            <a:ext cx="10728655" cy="16916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617720"/>
            <a:ext cx="10271455" cy="1417320"/>
          </a:xfrm>
          <a:prstGeom prst="rect">
            <a:avLst/>
          </a:prstGeom>
          <a:noFill/>
        </p:spPr>
        <p:txBody>
          <a:bodyPr wrap="square" lIns="0" tIns="0" rIns="0" bIns="0">
            <a:spAutoFit/>
          </a:bodyPr>
          <a:lstStyle/>
          <a:p>
            <a:pPr algn="r">
              <a:defRPr sz="1400" b="1">
                <a:solidFill>
                  <a:srgbClr val="F8FAFC"/>
                </a:solidFill>
                <a:latin typeface="Tahoma"/>
              </a:defRPr>
            </a:pPr>
            <a:r>
              <a:t>استک فناوری و ارتباطات سیستم در بستر نرم‌افزاری کاملاً کانتینریزه (Docker &amp; Compose):</a:t>
            </a:r>
          </a:p>
          <a:p>
            <a:pPr algn="r">
              <a:spcBef>
                <a:spcPts val="600"/>
              </a:spcBef>
              <a:defRPr sz="1150">
                <a:solidFill>
                  <a:srgbClr val="CBD5E1"/>
                </a:solidFill>
                <a:latin typeface="Tahoma"/>
              </a:defRPr>
            </a:pPr>
            <a:r>
              <a:t>• فرانت‌اند: Next.js 14 App Router, TypeScript, Tailwind CSS, Zustand, React Query.</a:t>
            </a:r>
            <a:br/>
            <a:r>
              <a:t>• هسته بک‌اند: Django REST Framework, PostgreSQL, کارگران پردازش ناهمگام Celery, پیام‌رسان Redis.</a:t>
            </a:r>
            <a:br/>
            <a:r>
              <a:t>• هسته یادگیری ماشین: PyTorch, MNE-Python, LightGBM, YASA, پردازش سیگنال SciPy.</a:t>
            </a:r>
            <a:br/>
            <a:r>
              <a:t>• لایه استدلال و هوش مصنوعی: OpenAI API (gpt-6-luna) برای تولید گزارش تشخیصی؛ ایجنت محلی OpenCode برای مشاوره پزشکی.</a:t>
            </a:r>
          </a:p>
        </p:txBody>
      </p:sp>
      <p:sp>
        <p:nvSpPr>
          <p:cNvPr id="15" name="TextBox 14"/>
          <p:cNvSpPr txBox="1"/>
          <p:nvPr/>
        </p:nvSpPr>
        <p:spPr>
          <a:xfrm>
            <a:off x="3657600" y="6327648"/>
            <a:ext cx="7802575" cy="320040"/>
          </a:xfrm>
          <a:prstGeom prst="rect">
            <a:avLst/>
          </a:prstGeom>
          <a:noFill/>
        </p:spPr>
        <p:txBody>
          <a:bodyPr wrap="none" lIns="0" tIns="0" rIns="0" bIns="0">
            <a:spAutoFit/>
          </a:bodyPr>
          <a:lstStyle/>
          <a:p>
            <a:pPr algn="r">
              <a:defRPr sz="1050">
                <a:solidFill>
                  <a:srgbClr val="94A3B8"/>
                </a:solidFill>
                <a:latin typeface="Tahoma"/>
              </a:defRPr>
            </a:pPr>
            <a:r>
              <a:t>معماری مستقل و نامتقارن: پردازش سنگین مدل‌ها هرگز درخواست‌های وب را مسدود نمی‌کند</a:t>
            </a:r>
          </a:p>
        </p:txBody>
      </p:sp>
      <p:sp>
        <p:nvSpPr>
          <p:cNvPr id="16" name="TextBox 15"/>
          <p:cNvSpPr txBox="1"/>
          <p:nvPr/>
        </p:nvSpPr>
        <p:spPr>
          <a:xfrm>
            <a:off x="731520" y="6327648"/>
            <a:ext cx="3200400" cy="320040"/>
          </a:xfrm>
          <a:prstGeom prst="rect">
            <a:avLst/>
          </a:prstGeom>
          <a:noFill/>
        </p:spPr>
        <p:txBody>
          <a:bodyPr wrap="none" lIns="0" tIns="0" rIns="0" bIns="0">
            <a:spAutoFit/>
          </a:bodyPr>
          <a:lstStyle/>
          <a:p>
            <a:pPr algn="l">
              <a:defRPr sz="1050">
                <a:solidFill>
                  <a:srgbClr val="94A3B8"/>
                </a:solidFill>
                <a:latin typeface="Tahoma"/>
              </a:defRPr>
            </a:pPr>
            <a:r>
              <a:t>میانگین زمان پردازش کامل هر شب: کمتر از ۳۵ ثانیه روی CPU معمولی</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0" y="320040"/>
            <a:ext cx="8229600" cy="1051560"/>
          </a:xfrm>
          <a:prstGeom prst="rect">
            <a:avLst/>
          </a:prstGeom>
          <a:noFill/>
        </p:spPr>
        <p:txBody>
          <a:bodyPr wrap="square" lIns="0" tIns="0" rIns="0" bIns="0">
            <a:spAutoFit/>
          </a:bodyPr>
          <a:lstStyle/>
          <a:p>
            <a:pPr algn="r">
              <a:defRPr sz="1150" b="1">
                <a:solidFill>
                  <a:srgbClr val="14B8A6"/>
                </a:solidFill>
                <a:latin typeface="Tahoma"/>
              </a:defRPr>
            </a:pPr>
            <a:r>
              <a:t>محصول نهایی و پنل پزشک</a:t>
            </a:r>
          </a:p>
          <a:p>
            <a:pPr algn="r">
              <a:spcBef>
                <a:spcPts val="300"/>
              </a:spcBef>
              <a:defRPr sz="2400" b="1">
                <a:solidFill>
                  <a:srgbClr val="F8FAFC"/>
                </a:solidFill>
                <a:latin typeface="Tahoma"/>
              </a:defRPr>
            </a:pPr>
            <a:r>
              <a:t>نمای وب‌اپلیکیشن بالینی (SleepLens UI/UX)</a:t>
            </a:r>
          </a:p>
          <a:p>
            <a:pPr algn="r">
              <a:spcBef>
                <a:spcPts val="300"/>
              </a:spcBef>
              <a:defRPr sz="1250">
                <a:solidFill>
                  <a:srgbClr val="06B6D4"/>
                </a:solidFill>
                <a:latin typeface="Tahoma"/>
              </a:defRPr>
            </a:pPr>
            <a:r>
              <a:t>کابین خلبان تشخیصی جامع طراحی‌شده اختصاصی برای پزشکان و متخصصان تکنولوژی خواب</a:t>
            </a:r>
          </a:p>
        </p:txBody>
      </p:sp>
      <p:sp>
        <p:nvSpPr>
          <p:cNvPr id="4" name="Rounded Rectangle 3"/>
          <p:cNvSpPr/>
          <p:nvPr/>
        </p:nvSpPr>
        <p:spPr>
          <a:xfrm>
            <a:off x="731520" y="365760"/>
            <a:ext cx="2316175" cy="438912"/>
          </a:xfrm>
          <a:prstGeom prst="roundRect">
            <a:avLst/>
          </a:prstGeom>
          <a:solidFill>
            <a:srgbClr val="082F49"/>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6B6D4"/>
                </a:solidFill>
                <a:latin typeface="Tahoma"/>
              </a:defRPr>
            </a:pPr>
            <a:r>
              <a:t>۵:۴۵ – ۶:۳۰ | ۴۵s</a:t>
            </a:r>
          </a:p>
        </p:txBody>
      </p:sp>
      <p:sp>
        <p:nvSpPr>
          <p:cNvPr id="5" name="Rounded Rectangle 4"/>
          <p:cNvSpPr/>
          <p:nvPr/>
        </p:nvSpPr>
        <p:spPr>
          <a:xfrm>
            <a:off x="6263640" y="1463040"/>
            <a:ext cx="5193792" cy="2240280"/>
          </a:xfrm>
          <a:prstGeom prst="roundRect">
            <a:avLst/>
          </a:prstGeom>
          <a:solidFill>
            <a:srgbClr val="1E293B"/>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28232" y="1627632"/>
            <a:ext cx="4864608" cy="1920240"/>
          </a:xfrm>
          <a:prstGeom prst="rect">
            <a:avLst/>
          </a:prstGeom>
          <a:noFill/>
        </p:spPr>
        <p:txBody>
          <a:bodyPr wrap="square" lIns="0" tIns="0" rIns="0" bIns="0">
            <a:spAutoFit/>
          </a:bodyPr>
          <a:lstStyle/>
          <a:p>
            <a:pPr algn="r">
              <a:defRPr sz="1400" b="1">
                <a:solidFill>
                  <a:srgbClr val="14B8A6"/>
                </a:solidFill>
                <a:latin typeface="Tahoma"/>
              </a:defRPr>
            </a:pPr>
            <a:r>
              <a:t>🎯 کارت امتیاز اسلیپ‌لنز و شاخص‌های کلیدی (KPIs)</a:t>
            </a:r>
          </a:p>
          <a:p>
            <a:pPr algn="r">
              <a:spcBef>
                <a:spcPts val="800"/>
              </a:spcBef>
              <a:defRPr sz="1150">
                <a:solidFill>
                  <a:srgbClr val="F8FAFC"/>
                </a:solidFill>
                <a:latin typeface="Tahoma"/>
              </a:defRPr>
            </a:pPr>
            <a:r>
              <a:t>• گیج دایره‌ای امتیاز ۰ تا ۱۰۰ با تفکیک نموداری ۷ مولفه فیزیولوژیک.</a:t>
            </a:r>
            <a:br/>
            <a:r>
              <a:t>• نمایش شاخص‌های اصلی: زمان خواب (۴۱۲.۵ دقیقه)، بهره‌وری خواب (۸۸.۴٪)، تاخیر خواب (۱۴.۰ دقیقه)، بیداری پس از خواب (۳۸.۵ دقیقه)، تاخیر REM (۷۸.۰ دقیقه)، و میانگین اطمینان مدل (۹۱.۲٪).</a:t>
            </a:r>
          </a:p>
        </p:txBody>
      </p:sp>
      <p:sp>
        <p:nvSpPr>
          <p:cNvPr id="7" name="Rounded Rectangle 6"/>
          <p:cNvSpPr/>
          <p:nvPr/>
        </p:nvSpPr>
        <p:spPr>
          <a:xfrm>
            <a:off x="731520" y="1463040"/>
            <a:ext cx="5193792" cy="2240280"/>
          </a:xfrm>
          <a:prstGeom prst="roundRect">
            <a:avLst/>
          </a:prstGeom>
          <a:solidFill>
            <a:srgbClr val="1E293B"/>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627632"/>
            <a:ext cx="4864608" cy="1920240"/>
          </a:xfrm>
          <a:prstGeom prst="rect">
            <a:avLst/>
          </a:prstGeom>
          <a:noFill/>
        </p:spPr>
        <p:txBody>
          <a:bodyPr wrap="square" lIns="0" tIns="0" rIns="0" bIns="0">
            <a:spAutoFit/>
          </a:bodyPr>
          <a:lstStyle/>
          <a:p>
            <a:pPr algn="r">
              <a:defRPr sz="1400" b="1">
                <a:solidFill>
                  <a:srgbClr val="06B6D4"/>
                </a:solidFill>
                <a:latin typeface="Tahoma"/>
              </a:defRPr>
            </a:pPr>
            <a:r>
              <a:t>📊 هیپنوگرام تعاملی با لایه اطمینان مدل</a:t>
            </a:r>
          </a:p>
          <a:p>
            <a:pPr algn="r">
              <a:spcBef>
                <a:spcPts val="800"/>
              </a:spcBef>
              <a:defRPr sz="1150">
                <a:solidFill>
                  <a:srgbClr val="F8FAFC"/>
                </a:solidFill>
                <a:latin typeface="Tahoma"/>
              </a:defRPr>
            </a:pPr>
            <a:r>
              <a:t>• تایم‌لاین همگام‌شده مراحل خواب (Wake, REM, N1, N2, N3).</a:t>
            </a:r>
            <a:br/>
            <a:r>
              <a:t>• لایه بصری اطمینان مدل: بالا (≥۸۰٪)، متوسط (≥۶۰٪)، پایین (&lt;۶۰٪).</a:t>
            </a:r>
            <a:br/>
            <a:r>
              <a:t>• نشانگرهای پرچم بازبینی با یک کلیک برای ایپاک‌های مرزی با اطمینان پایین.</a:t>
            </a:r>
          </a:p>
        </p:txBody>
      </p:sp>
      <p:sp>
        <p:nvSpPr>
          <p:cNvPr id="9" name="Rounded Rectangle 8"/>
          <p:cNvSpPr/>
          <p:nvPr/>
        </p:nvSpPr>
        <p:spPr>
          <a:xfrm>
            <a:off x="6263640" y="3886200"/>
            <a:ext cx="5193792" cy="2240280"/>
          </a:xfrm>
          <a:prstGeom prst="round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8232" y="4050792"/>
            <a:ext cx="4864608" cy="1920240"/>
          </a:xfrm>
          <a:prstGeom prst="rect">
            <a:avLst/>
          </a:prstGeom>
          <a:noFill/>
        </p:spPr>
        <p:txBody>
          <a:bodyPr wrap="square" lIns="0" tIns="0" rIns="0" bIns="0">
            <a:spAutoFit/>
          </a:bodyPr>
          <a:lstStyle/>
          <a:p>
            <a:pPr algn="r">
              <a:defRPr sz="1400" b="1">
                <a:solidFill>
                  <a:srgbClr val="38BDF8"/>
                </a:solidFill>
                <a:latin typeface="Tahoma"/>
              </a:defRPr>
            </a:pPr>
            <a:r>
              <a:t>📈 منحنی عمق پیوسته SDI و کاوشگر سیگنال خام</a:t>
            </a:r>
          </a:p>
          <a:p>
            <a:pPr algn="r">
              <a:spcBef>
                <a:spcPts val="800"/>
              </a:spcBef>
              <a:defRPr sz="1150">
                <a:solidFill>
                  <a:srgbClr val="F8FAFC"/>
                </a:solidFill>
                <a:latin typeface="Tahoma"/>
              </a:defRPr>
            </a:pPr>
            <a:r>
              <a:t>• شکل‌موج پیوسته ۰ تا ۱ عمق خواب: نمایش چرخه‌های عمیق امواج آهسته مغز.</a:t>
            </a:r>
            <a:br/>
            <a:r>
              <a:t>• کاوشگر بدون تاخیر سیگنال: بررسی آنی سیگنال‌های میکروولتی خام برای هر ایپاک ۳۰ ثانیه‌ای دلخواه (Fpz-Cz, Pz-Oz, EOG, EMG).</a:t>
            </a:r>
          </a:p>
        </p:txBody>
      </p:sp>
      <p:sp>
        <p:nvSpPr>
          <p:cNvPr id="11" name="Rounded Rectangle 10"/>
          <p:cNvSpPr/>
          <p:nvPr/>
        </p:nvSpPr>
        <p:spPr>
          <a:xfrm>
            <a:off x="731520" y="3886200"/>
            <a:ext cx="5193792" cy="2240280"/>
          </a:xfrm>
          <a:prstGeom prst="roundRect">
            <a:avLst/>
          </a:prstGeom>
          <a:solidFill>
            <a:srgbClr val="1E293B"/>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050792"/>
            <a:ext cx="4864608" cy="1920240"/>
          </a:xfrm>
          <a:prstGeom prst="rect">
            <a:avLst/>
          </a:prstGeom>
          <a:noFill/>
        </p:spPr>
        <p:txBody>
          <a:bodyPr wrap="square" lIns="0" tIns="0" rIns="0" bIns="0">
            <a:spAutoFit/>
          </a:bodyPr>
          <a:lstStyle/>
          <a:p>
            <a:pPr algn="r">
              <a:defRPr sz="1400" b="1">
                <a:solidFill>
                  <a:srgbClr val="10B981"/>
                </a:solidFill>
                <a:latin typeface="Tahoma"/>
              </a:defRPr>
            </a:pPr>
            <a:r>
              <a:t>💬 گزارش متنی خودکار و چت‌بات مشاور بالینی</a:t>
            </a:r>
          </a:p>
          <a:p>
            <a:pPr algn="r">
              <a:spcBef>
                <a:spcPts val="800"/>
              </a:spcBef>
              <a:defRPr sz="1150">
                <a:solidFill>
                  <a:srgbClr val="F8FAFC"/>
                </a:solidFill>
                <a:latin typeface="Tahoma"/>
              </a:defRPr>
            </a:pPr>
            <a:r>
              <a:t>• گزارش تشخیصی با LLM: گزارش ساختاریافته مارک‌داون با امکان ویرایش و تایید پزشک.</a:t>
            </a:r>
            <a:br/>
            <a:r>
              <a:t>• دستیار گفتگوی OpenCode: چت‌بات درون‌جلسه‌ای برای پاسخ به سوالات بالینی پزشک با اتکا به دیتای دقیق بیمار.</a:t>
            </a:r>
          </a:p>
        </p:txBody>
      </p:sp>
      <p:sp>
        <p:nvSpPr>
          <p:cNvPr id="13" name="TextBox 12"/>
          <p:cNvSpPr txBox="1"/>
          <p:nvPr/>
        </p:nvSpPr>
        <p:spPr>
          <a:xfrm>
            <a:off x="3657600" y="6327648"/>
            <a:ext cx="7802575" cy="320040"/>
          </a:xfrm>
          <a:prstGeom prst="rect">
            <a:avLst/>
          </a:prstGeom>
          <a:noFill/>
        </p:spPr>
        <p:txBody>
          <a:bodyPr wrap="none" lIns="0" tIns="0" rIns="0" bIns="0">
            <a:spAutoFit/>
          </a:bodyPr>
          <a:lstStyle/>
          <a:p>
            <a:pPr algn="r">
              <a:defRPr sz="1050">
                <a:solidFill>
                  <a:srgbClr val="94A3B8"/>
                </a:solidFill>
                <a:latin typeface="Tahoma"/>
              </a:defRPr>
            </a:pPr>
            <a:r>
              <a:t>فرانت‌اند واکنش‌گرای Next.js • رابط کاربری پیشرفته بالینی با تم مدرن Slate &amp; Teal</a:t>
            </a:r>
          </a:p>
        </p:txBody>
      </p:sp>
      <p:sp>
        <p:nvSpPr>
          <p:cNvPr id="14" name="TextBox 13"/>
          <p:cNvSpPr txBox="1"/>
          <p:nvPr/>
        </p:nvSpPr>
        <p:spPr>
          <a:xfrm>
            <a:off x="731520" y="6327648"/>
            <a:ext cx="3200400" cy="320040"/>
          </a:xfrm>
          <a:prstGeom prst="rect">
            <a:avLst/>
          </a:prstGeom>
          <a:noFill/>
        </p:spPr>
        <p:txBody>
          <a:bodyPr wrap="none" lIns="0" tIns="0" rIns="0" bIns="0">
            <a:spAutoFit/>
          </a:bodyPr>
          <a:lstStyle/>
          <a:p>
            <a:pPr algn="l">
              <a:defRPr sz="1050">
                <a:solidFill>
                  <a:srgbClr val="94A3B8"/>
                </a:solidFill>
                <a:latin typeface="Tahoma"/>
              </a:defRPr>
            </a:pPr>
            <a:r>
              <a:t>کاهش بیش از ۸۵ درصدی زمان بررسی پرونده توسط پزشک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0" y="320040"/>
            <a:ext cx="8229600" cy="1051560"/>
          </a:xfrm>
          <a:prstGeom prst="rect">
            <a:avLst/>
          </a:prstGeom>
          <a:noFill/>
        </p:spPr>
        <p:txBody>
          <a:bodyPr wrap="square" lIns="0" tIns="0" rIns="0" bIns="0">
            <a:spAutoFit/>
          </a:bodyPr>
          <a:lstStyle/>
          <a:p>
            <a:pPr algn="r">
              <a:defRPr sz="1150" b="1">
                <a:solidFill>
                  <a:srgbClr val="14B8A6"/>
                </a:solidFill>
                <a:latin typeface="Tahoma"/>
              </a:defRPr>
            </a:pPr>
            <a:r>
              <a:t>جمع‌بندی و افق توسعه</a:t>
            </a:r>
          </a:p>
          <a:p>
            <a:pPr algn="r">
              <a:spcBef>
                <a:spcPts val="300"/>
              </a:spcBef>
              <a:defRPr sz="2400" b="1">
                <a:solidFill>
                  <a:srgbClr val="F8FAFC"/>
                </a:solidFill>
                <a:latin typeface="Tahoma"/>
              </a:defRPr>
            </a:pPr>
            <a:r>
              <a:t>عملکرد اجرایی، تاثیر بالینی و نقشه راه آینده</a:t>
            </a:r>
          </a:p>
          <a:p>
            <a:pPr algn="r">
              <a:spcBef>
                <a:spcPts val="300"/>
              </a:spcBef>
              <a:defRPr sz="1250">
                <a:solidFill>
                  <a:srgbClr val="06B6D4"/>
                </a:solidFill>
                <a:latin typeface="Tahoma"/>
              </a:defRPr>
            </a:pPr>
            <a:r>
              <a:t>بنچ‌مارک‌های سرعت در دنیای واقعی، ارتقای بهره‌وری درمان و ترجمه به گجت‌های پوشیدنی</a:t>
            </a:r>
          </a:p>
        </p:txBody>
      </p:sp>
      <p:sp>
        <p:nvSpPr>
          <p:cNvPr id="4" name="Rounded Rectangle 3"/>
          <p:cNvSpPr/>
          <p:nvPr/>
        </p:nvSpPr>
        <p:spPr>
          <a:xfrm>
            <a:off x="731520" y="365760"/>
            <a:ext cx="2316175" cy="438912"/>
          </a:xfrm>
          <a:prstGeom prst="roundRect">
            <a:avLst/>
          </a:prstGeom>
          <a:solidFill>
            <a:srgbClr val="082F49"/>
          </a:solidFill>
          <a:ln w="1270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6B6D4"/>
                </a:solidFill>
                <a:latin typeface="Tahoma"/>
              </a:defRPr>
            </a:pPr>
            <a:r>
              <a:t>۶:۳۰ – ۷:۰۰ | ۳۰s</a:t>
            </a:r>
          </a:p>
        </p:txBody>
      </p:sp>
      <p:sp>
        <p:nvSpPr>
          <p:cNvPr id="5" name="Rounded Rectangle 4"/>
          <p:cNvSpPr/>
          <p:nvPr/>
        </p:nvSpPr>
        <p:spPr>
          <a:xfrm>
            <a:off x="6263640" y="1463040"/>
            <a:ext cx="5193792"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645920"/>
            <a:ext cx="4736592" cy="4297680"/>
          </a:xfrm>
          <a:prstGeom prst="rect">
            <a:avLst/>
          </a:prstGeom>
          <a:noFill/>
        </p:spPr>
        <p:txBody>
          <a:bodyPr wrap="square" lIns="0" tIns="0" rIns="0" bIns="0">
            <a:spAutoFit/>
          </a:bodyPr>
          <a:lstStyle/>
          <a:p>
            <a:pPr algn="r">
              <a:defRPr sz="1600" b="1">
                <a:solidFill>
                  <a:srgbClr val="14B8A6"/>
                </a:solidFill>
                <a:latin typeface="Tahoma"/>
              </a:defRPr>
            </a:pPr>
            <a:r>
              <a:t>⚡ بنچ‌مارک سرعت روی پردازنده معمولی (CPU بدون نیاز به GPU)</a:t>
            </a:r>
          </a:p>
          <a:p>
            <a:pPr algn="r">
              <a:spcBef>
                <a:spcPts val="800"/>
              </a:spcBef>
              <a:defRPr sz="1200">
                <a:solidFill>
                  <a:srgbClr val="CBD5E1"/>
                </a:solidFill>
                <a:latin typeface="Tahoma"/>
              </a:defRPr>
            </a:pPr>
            <a:r>
              <a:t>• استنتاج هر ایپاک ۳۰ ثانیه‌ای: ۳.۷ تا ۴.۷ میلی‌ثانیه (۶,۴۰۰ برابر سریع‌تر از زمان واقعی)</a:t>
            </a:r>
          </a:p>
          <a:p>
            <a:pPr algn="r">
              <a:spcBef>
                <a:spcPts val="800"/>
              </a:spcBef>
              <a:defRPr sz="1200">
                <a:solidFill>
                  <a:srgbClr val="CBD5E1"/>
                </a:solidFill>
                <a:latin typeface="Tahoma"/>
              </a:defRPr>
            </a:pPr>
            <a:r>
              <a:t>• استنتاج یک شب کامل ۲۲ ساعته (۲,۶۵۰ ایپاک): ۱۲.۵ ثانیه (انسمبل استیجینگ ۴ مدله)</a:t>
            </a:r>
          </a:p>
          <a:p>
            <a:pPr algn="r">
              <a:spcBef>
                <a:spcPts val="800"/>
              </a:spcBef>
              <a:defRPr sz="1200">
                <a:solidFill>
                  <a:srgbClr val="CBD5E1"/>
                </a:solidFill>
                <a:latin typeface="Tahoma"/>
              </a:defRPr>
            </a:pPr>
            <a:r>
              <a:t>• استنتاج عمق پیوسته ترنسفورمر SDI: ۸.۲ ثانیه (شبکه توجه عمیق)</a:t>
            </a:r>
          </a:p>
          <a:p>
            <a:pPr algn="r">
              <a:spcBef>
                <a:spcPts val="800"/>
              </a:spcBef>
              <a:defRPr sz="1200">
                <a:solidFill>
                  <a:srgbClr val="CBD5E1"/>
                </a:solidFill>
                <a:latin typeface="Tahoma"/>
              </a:defRPr>
            </a:pPr>
            <a:r>
              <a:t>• استخراج ۹۶ پارامتر فیزیولوژیک: ۹.۸ ثانیه (تحلیل‌های ولچ و دوک‌های خواب YASA)</a:t>
            </a:r>
          </a:p>
          <a:p>
            <a:pPr algn="r">
              <a:spcBef>
                <a:spcPts val="1600"/>
              </a:spcBef>
              <a:defRPr sz="1350" b="1">
                <a:solidFill>
                  <a:srgbClr val="10B981"/>
                </a:solidFill>
                <a:latin typeface="Tahoma"/>
              </a:defRPr>
            </a:pPr>
            <a:r>
              <a:t>★ زمان کل پردازش شبانه: کمتر از ۳۵ ثانیه برای کل شب!</a:t>
            </a:r>
          </a:p>
          <a:p>
            <a:pPr algn="r">
              <a:spcBef>
                <a:spcPts val="1000"/>
              </a:spcBef>
              <a:defRPr sz="1200">
                <a:solidFill>
                  <a:srgbClr val="F8FAFC"/>
                </a:solidFill>
                <a:latin typeface="Tahoma"/>
              </a:defRPr>
            </a:pPr>
            <a:r>
              <a:t>تاثیر بر بهره‌وری بالینی:</a:t>
            </a:r>
            <a:br/>
            <a:r>
              <a:t>کاهش بیش از ۸۵ درصدی زمان اسکورینگ چشمی توسط پزشک همراه با کشف ناهنجاری‌های پنهان مغزی و ردپای دیجیتال تصمیم‌گیری.</a:t>
            </a:r>
          </a:p>
        </p:txBody>
      </p:sp>
      <p:sp>
        <p:nvSpPr>
          <p:cNvPr id="7" name="Rounded Rectangle 6"/>
          <p:cNvSpPr/>
          <p:nvPr/>
        </p:nvSpPr>
        <p:spPr>
          <a:xfrm>
            <a:off x="731520" y="1463040"/>
            <a:ext cx="516636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4297680"/>
          </a:xfrm>
          <a:prstGeom prst="rect">
            <a:avLst/>
          </a:prstGeom>
          <a:noFill/>
        </p:spPr>
        <p:txBody>
          <a:bodyPr wrap="square" lIns="0" tIns="0" rIns="0" bIns="0">
            <a:spAutoFit/>
          </a:bodyPr>
          <a:lstStyle/>
          <a:p>
            <a:pPr algn="r">
              <a:defRPr sz="1600" b="1">
                <a:solidFill>
                  <a:srgbClr val="06B6D4"/>
                </a:solidFill>
                <a:latin typeface="Tahoma"/>
              </a:defRPr>
            </a:pPr>
            <a:r>
              <a:t>🚀 نقشه راه ترجمه بالینی و توسعه آینده</a:t>
            </a:r>
          </a:p>
          <a:p>
            <a:pPr algn="r">
              <a:spcBef>
                <a:spcPts val="1400"/>
              </a:spcBef>
              <a:defRPr sz="1300" b="1">
                <a:solidFill>
                  <a:srgbClr val="F8FAFC"/>
                </a:solidFill>
                <a:latin typeface="Tahoma"/>
              </a:defRPr>
            </a:pPr>
            <a:r>
              <a:t>۱. به‌کارگیری گجت‌های پوشیدنی روزمره:</a:t>
            </a:r>
          </a:p>
          <a:p>
            <a:pPr algn="r">
              <a:spcBef>
                <a:spcPts val="300"/>
              </a:spcBef>
              <a:defRPr sz="1150">
                <a:solidFill>
                  <a:srgbClr val="CBD5E1"/>
                </a:solidFill>
                <a:latin typeface="Tahoma"/>
              </a:defRPr>
            </a:pPr>
            <a:r>
              <a:t>پیاده‌سازی مدل‌های جانشین آموزش‌دیده (ResUNet و WatchSleepNet) برای ساعت‌های هوشمند مبتنی بر اکتی‌گرافی و سنسور PPG بدون نیاز به اتصالات مغزی.</a:t>
            </a:r>
          </a:p>
          <a:p>
            <a:pPr algn="r">
              <a:spcBef>
                <a:spcPts val="1400"/>
              </a:spcBef>
              <a:defRPr sz="1300" b="1">
                <a:solidFill>
                  <a:srgbClr val="F8FAFC"/>
                </a:solidFill>
                <a:latin typeface="Tahoma"/>
              </a:defRPr>
            </a:pPr>
            <a:r>
              <a:t>۲. اسکورینگ تخصصی آپنه و ناهنجاری حرکتی:</a:t>
            </a:r>
          </a:p>
          <a:p>
            <a:pPr algn="r">
              <a:spcBef>
                <a:spcPts val="300"/>
              </a:spcBef>
              <a:defRPr sz="1150">
                <a:solidFill>
                  <a:srgbClr val="CBD5E1"/>
                </a:solidFill>
                <a:latin typeface="Tahoma"/>
              </a:defRPr>
            </a:pPr>
            <a:r>
              <a:t>ارتقای آشکارسازها به استانداردهای رسمی پزشکی برای سنجش شاخص آپنه-هایپوپنه (AHI) و سندروم پای بی‌قرار (PLMD).</a:t>
            </a:r>
          </a:p>
          <a:p>
            <a:pPr algn="r">
              <a:spcBef>
                <a:spcPts val="1400"/>
              </a:spcBef>
              <a:defRPr sz="1300" b="1">
                <a:solidFill>
                  <a:srgbClr val="F8FAFC"/>
                </a:solidFill>
                <a:latin typeface="Tahoma"/>
              </a:defRPr>
            </a:pPr>
            <a:r>
              <a:t>۳. کارآزمایی بالینی در مراکز متعدد:</a:t>
            </a:r>
          </a:p>
          <a:p>
            <a:pPr algn="r">
              <a:spcBef>
                <a:spcPts val="300"/>
              </a:spcBef>
              <a:defRPr sz="1150">
                <a:solidFill>
                  <a:srgbClr val="CBD5E1"/>
                </a:solidFill>
                <a:latin typeface="Tahoma"/>
              </a:defRPr>
            </a:pPr>
            <a:r>
              <a:t>اعتبارسنجی روی دیتابیس‌های چندمرکزی بین‌المللی (SHHS) و گروه‌های مبتلا به بیماری‌های نورولوژیک (نظیر اختلال رفتاری خواب REM در پارکینسون).</a:t>
            </a:r>
          </a:p>
        </p:txBody>
      </p:sp>
      <p:sp>
        <p:nvSpPr>
          <p:cNvPr id="9" name="TextBox 8"/>
          <p:cNvSpPr txBox="1"/>
          <p:nvPr/>
        </p:nvSpPr>
        <p:spPr>
          <a:xfrm>
            <a:off x="3657600" y="6327648"/>
            <a:ext cx="7802575" cy="320040"/>
          </a:xfrm>
          <a:prstGeom prst="rect">
            <a:avLst/>
          </a:prstGeom>
          <a:noFill/>
        </p:spPr>
        <p:txBody>
          <a:bodyPr wrap="none" lIns="0" tIns="0" rIns="0" bIns="0">
            <a:spAutoFit/>
          </a:bodyPr>
          <a:lstStyle/>
          <a:p>
            <a:pPr algn="r">
              <a:defRPr sz="1050">
                <a:solidFill>
                  <a:srgbClr val="94A3B8"/>
                </a:solidFill>
                <a:latin typeface="Tahoma"/>
              </a:defRPr>
            </a:pPr>
            <a:r>
              <a:t>اسلیپ‌لنز: ارائه دقت در سطح استاندارد طلایی با سرعت پردازش بلادرنگ</a:t>
            </a:r>
          </a:p>
        </p:txBody>
      </p:sp>
      <p:sp>
        <p:nvSpPr>
          <p:cNvPr id="10" name="TextBox 9"/>
          <p:cNvSpPr txBox="1"/>
          <p:nvPr/>
        </p:nvSpPr>
        <p:spPr>
          <a:xfrm>
            <a:off x="731520" y="6327648"/>
            <a:ext cx="3200400" cy="320040"/>
          </a:xfrm>
          <a:prstGeom prst="rect">
            <a:avLst/>
          </a:prstGeom>
          <a:noFill/>
        </p:spPr>
        <p:txBody>
          <a:bodyPr wrap="none" lIns="0" tIns="0" rIns="0" bIns="0">
            <a:spAutoFit/>
          </a:bodyPr>
          <a:lstStyle/>
          <a:p>
            <a:pPr algn="l">
              <a:defRPr sz="1050">
                <a:solidFill>
                  <a:srgbClr val="94A3B8"/>
                </a:solidFill>
                <a:latin typeface="Tahoma"/>
              </a:defRPr>
            </a:pPr>
            <a:r>
              <a:t>از توجه و همراهی شما سپاسگزاریم • پرسش و پاسخ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